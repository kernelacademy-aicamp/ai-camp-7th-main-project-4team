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908B"/>
                </a:solidFill>
                <a:latin typeface="맑은 고딕"/>
              </a:rPr>
              <a:t>5 WHYS · ROOT CAUSE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9601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A1D1B"/>
                </a:solidFill>
                <a:latin typeface="맑은 고딕"/>
              </a:rPr>
              <a:t>같은 방법으로 팠더니, 끝나는 지점이 달랐다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15D"/>
                </a:solidFill>
                <a:latin typeface="맑은 고딕"/>
              </a:rPr>
              <a:t>저니맵 최저점을 각각 5번 파고들었다. 사이즈는 ‘치수’라는 정답에 닿고, 스타일은 ‘취향’에서 멈춘다 — 그래서 푸는 방법도 달라야 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69037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61872"/>
            <a:ext cx="6903720" cy="384048"/>
          </a:xfrm>
          <a:prstGeom prst="roundRect">
            <a:avLst/>
          </a:prstGeom>
          <a:solidFill>
            <a:srgbClr val="EA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35331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4A3B"/>
                </a:solidFill>
                <a:latin typeface="맑은 고딕"/>
              </a:rPr>
              <a:t>A · 사이즈 (김민석)   —   정답이 있는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0680" y="1362456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B908B"/>
                </a:solidFill>
                <a:latin typeface="맑은 고딕"/>
              </a:rPr>
              <a:t>저니맵 ③ 사이즈 결정 (−2)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755648"/>
            <a:ext cx="66111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B5654A"/>
                </a:solidFill>
                <a:latin typeface="맑은 고딕"/>
              </a:rPr>
              <a:t>문제 · 사이즈를 확신 못 하고 “안 맞으면 반품하지”로 주문한다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2029968"/>
            <a:ext cx="6611112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103120"/>
            <a:ext cx="5669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E6B52"/>
                </a:solidFill>
                <a:latin typeface="맑은 고딕"/>
              </a:rPr>
              <a:t>WHY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08483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A1D1B"/>
                </a:solidFill>
                <a:latin typeface="맑은 고딕"/>
              </a:rPr>
              <a:t>왜 확신하지 못하나?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276856"/>
            <a:ext cx="5394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15D"/>
                </a:solidFill>
                <a:latin typeface="맑은 고딕"/>
              </a:rPr>
              <a:t>→ 안 입어본 브랜드의 ‘M’이 내 몸에 어떻게 맞을지 알 수 없어서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55548" y="2544775"/>
            <a:ext cx="137160" cy="68580"/>
          </a:xfrm>
          <a:prstGeom prst="downArrow">
            <a:avLst/>
          </a:prstGeom>
          <a:solidFill>
            <a:srgbClr val="E1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2624328"/>
            <a:ext cx="6611112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697480"/>
            <a:ext cx="5669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E6B52"/>
                </a:solidFill>
                <a:latin typeface="맑은 고딕"/>
              </a:rPr>
              <a:t>WHY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791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A1D1B"/>
                </a:solidFill>
                <a:latin typeface="맑은 고딕"/>
              </a:rPr>
              <a:t>왜 알 수 없나?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871216"/>
            <a:ext cx="5394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15D"/>
                </a:solidFill>
                <a:latin typeface="맑은 고딕"/>
              </a:rPr>
              <a:t>→ 같은 M이라도 브랜드마다 실제 치수가 다르고, 통일된 기준이 없어서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955548" y="3139135"/>
            <a:ext cx="137160" cy="68580"/>
          </a:xfrm>
          <a:prstGeom prst="downArrow">
            <a:avLst/>
          </a:prstGeom>
          <a:solidFill>
            <a:srgbClr val="E1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3504" y="3218688"/>
            <a:ext cx="6611112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291840"/>
            <a:ext cx="5669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E6B52"/>
                </a:solidFill>
                <a:latin typeface="맑은 고딕"/>
              </a:rPr>
              <a:t>WHY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27355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A1D1B"/>
                </a:solidFill>
                <a:latin typeface="맑은 고딕"/>
              </a:rPr>
              <a:t>왜 사이즈표를 봐도 모르나?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465576"/>
            <a:ext cx="5394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15D"/>
                </a:solidFill>
                <a:latin typeface="맑은 고딕"/>
              </a:rPr>
              <a:t>→ 사이즈표는 ‘옷의 치수’일 뿐 — 비교할 내 몸 치수를 모르기 때문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955548" y="3733495"/>
            <a:ext cx="137160" cy="68580"/>
          </a:xfrm>
          <a:prstGeom prst="downArrow">
            <a:avLst/>
          </a:prstGeom>
          <a:solidFill>
            <a:srgbClr val="E1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3504" y="3813048"/>
            <a:ext cx="6611112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3886200"/>
            <a:ext cx="5669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E6B52"/>
                </a:solidFill>
                <a:latin typeface="맑은 고딕"/>
              </a:rPr>
              <a:t>WHY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867911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A1D1B"/>
                </a:solidFill>
                <a:latin typeface="맑은 고딕"/>
              </a:rPr>
              <a:t>왜 내 몸 치수를 모르나?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059935"/>
            <a:ext cx="5394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15D"/>
                </a:solidFill>
                <a:latin typeface="맑은 고딕"/>
              </a:rPr>
              <a:t>→ 줄자는 번거롭고 부정확 · 체중이 변해 예전 값도 못 믿음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955548" y="4327855"/>
            <a:ext cx="137160" cy="68580"/>
          </a:xfrm>
          <a:prstGeom prst="downArrow">
            <a:avLst/>
          </a:prstGeom>
          <a:solidFill>
            <a:srgbClr val="E1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03504" y="4407408"/>
            <a:ext cx="6611112" cy="512064"/>
          </a:xfrm>
          <a:prstGeom prst="roundRect">
            <a:avLst/>
          </a:prstGeom>
          <a:solidFill>
            <a:srgbClr val="FBEFEA"/>
          </a:solidFill>
          <a:ln w="12700">
            <a:solidFill>
              <a:srgbClr val="B5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4480560"/>
            <a:ext cx="5669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5654A"/>
                </a:solidFill>
                <a:latin typeface="맑은 고딕"/>
              </a:rPr>
              <a:t>WHY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446227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A1D1B"/>
                </a:solidFill>
                <a:latin typeface="맑은 고딕"/>
              </a:rPr>
              <a:t>왜 아무도 대신 알려주지 않나?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4654296"/>
            <a:ext cx="5394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5654A"/>
                </a:solidFill>
                <a:latin typeface="맑은 고딕"/>
              </a:rPr>
              <a:t>→ 기존 서비스는 ‘그 몰의 이력’이나 ‘남의 체형 후기’에 기댐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" y="5020056"/>
            <a:ext cx="6611112" cy="402336"/>
          </a:xfrm>
          <a:prstGeom prst="roundRect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12978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맑은 고딕"/>
              </a:rPr>
              <a:t>근본원인   브랜드를 가로질러 ‘지금 내 몸’을 기준으로 번역해주는 곳이 없다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71231" y="1261872"/>
            <a:ext cx="41605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571231" y="1261872"/>
            <a:ext cx="4160520" cy="384048"/>
          </a:xfrm>
          <a:prstGeom prst="roundRect">
            <a:avLst/>
          </a:prstGeom>
          <a:solidFill>
            <a:srgbClr val="FB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17536" y="1353312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B5654A"/>
                </a:solidFill>
                <a:latin typeface="맑은 고딕"/>
              </a:rPr>
              <a:t>B · 스타일 (한예린)  —  정답이 없는 문제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17536" y="1755648"/>
            <a:ext cx="38679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B5654A"/>
                </a:solidFill>
                <a:latin typeface="맑은 고딕"/>
              </a:rPr>
              <a:t>문제 · 룩북 따라 샀는데 “안 어울린다”는 말을 듣는다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17536" y="2029968"/>
            <a:ext cx="3867911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27263" y="2121408"/>
            <a:ext cx="5669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5654A"/>
                </a:solidFill>
                <a:latin typeface="맑은 고딕"/>
              </a:rPr>
              <a:t>WHY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27263" y="2304288"/>
            <a:ext cx="361187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A1D1B"/>
                </a:solidFill>
                <a:latin typeface="맑은 고딕"/>
              </a:rPr>
              <a:t>왜 안 어울리나?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27263" y="2496312"/>
            <a:ext cx="36118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15D"/>
                </a:solidFill>
                <a:latin typeface="맑은 고딕"/>
              </a:rPr>
              <a:t>→ 모델 체형 기준의 코디라 내 체형에선 다르게 나타남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8069579" y="2782519"/>
            <a:ext cx="137160" cy="82296"/>
          </a:xfrm>
          <a:prstGeom prst="downArrow">
            <a:avLst/>
          </a:prstGeom>
          <a:solidFill>
            <a:srgbClr val="E1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717536" y="2907792"/>
            <a:ext cx="3867911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27263" y="2999232"/>
            <a:ext cx="5669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5654A"/>
                </a:solidFill>
                <a:latin typeface="맑은 고딕"/>
              </a:rPr>
              <a:t>WHY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27263" y="3182112"/>
            <a:ext cx="361187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A1D1B"/>
                </a:solidFill>
                <a:latin typeface="맑은 고딕"/>
              </a:rPr>
              <a:t>왜 내 체형에 맞게 못 고르나?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27263" y="3374136"/>
            <a:ext cx="36118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15D"/>
                </a:solidFill>
                <a:latin typeface="맑은 고딕"/>
              </a:rPr>
              <a:t>→ 내 체형에 뭐가 어울리는지 판단할 기준이 없어서</a:t>
            </a:r>
          </a:p>
        </p:txBody>
      </p:sp>
      <p:sp>
        <p:nvSpPr>
          <p:cNvPr id="49" name="Down Arrow 48"/>
          <p:cNvSpPr/>
          <p:nvPr/>
        </p:nvSpPr>
        <p:spPr>
          <a:xfrm>
            <a:off x="8069579" y="3660343"/>
            <a:ext cx="137160" cy="82296"/>
          </a:xfrm>
          <a:prstGeom prst="downArrow">
            <a:avLst/>
          </a:prstGeom>
          <a:solidFill>
            <a:srgbClr val="E1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717536" y="3785616"/>
            <a:ext cx="3867911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27263" y="3877056"/>
            <a:ext cx="56692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5654A"/>
                </a:solidFill>
                <a:latin typeface="맑은 고딕"/>
              </a:rPr>
              <a:t>WHY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27263" y="4059936"/>
            <a:ext cx="361187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A1D1B"/>
                </a:solidFill>
                <a:latin typeface="맑은 고딕"/>
              </a:rPr>
              <a:t>왜 그 기준이 없나?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27263" y="4251960"/>
            <a:ext cx="36118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15D"/>
                </a:solidFill>
                <a:latin typeface="맑은 고딕"/>
              </a:rPr>
              <a:t>→ 어울림은 체형·상황·취향이 섞여 정답이 하나로 정해지지 않음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17536" y="4681728"/>
            <a:ext cx="3867911" cy="603504"/>
          </a:xfrm>
          <a:prstGeom prst="roundRect">
            <a:avLst/>
          </a:prstGeom>
          <a:solidFill>
            <a:srgbClr val="F4F2EF"/>
          </a:solidFill>
          <a:ln w="15875">
            <a:solidFill>
              <a:srgbClr val="8B90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27263" y="4764024"/>
            <a:ext cx="361187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B615D"/>
                </a:solidFill>
                <a:latin typeface="맑은 고딕"/>
              </a:rPr>
              <a:t>🚧  여기서 멈춘다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27263" y="4965192"/>
            <a:ext cx="361187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908B"/>
                </a:solidFill>
                <a:latin typeface="맑은 고딕"/>
              </a:rPr>
              <a:t>‘취향’은 규칙으로 계산되지 않는다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577840"/>
            <a:ext cx="5404104" cy="658368"/>
          </a:xfrm>
          <a:prstGeom prst="roundRect">
            <a:avLst/>
          </a:prstGeom>
          <a:solidFill>
            <a:srgbClr val="EAF1ED"/>
          </a:solidFill>
          <a:ln w="15875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" y="5678424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E4A3B"/>
                </a:solidFill>
                <a:latin typeface="맑은 고딕"/>
              </a:rPr>
              <a:t>A · 사이즈 — 정답이 있는 문제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" y="588873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D1B"/>
                </a:solidFill>
                <a:latin typeface="맑은 고딕"/>
              </a:rPr>
              <a:t>파고들면 ‘치수’라는 정답에 닿는다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27648" y="5577840"/>
            <a:ext cx="5404104" cy="658368"/>
          </a:xfrm>
          <a:prstGeom prst="roundRect">
            <a:avLst/>
          </a:prstGeom>
          <a:solidFill>
            <a:srgbClr val="FBEFEA"/>
          </a:solidFill>
          <a:ln w="15875">
            <a:solidFill>
              <a:srgbClr val="B5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92240" y="5678424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5654A"/>
                </a:solidFill>
                <a:latin typeface="맑은 고딕"/>
              </a:rPr>
              <a:t>B · 스타일 — 정답이 없는 문제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92240" y="588873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D1B"/>
                </a:solidFill>
                <a:latin typeface="맑은 고딕"/>
              </a:rPr>
              <a:t>파고들면 ‘취향’에서 멈춘다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355080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842B"/>
                </a:solidFill>
                <a:latin typeface="맑은 고딕"/>
              </a:rPr>
              <a:t>→ 다음 장 문제정의(HMW) : “어떻게 하면 치수를 재지 않고도, 안 입어본 브랜드에서 내 사이즈를 알 수 있을까?”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