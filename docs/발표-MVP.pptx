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8B908B"/>
                </a:solidFill>
                <a:latin typeface="맑은 고딕"/>
              </a:rPr>
              <a:t>MVP ①  ·  SIZE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0515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D1B"/>
                </a:solidFill>
                <a:latin typeface="맑은 고딕"/>
              </a:rPr>
              <a:t>착용 경험만으로, 안 입어본 브랜드의 내 사이즈까지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B615D"/>
                </a:solidFill>
                <a:latin typeface="맑은 고딕"/>
              </a:rPr>
              <a:t>구현 완료 — 아래는 실제 동작 화면입니다.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" y="1531620"/>
            <a:ext cx="3566160" cy="250164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-진단-착용경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2768"/>
            <a:ext cx="3483864" cy="2416228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457200" y="4120134"/>
            <a:ext cx="292608" cy="292608"/>
          </a:xfrm>
          <a:prstGeom prst="ellipse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415671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4A3B"/>
                </a:solidFill>
                <a:latin typeface="맑은 고딕"/>
              </a:rPr>
              <a:t>착용 경험 입력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32504" y="2681859"/>
            <a:ext cx="237744" cy="201168"/>
          </a:xfrm>
          <a:prstGeom prst="rightArrow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1396" y="1531620"/>
            <a:ext cx="3566160" cy="250164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-결과-체형카드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572768"/>
            <a:ext cx="3483864" cy="2416228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352544" y="4120134"/>
            <a:ext cx="292608" cy="292608"/>
          </a:xfrm>
          <a:prstGeom prst="ellipse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415671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4A3B"/>
                </a:solidFill>
                <a:latin typeface="맑은 고딕"/>
              </a:rPr>
              <a:t>AI 8체형 진단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27848" y="2681859"/>
            <a:ext cx="237744" cy="201168"/>
          </a:xfrm>
          <a:prstGeom prst="rightArrow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06740" y="1531620"/>
            <a:ext cx="3566160" cy="250164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7-결과-브랜드추천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572768"/>
            <a:ext cx="3483864" cy="2416228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8247888" y="4120134"/>
            <a:ext cx="292608" cy="292608"/>
          </a:xfrm>
          <a:prstGeom prst="ellipse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415671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4A3B"/>
                </a:solidFill>
                <a:latin typeface="맑은 고딕"/>
              </a:rPr>
              <a:t>브랜드별 사이즈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90288"/>
            <a:ext cx="11274552" cy="841248"/>
          </a:xfrm>
          <a:prstGeom prst="roundRect">
            <a:avLst/>
          </a:prstGeom>
          <a:solidFill>
            <a:srgbClr val="EAF1ED"/>
          </a:solidFill>
          <a:ln w="19050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70001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E4A3B"/>
                </a:solidFill>
                <a:latin typeface="맑은 고딕"/>
              </a:rPr>
              <a:t>기술 해자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901184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D1B"/>
                </a:solidFill>
                <a:latin typeface="맑은 고딕"/>
              </a:rPr>
              <a:t>사이즈코리아 제8차 인체치수조사(2020~2024) 기반 회귀 모델  ×  브랜드 실측 사이즈 DB 1,679건 · 9개 브랜드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15721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B615D"/>
                </a:solidFill>
                <a:latin typeface="맑은 고딕"/>
              </a:rPr>
              <a:t>자라 · 무신사 스탠다드 · 탑텐 · 유니클로 · 에잇세컨즈 · 스파오 등 공개 사이즈표를 정규화해, 착용 경험으로 내 몸 치수를 역산한다.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577840"/>
            <a:ext cx="5504688" cy="786384"/>
          </a:xfrm>
          <a:prstGeom prst="roundRect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6928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9CC3AE"/>
                </a:solidFill>
                <a:latin typeface="맑은 고딕"/>
              </a:rPr>
              <a:t>기존과 다른 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852160"/>
            <a:ext cx="51206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플랫폼 추천은 “그 몰의 구매 이력”이 있어야 작동한다.</a:t>
            </a:r>
          </a:p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핏팅은 평소 입던 옷 2벌이면 어느 브랜드로든 번역된다.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5577840"/>
            <a:ext cx="5504688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566928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B8842B"/>
                </a:solidFill>
                <a:latin typeface="맑은 고딕"/>
              </a:rPr>
              <a:t>정확도 검증 루프 (Eval)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5852160"/>
            <a:ext cx="51206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D1B"/>
                </a:solidFill>
                <a:latin typeface="맑은 고딕"/>
              </a:rPr>
              <a:t>결과 화면 “맞아요 / 보통 / 안 맞아요”를 진단 ID와 함께 적재.</a:t>
            </a:r>
          </a:p>
          <a:p>
            <a:pPr algn="l"/>
            <a:r>
              <a:rPr sz="1000" b="1">
                <a:solidFill>
                  <a:srgbClr val="1A1D1B"/>
                </a:solidFill>
                <a:latin typeface="맑은 고딕"/>
              </a:rPr>
              <a:t>킬 메트릭 — 사이즈 동의율 65% 이상.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8B908B"/>
                </a:solidFill>
                <a:latin typeface="맑은 고딕"/>
              </a:rPr>
              <a:t>MVP ②  ·  STYLIST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0515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D1B"/>
                </a:solidFill>
                <a:latin typeface="맑은 고딕"/>
              </a:rPr>
              <a:t>정답이 없는 스타일은, 사람에게 연결한다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B615D"/>
                </a:solidFill>
                <a:latin typeface="맑은 고딕"/>
              </a:rPr>
              <a:t>화면·플로우 구현 완료 — 실매칭은 열지 않고 수요부터 측정하는 단계입니다.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" y="1531620"/>
            <a:ext cx="3566160" cy="250164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-스타일리스트-찾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2768"/>
            <a:ext cx="3483864" cy="2416228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457200" y="4120134"/>
            <a:ext cx="292608" cy="292608"/>
          </a:xfrm>
          <a:prstGeom prst="ellipse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415671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B5654A"/>
                </a:solidFill>
                <a:latin typeface="맑은 고딕"/>
              </a:rPr>
              <a:t>스타일리스트 찾기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32504" y="2681859"/>
            <a:ext cx="237744" cy="201168"/>
          </a:xfrm>
          <a:prstGeom prst="rightArrow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1396" y="1531620"/>
            <a:ext cx="3566160" cy="250164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9-스타일리스트-상세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572768"/>
            <a:ext cx="3483864" cy="2416228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352544" y="4120134"/>
            <a:ext cx="292608" cy="292608"/>
          </a:xfrm>
          <a:prstGeom prst="ellipse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415671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B5654A"/>
                </a:solidFill>
                <a:latin typeface="맑은 고딕"/>
              </a:rPr>
              <a:t>프로필 · 견적 요청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27848" y="2681859"/>
            <a:ext cx="237744" cy="201168"/>
          </a:xfrm>
          <a:prstGeom prst="rightArrow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06740" y="1531620"/>
            <a:ext cx="3566160" cy="250164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10-쇼퍼-견적서-체형카드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572768"/>
            <a:ext cx="3483864" cy="2416228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8247888" y="4120134"/>
            <a:ext cx="292608" cy="292608"/>
          </a:xfrm>
          <a:prstGeom prst="ellipse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415671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B5654A"/>
                </a:solidFill>
                <a:latin typeface="맑은 고딕"/>
              </a:rPr>
              <a:t>견적서에 체형 자동 첨부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90288"/>
            <a:ext cx="5504688" cy="841248"/>
          </a:xfrm>
          <a:prstGeom prst="roundRect">
            <a:avLst/>
          </a:prstGeom>
          <a:solidFill>
            <a:srgbClr val="FBEFEA"/>
          </a:solidFill>
          <a:ln w="19050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700016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B5654A"/>
                </a:solidFill>
                <a:latin typeface="맑은 고딕"/>
              </a:rPr>
              <a:t>두 MVP를 잇는 고리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919472"/>
            <a:ext cx="51206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D1B"/>
                </a:solidFill>
                <a:latin typeface="맑은 고딕"/>
              </a:rPr>
              <a:t>진단 결과(8체형 · 부위별 예상 치수 · 상하의 핏 취향)가</a:t>
            </a:r>
          </a:p>
          <a:p>
            <a:pPr algn="l"/>
            <a:r>
              <a:rPr sz="1050" b="1">
                <a:solidFill>
                  <a:srgbClr val="1A1D1B"/>
                </a:solidFill>
                <a:latin typeface="맑은 고딕"/>
              </a:rPr>
              <a:t>견적서에 그대로 실린다 — 체형을 모르는 채 시작하지 않는다.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7064" y="4590288"/>
            <a:ext cx="5504688" cy="841248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B884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4700016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B8842B"/>
                </a:solidFill>
                <a:latin typeface="맑은 고딕"/>
              </a:rPr>
              <a:t>지금 단계 · 페이크도어 수요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4919472"/>
            <a:ext cx="51206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D1B"/>
                </a:solidFill>
                <a:latin typeface="맑은 고딕"/>
              </a:rPr>
              <a:t>실매칭은 열지 않았다. 견적 요청·오픈 알림을 수요 신호로</a:t>
            </a:r>
          </a:p>
          <a:p>
            <a:pPr algn="l"/>
            <a:r>
              <a:rPr sz="1050" b="1">
                <a:solidFill>
                  <a:srgbClr val="1A1D1B"/>
                </a:solidFill>
                <a:latin typeface="맑은 고딕"/>
              </a:rPr>
              <a:t>적재해 “정말 원하는가”부터 측정한다.  목표 전환 25% 이상.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577840"/>
            <a:ext cx="11274552" cy="786384"/>
          </a:xfrm>
          <a:prstGeom prst="roundRect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687568"/>
            <a:ext cx="112745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0D3C6"/>
                </a:solidFill>
                <a:latin typeface="맑은 고딕"/>
              </a:rPr>
              <a:t>왜 사람인가   —   5 Whys가 ‘취향’에서 멈췄기 때문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25312"/>
            <a:ext cx="1127455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어울림은 체형·상황·취향이 섞여 규칙으로 계산되지 않는다. 공급자를 먼저 모으는 대신 수요부터 확인하는 순서로 콜드 스타트를 피한다.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