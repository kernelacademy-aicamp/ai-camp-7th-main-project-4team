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71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F9A8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114" y="11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88282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슬라이드 00 [오프닝 · 0:15]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슬라이드 01 [발견 · 0:45]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슬라이드 02 [정의 · 0:30]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슬라이드 03 [정의 · 0:40]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슬라이드 04 [정의 · 0:30]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슬라이드 05 [정의 · 0:30]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슬라이드 06 [솔루션 · 0:45]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슬라이드 07 [솔루션 · 0:45]  ★ 승부처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슬라이드 08 [데모 · 1:15]  ★ 승부처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슬라이드 09 [데모 · 0:50]  ★ 승부처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슬라이드 10 [검증 · 0:40]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슬라이드 11 [검증 · 0:35]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슬라이드 12 [마무리 · 0:35]  ★ 승부처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슬라이드 13 [마무리 · 0:30]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Fitting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 err="1"/>
              <a:t>핏팅</a:t>
            </a:r>
            <a:r>
              <a:rPr lang="en-US" altLang="ko-KR" dirty="0"/>
              <a:t>)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sz="2400" dirty="0"/>
              <a:t>안 </a:t>
            </a:r>
            <a:r>
              <a:rPr sz="2400" dirty="0" err="1"/>
              <a:t>입어본</a:t>
            </a:r>
            <a:r>
              <a:rPr sz="2400" dirty="0"/>
              <a:t> </a:t>
            </a:r>
            <a:r>
              <a:rPr sz="2400" dirty="0" err="1"/>
              <a:t>브랜드도</a:t>
            </a:r>
            <a:r>
              <a:rPr sz="2400" dirty="0"/>
              <a:t> 내 </a:t>
            </a:r>
            <a:r>
              <a:rPr sz="2400" dirty="0" err="1"/>
              <a:t>사이즈로</a:t>
            </a:r>
            <a:r>
              <a:rPr sz="2400" dirty="0"/>
              <a:t> 딱 FIT</a:t>
            </a:r>
            <a:br>
              <a:rPr lang="en-US" sz="2400" dirty="0"/>
            </a:br>
            <a:r>
              <a:rPr lang="en-US" sz="2400" dirty="0"/>
              <a:t>(</a:t>
            </a:r>
            <a:r>
              <a:rPr lang="ko-KR" altLang="ko-KR" sz="2400" b="1" dirty="0"/>
              <a:t>3초 안에 “뭐 하는 </a:t>
            </a:r>
            <a:r>
              <a:rPr lang="ko-KR" altLang="ko-KR" sz="2400" b="1" dirty="0" err="1"/>
              <a:t>서비스”인지</a:t>
            </a:r>
            <a:r>
              <a:rPr lang="ko-KR" altLang="ko-KR" sz="2400" b="1" dirty="0"/>
              <a:t> 각인</a:t>
            </a:r>
            <a:r>
              <a:rPr lang="en-US" altLang="ko-KR" sz="2400" b="1" dirty="0"/>
              <a:t>)</a:t>
            </a:r>
            <a:br>
              <a:rPr lang="ko-KR" altLang="ko-KR" sz="2400" dirty="0"/>
            </a:br>
            <a:endParaRPr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01. </a:t>
            </a:r>
            <a:r>
              <a:rPr dirty="0" err="1"/>
              <a:t>배경</a:t>
            </a:r>
            <a:r>
              <a:rPr dirty="0"/>
              <a:t> · </a:t>
            </a:r>
            <a:r>
              <a:rPr dirty="0" err="1"/>
              <a:t>문제인식</a:t>
            </a:r>
            <a:r>
              <a:rPr dirty="0"/>
              <a:t> (</a:t>
            </a:r>
            <a:r>
              <a:rPr dirty="0" err="1"/>
              <a:t>자체</a:t>
            </a:r>
            <a:r>
              <a:rPr dirty="0"/>
              <a:t> </a:t>
            </a:r>
            <a:r>
              <a:rPr dirty="0" err="1"/>
              <a:t>설문</a:t>
            </a:r>
            <a:r>
              <a:rPr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1800" b="1" dirty="0"/>
              <a:t>[</a:t>
            </a:r>
            <a:r>
              <a:rPr sz="1800" b="1" dirty="0" err="1"/>
              <a:t>핵심</a:t>
            </a:r>
            <a:r>
              <a:rPr sz="1800" b="1" dirty="0"/>
              <a:t> </a:t>
            </a:r>
            <a:r>
              <a:rPr sz="1800" b="1" dirty="0" err="1"/>
              <a:t>메시지</a:t>
            </a:r>
            <a:r>
              <a:rPr sz="1800" b="1" dirty="0"/>
              <a:t>] </a:t>
            </a:r>
            <a:r>
              <a:rPr sz="1800" b="1" dirty="0" err="1"/>
              <a:t>우리가</a:t>
            </a:r>
            <a:r>
              <a:rPr sz="1800" b="1" dirty="0"/>
              <a:t> </a:t>
            </a:r>
            <a:r>
              <a:rPr sz="1800" b="1" dirty="0" err="1"/>
              <a:t>직접</a:t>
            </a:r>
            <a:r>
              <a:rPr sz="1800" b="1" dirty="0"/>
              <a:t> </a:t>
            </a:r>
            <a:r>
              <a:rPr sz="1800" b="1" dirty="0" err="1"/>
              <a:t>물어봤다</a:t>
            </a:r>
            <a:r>
              <a:rPr sz="1800" b="1" dirty="0"/>
              <a:t> — </a:t>
            </a:r>
            <a:r>
              <a:rPr sz="1800" b="1" dirty="0" err="1"/>
              <a:t>고민은</a:t>
            </a:r>
            <a:r>
              <a:rPr sz="1800" b="1" dirty="0"/>
              <a:t> 두 </a:t>
            </a:r>
            <a:r>
              <a:rPr sz="1800" b="1" dirty="0" err="1"/>
              <a:t>갈래였다</a:t>
            </a:r>
            <a:endParaRPr sz="1800" b="1" dirty="0"/>
          </a:p>
          <a:p>
            <a:pPr lvl="1"/>
            <a:r>
              <a:rPr sz="1800" b="1" dirty="0"/>
              <a:t>[</a:t>
            </a:r>
            <a:r>
              <a:rPr sz="1800" b="1" dirty="0" err="1"/>
              <a:t>필수</a:t>
            </a:r>
            <a:r>
              <a:rPr sz="1800" b="1" dirty="0"/>
              <a:t>] </a:t>
            </a:r>
            <a:r>
              <a:rPr sz="1800" b="1" dirty="0" err="1"/>
              <a:t>표본</a:t>
            </a:r>
            <a:r>
              <a:rPr sz="1800" b="1" dirty="0"/>
              <a:t> </a:t>
            </a:r>
            <a:r>
              <a:rPr lang="en-US" sz="1800" b="1" dirty="0"/>
              <a:t>31</a:t>
            </a:r>
            <a:r>
              <a:rPr sz="1800" b="1" dirty="0"/>
              <a:t>명 · </a:t>
            </a:r>
            <a:r>
              <a:rPr sz="1800" b="1" dirty="0" err="1"/>
              <a:t>조사</a:t>
            </a:r>
            <a:r>
              <a:rPr sz="1800" b="1" dirty="0"/>
              <a:t> </a:t>
            </a:r>
            <a:r>
              <a:rPr sz="1800" b="1" dirty="0" err="1"/>
              <a:t>시기</a:t>
            </a:r>
            <a:r>
              <a:rPr sz="1800" b="1" dirty="0"/>
              <a:t> </a:t>
            </a:r>
            <a:r>
              <a:rPr sz="1800" b="1" dirty="0" err="1"/>
              <a:t>명시</a:t>
            </a:r>
            <a:r>
              <a:rPr sz="1800" b="1" dirty="0"/>
              <a:t> </a:t>
            </a:r>
            <a:r>
              <a:rPr lang="en-US" sz="1800" b="1" dirty="0"/>
              <a:t>26.06.23</a:t>
            </a:r>
            <a:r>
              <a:rPr sz="1800" b="1" dirty="0"/>
              <a:t>(</a:t>
            </a:r>
            <a:r>
              <a:rPr sz="1800" b="1" dirty="0" err="1"/>
              <a:t>신뢰의</a:t>
            </a:r>
            <a:r>
              <a:rPr sz="1800" b="1" dirty="0"/>
              <a:t> </a:t>
            </a:r>
            <a:r>
              <a:rPr sz="1800" b="1" dirty="0" err="1"/>
              <a:t>근거</a:t>
            </a:r>
            <a:r>
              <a:rPr sz="1800" b="1" dirty="0"/>
              <a:t>)</a:t>
            </a:r>
          </a:p>
          <a:p>
            <a:pPr lvl="1"/>
            <a:r>
              <a:rPr lang="en-US" sz="1800" b="1" dirty="0"/>
              <a:t>31</a:t>
            </a:r>
            <a:r>
              <a:rPr lang="ko-KR" altLang="en-US" sz="1800" b="1" dirty="0"/>
              <a:t>명 설문 </a:t>
            </a:r>
            <a:r>
              <a:rPr lang="en-US" altLang="ko-KR" sz="1800" b="1" dirty="0"/>
              <a:t>(</a:t>
            </a:r>
            <a:r>
              <a:rPr lang="ko-KR" altLang="en-US" sz="1800" b="1" dirty="0"/>
              <a:t>그래프나 표 형식으로</a:t>
            </a:r>
            <a:r>
              <a:rPr lang="en-US" altLang="ko-KR" sz="1800" b="1" dirty="0"/>
              <a:t>)</a:t>
            </a:r>
            <a:br>
              <a:rPr lang="en-US" altLang="ko-KR" sz="1800" b="1" dirty="0"/>
            </a:br>
            <a:r>
              <a:rPr lang="en-US" altLang="ko-KR" sz="1800" b="1" dirty="0"/>
              <a:t>1. </a:t>
            </a:r>
            <a:r>
              <a:rPr lang="en-US" altLang="ko-KR" sz="1800" b="1" dirty="0" err="1">
                <a:solidFill>
                  <a:srgbClr val="1614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어떤</a:t>
            </a:r>
            <a:r>
              <a:rPr lang="en-US" altLang="ko-KR" sz="1800" b="1" dirty="0">
                <a:solidFill>
                  <a:srgbClr val="1614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altLang="ko-KR" sz="1800" b="1" dirty="0" err="1">
                <a:solidFill>
                  <a:srgbClr val="1614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나에게</a:t>
            </a:r>
            <a:r>
              <a:rPr lang="en-US" altLang="ko-KR" sz="1800" b="1" dirty="0">
                <a:solidFill>
                  <a:srgbClr val="1614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altLang="ko-KR" sz="1800" b="1" dirty="0" err="1">
                <a:solidFill>
                  <a:srgbClr val="1614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스타일이</a:t>
            </a:r>
            <a:r>
              <a:rPr lang="en-US" altLang="ko-KR" sz="1800" b="1" dirty="0">
                <a:solidFill>
                  <a:srgbClr val="1614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altLang="ko-KR" sz="1800" b="1" dirty="0" err="1">
                <a:solidFill>
                  <a:srgbClr val="1614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어울릴지</a:t>
            </a:r>
            <a:r>
              <a:rPr lang="en-US" altLang="ko-KR" sz="1800" b="1" dirty="0">
                <a:solidFill>
                  <a:srgbClr val="1614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altLang="ko-KR" sz="1800" b="1" dirty="0" err="1">
                <a:solidFill>
                  <a:srgbClr val="1614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모르겠다</a:t>
            </a:r>
            <a:r>
              <a:rPr lang="en-US" altLang="ko-KR" sz="1800" b="1" dirty="0">
                <a:solidFill>
                  <a:srgbClr val="1614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40%</a:t>
            </a:r>
            <a:br>
              <a:rPr lang="en-US" altLang="ko-KR" sz="1800" b="1" dirty="0">
                <a:solidFill>
                  <a:srgbClr val="1614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</a:br>
            <a:r>
              <a:rPr lang="en-US" altLang="ko-KR" sz="1800" b="1" dirty="0">
                <a:solidFill>
                  <a:srgbClr val="1614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2. </a:t>
            </a:r>
            <a:r>
              <a:rPr lang="en-US" altLang="ko-KR" sz="1800" b="1" dirty="0" err="1">
                <a:solidFill>
                  <a:srgbClr val="1614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어떤</a:t>
            </a:r>
            <a:r>
              <a:rPr lang="en-US" altLang="ko-KR" sz="1800" b="1" dirty="0">
                <a:solidFill>
                  <a:srgbClr val="1614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altLang="ko-KR" sz="1800" b="1" dirty="0" err="1">
                <a:solidFill>
                  <a:srgbClr val="1614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사이즈가</a:t>
            </a:r>
            <a:r>
              <a:rPr lang="en-US" altLang="ko-KR" sz="1800" b="1" dirty="0">
                <a:solidFill>
                  <a:srgbClr val="1614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altLang="ko-KR" sz="1800" b="1" dirty="0" err="1">
                <a:solidFill>
                  <a:srgbClr val="1614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맞을지</a:t>
            </a:r>
            <a:r>
              <a:rPr lang="en-US" altLang="ko-KR" sz="1800" b="1" dirty="0">
                <a:solidFill>
                  <a:srgbClr val="1614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altLang="ko-KR" sz="1800" b="1" dirty="0" err="1">
                <a:solidFill>
                  <a:srgbClr val="1614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모르겠다</a:t>
            </a:r>
            <a:r>
              <a:rPr lang="en-US" altLang="ko-KR" sz="1800" b="1" dirty="0">
                <a:solidFill>
                  <a:srgbClr val="1614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38%</a:t>
            </a:r>
            <a:endParaRPr lang="en-US" altLang="ko-KR" sz="1800" b="1" dirty="0"/>
          </a:p>
          <a:p>
            <a:pPr lvl="1"/>
            <a:r>
              <a:rPr lang="ko-KR" altLang="en-US" sz="1800" b="1" dirty="0"/>
              <a:t>자체 설문 결과</a:t>
            </a:r>
            <a:r>
              <a:rPr lang="en-US" altLang="ko-KR" sz="1800" b="1" dirty="0"/>
              <a:t>: ① </a:t>
            </a:r>
            <a:r>
              <a:rPr lang="ko-KR" altLang="en-US" sz="1800" b="1" dirty="0"/>
              <a:t>사이즈 고민  ② 스타일링 고민</a:t>
            </a:r>
            <a:endParaRPr lang="en-US" altLang="ko-KR" sz="1800" b="1" dirty="0"/>
          </a:p>
          <a:p>
            <a:pPr marL="457200" lvl="1" indent="0">
              <a:buNone/>
            </a:pPr>
            <a:r>
              <a:rPr lang="ko-KR" altLang="en-US" sz="1800" b="1" dirty="0"/>
              <a:t>     실제 온라인 문의 사항 및 후기</a:t>
            </a:r>
            <a:endParaRPr lang="en-US" altLang="ko-KR" sz="1800" b="1" dirty="0"/>
          </a:p>
          <a:p>
            <a:pPr lvl="1"/>
            <a:r>
              <a:rPr lang="ko-KR" altLang="ko-KR" sz="1800" b="1" dirty="0"/>
              <a:t>키 175, 몸무게 68</a:t>
            </a:r>
            <a:r>
              <a:rPr lang="en-US" altLang="ko-KR" sz="1800" b="1" dirty="0"/>
              <a:t> </a:t>
            </a:r>
            <a:r>
              <a:rPr lang="ko-KR" altLang="ko-KR" sz="1800" b="1" dirty="0"/>
              <a:t>국내상의 보통 100 입는데 사이즈 어떻게 </a:t>
            </a:r>
            <a:r>
              <a:rPr lang="ko-KR" altLang="ko-KR" sz="1800" b="1" dirty="0" err="1"/>
              <a:t>가는게</a:t>
            </a:r>
            <a:br>
              <a:rPr lang="ko-KR" altLang="ko-KR" sz="1800" b="1" dirty="0"/>
            </a:br>
            <a:r>
              <a:rPr lang="ko-KR" altLang="ko-KR" sz="1800" b="1" dirty="0"/>
              <a:t>좋을까요?</a:t>
            </a:r>
            <a:r>
              <a:rPr lang="en-US" altLang="ko-KR" sz="1800" b="1" dirty="0"/>
              <a:t>  -</a:t>
            </a:r>
            <a:r>
              <a:rPr lang="ko-KR" altLang="en-US" sz="1800" b="1" dirty="0"/>
              <a:t>출처</a:t>
            </a:r>
            <a:r>
              <a:rPr lang="en-US" altLang="ko-KR" sz="1800" b="1" dirty="0"/>
              <a:t>:</a:t>
            </a:r>
            <a:r>
              <a:rPr lang="ko-KR" altLang="en-US" sz="1800" b="1" dirty="0" err="1"/>
              <a:t>무신사</a:t>
            </a:r>
            <a:r>
              <a:rPr lang="ko-KR" altLang="en-US" sz="1800" b="1" dirty="0"/>
              <a:t> 문의</a:t>
            </a:r>
            <a:endParaRPr lang="en-US" altLang="ko-KR" sz="1800" b="1" dirty="0"/>
          </a:p>
          <a:p>
            <a:pPr lvl="1"/>
            <a:r>
              <a:rPr lang="ko-KR" altLang="en-US" sz="1800" b="1" dirty="0"/>
              <a:t>팔뚝을 가리려고 가디건을 샀는데 전혀 가려지지 않는 우람한 </a:t>
            </a:r>
            <a:r>
              <a:rPr lang="ko-KR" altLang="en-US" sz="1800" b="1" dirty="0" err="1"/>
              <a:t>팔뚝이삼</a:t>
            </a:r>
            <a:r>
              <a:rPr lang="ko-KR" altLang="en-US" sz="1800" b="1" dirty="0"/>
              <a:t> </a:t>
            </a:r>
            <a:r>
              <a:rPr lang="en-US" altLang="ko-KR" sz="1800" b="1" dirty="0"/>
              <a:t>   - </a:t>
            </a:r>
            <a:r>
              <a:rPr lang="ko-KR" altLang="en-US" sz="1800" b="1" dirty="0"/>
              <a:t>출처</a:t>
            </a:r>
            <a:r>
              <a:rPr lang="en-US" altLang="ko-KR" sz="1800" b="1" dirty="0"/>
              <a:t>: </a:t>
            </a:r>
            <a:r>
              <a:rPr lang="ko-KR" altLang="en-US" sz="1800" b="1" dirty="0" err="1"/>
              <a:t>에이블리</a:t>
            </a:r>
            <a:r>
              <a:rPr lang="ko-KR" altLang="en-US" sz="1800" b="1" dirty="0"/>
              <a:t> 구매 리뷰</a:t>
            </a:r>
            <a:endParaRPr lang="en-US" altLang="ko-KR" sz="1800" b="1" dirty="0"/>
          </a:p>
          <a:p>
            <a:pPr lvl="1"/>
            <a:r>
              <a:rPr lang="ko-KR" altLang="en-US" sz="1800" b="1" dirty="0"/>
              <a:t>키 </a:t>
            </a:r>
            <a:r>
              <a:rPr lang="en-US" altLang="ko-KR" sz="1800" b="1" dirty="0"/>
              <a:t>172 68</a:t>
            </a:r>
            <a:r>
              <a:rPr lang="ko-KR" altLang="en-US" sz="1800" b="1" dirty="0"/>
              <a:t>이면 사이즈 몇 입어야 하나요</a:t>
            </a:r>
            <a:r>
              <a:rPr lang="en-US" altLang="ko-KR" sz="1800" b="1" dirty="0"/>
              <a:t>? - </a:t>
            </a:r>
            <a:r>
              <a:rPr lang="ko-KR" altLang="en-US" sz="1800" b="1" dirty="0"/>
              <a:t>출처 </a:t>
            </a:r>
            <a:r>
              <a:rPr lang="en-US" altLang="ko-KR" sz="1800" b="1" dirty="0"/>
              <a:t>: </a:t>
            </a:r>
            <a:r>
              <a:rPr lang="ko-KR" altLang="en-US" sz="1800" b="1" dirty="0"/>
              <a:t>네이버 쇼핑 문의</a:t>
            </a:r>
            <a:endParaRPr lang="en-US" altLang="ko-KR" sz="1800" b="1" dirty="0"/>
          </a:p>
          <a:p>
            <a:pPr lvl="1"/>
            <a:r>
              <a:rPr lang="ko-KR" altLang="en-US" sz="1800" b="1" dirty="0"/>
              <a:t>우측 사진 </a:t>
            </a:r>
            <a:r>
              <a:rPr lang="ko-KR" altLang="en-US" sz="1800" b="1" dirty="0" err="1"/>
              <a:t>무신사</a:t>
            </a:r>
            <a:r>
              <a:rPr lang="ko-KR" altLang="en-US" sz="1800" b="1" dirty="0"/>
              <a:t> 구매이력 사이즈 추천 기능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AB8AA1A-DFDB-4505-BAB0-A63574963B93}"/>
              </a:ext>
            </a:extLst>
          </p:cNvPr>
          <p:cNvSpPr>
            <a:spLocks noGrp="1"/>
          </p:cNvSpPr>
          <p:nvPr>
            <p:ph type="body" orient="vert" idx="4294967295"/>
          </p:nvPr>
        </p:nvSpPr>
        <p:spPr>
          <a:xfrm>
            <a:off x="410221" y="808295"/>
            <a:ext cx="7626350" cy="342080"/>
          </a:xfrm>
        </p:spPr>
        <p:txBody>
          <a:bodyPr vert="horz" lIns="91440" tIns="45720" rIns="91440" bIns="45720" rtlCol="0">
            <a:normAutofit lnSpcReduction="10000"/>
          </a:bodyPr>
          <a:lstStyle/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ko-KR" altLang="en-US" sz="1900" dirty="0" err="1"/>
              <a:t>무신사</a:t>
            </a:r>
            <a:r>
              <a:rPr lang="ko-KR" altLang="en-US" sz="1900" dirty="0"/>
              <a:t> 자체 사이즈 추천 표</a:t>
            </a:r>
            <a:endParaRPr lang="en-US" altLang="ko-KR" sz="19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EA42C02-8AA8-0685-FAB2-A99F201611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221" y="1253444"/>
            <a:ext cx="7335347" cy="2029097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312C57E8-0B85-BC7F-D609-0EF31BFFDF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220" y="3776629"/>
            <a:ext cx="7335347" cy="2559404"/>
          </a:xfrm>
          <a:prstGeom prst="rect">
            <a:avLst/>
          </a:prstGeom>
        </p:spPr>
      </p:pic>
      <p:sp>
        <p:nvSpPr>
          <p:cNvPr id="9" name="세로 텍스트 개체 틀 2">
            <a:extLst>
              <a:ext uri="{FF2B5EF4-FFF2-40B4-BE49-F238E27FC236}">
                <a16:creationId xmlns:a16="http://schemas.microsoft.com/office/drawing/2014/main" id="{4B189BCC-9895-7870-DBD1-D182746A4822}"/>
              </a:ext>
            </a:extLst>
          </p:cNvPr>
          <p:cNvSpPr txBox="1">
            <a:spLocks/>
          </p:cNvSpPr>
          <p:nvPr/>
        </p:nvSpPr>
        <p:spPr>
          <a:xfrm>
            <a:off x="410221" y="3282541"/>
            <a:ext cx="7626350" cy="34208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ko-KR" altLang="en-US" sz="1900" dirty="0"/>
              <a:t>블라인드 커뮤니티 룩</a:t>
            </a:r>
            <a:r>
              <a:rPr lang="en-US" altLang="ko-KR" sz="1900" dirty="0"/>
              <a:t>(</a:t>
            </a:r>
            <a:r>
              <a:rPr lang="ko-KR" altLang="en-US" sz="1900" dirty="0"/>
              <a:t>스타일</a:t>
            </a:r>
            <a:r>
              <a:rPr lang="en-US" altLang="ko-KR" sz="1900" dirty="0"/>
              <a:t>)</a:t>
            </a:r>
            <a:r>
              <a:rPr lang="ko-KR" altLang="en-US" sz="1900" dirty="0"/>
              <a:t> 관련 글</a:t>
            </a:r>
            <a:endParaRPr lang="en-US" altLang="ko-KR" sz="19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551C39E-54CD-4E73-BACD-D7C4D58A0EED}"/>
              </a:ext>
            </a:extLst>
          </p:cNvPr>
          <p:cNvSpPr txBox="1"/>
          <p:nvPr/>
        </p:nvSpPr>
        <p:spPr>
          <a:xfrm>
            <a:off x="8036571" y="1429732"/>
            <a:ext cx="37186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+mj-ea"/>
                <a:ea typeface="+mj-ea"/>
              </a:rPr>
              <a:t>-</a:t>
            </a:r>
            <a:r>
              <a:rPr lang="ko-KR" altLang="en-US" dirty="0">
                <a:latin typeface="+mj-ea"/>
                <a:ea typeface="+mj-ea"/>
              </a:rPr>
              <a:t>구매이력 추천사이즈는 있으나 단순 치수 기반으로만</a:t>
            </a:r>
            <a:r>
              <a:rPr lang="en-US" altLang="ko-KR" dirty="0">
                <a:latin typeface="+mj-ea"/>
                <a:ea typeface="+mj-ea"/>
              </a:rPr>
              <a:t> </a:t>
            </a:r>
            <a:r>
              <a:rPr lang="ko-KR" altLang="en-US" dirty="0">
                <a:latin typeface="+mj-ea"/>
                <a:ea typeface="+mj-ea"/>
              </a:rPr>
              <a:t>나열해주고 사이즈 추천은 못해준다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3E9E8D0-AD39-A9DE-432B-37B1EA904B31}"/>
              </a:ext>
            </a:extLst>
          </p:cNvPr>
          <p:cNvSpPr txBox="1"/>
          <p:nvPr/>
        </p:nvSpPr>
        <p:spPr>
          <a:xfrm>
            <a:off x="8063129" y="3776629"/>
            <a:ext cx="371865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+mj-ea"/>
                <a:ea typeface="+mj-ea"/>
              </a:rPr>
              <a:t>-</a:t>
            </a:r>
            <a:r>
              <a:rPr lang="ko-KR" altLang="en-US" dirty="0">
                <a:latin typeface="+mj-ea"/>
                <a:ea typeface="+mj-ea"/>
              </a:rPr>
              <a:t>스타일링에 대한 페인 포인트는 존재한다</a:t>
            </a:r>
            <a:r>
              <a:rPr lang="en-US" altLang="ko-KR" dirty="0">
                <a:latin typeface="+mj-ea"/>
                <a:ea typeface="+mj-ea"/>
              </a:rPr>
              <a:t>. </a:t>
            </a:r>
            <a:r>
              <a:rPr lang="ko-KR" altLang="en-US" dirty="0">
                <a:latin typeface="+mj-ea"/>
                <a:ea typeface="+mj-ea"/>
              </a:rPr>
              <a:t>특히 </a:t>
            </a:r>
            <a:r>
              <a:rPr lang="ko-KR" altLang="en-US" dirty="0" err="1">
                <a:latin typeface="+mj-ea"/>
                <a:ea typeface="+mj-ea"/>
              </a:rPr>
              <a:t>중요자리이거나</a:t>
            </a:r>
            <a:r>
              <a:rPr lang="ko-KR" altLang="en-US" dirty="0">
                <a:latin typeface="+mj-ea"/>
                <a:ea typeface="+mj-ea"/>
              </a:rPr>
              <a:t> </a:t>
            </a:r>
            <a:r>
              <a:rPr lang="ko-KR" altLang="en-US" dirty="0" err="1">
                <a:latin typeface="+mj-ea"/>
                <a:ea typeface="+mj-ea"/>
              </a:rPr>
              <a:t>누군가한테</a:t>
            </a:r>
            <a:r>
              <a:rPr lang="ko-KR" altLang="en-US" dirty="0">
                <a:latin typeface="+mj-ea"/>
                <a:ea typeface="+mj-ea"/>
              </a:rPr>
              <a:t> </a:t>
            </a:r>
            <a:r>
              <a:rPr lang="ko-KR" altLang="en-US" dirty="0" err="1">
                <a:latin typeface="+mj-ea"/>
                <a:ea typeface="+mj-ea"/>
              </a:rPr>
              <a:t>잘보여야</a:t>
            </a:r>
            <a:r>
              <a:rPr lang="ko-KR" altLang="en-US" dirty="0">
                <a:latin typeface="+mj-ea"/>
                <a:ea typeface="+mj-ea"/>
              </a:rPr>
              <a:t> 하는 상황에서</a:t>
            </a:r>
          </a:p>
        </p:txBody>
      </p:sp>
    </p:spTree>
    <p:extLst>
      <p:ext uri="{BB962C8B-B14F-4D97-AF65-F5344CB8AC3E}">
        <p14:creationId xmlns:p14="http://schemas.microsoft.com/office/powerpoint/2010/main" val="5627148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18855" y="328052"/>
            <a:ext cx="3633019" cy="457199"/>
          </a:xfrm>
        </p:spPr>
        <p:txBody>
          <a:bodyPr>
            <a:normAutofit fontScale="90000"/>
          </a:bodyPr>
          <a:lstStyle/>
          <a:p>
            <a:pPr algn="l"/>
            <a:r>
              <a:rPr dirty="0"/>
              <a:t>02. </a:t>
            </a:r>
            <a:r>
              <a:rPr dirty="0" err="1"/>
              <a:t>페르소나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046831"/>
            <a:ext cx="4114800" cy="52578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ko-KR" altLang="ko-KR" sz="1200" dirty="0"/>
              <a:t>[페르소나 1] 김민석 — 사이즈 고민</a:t>
            </a:r>
          </a:p>
          <a:p>
            <a:pPr marL="0" indent="0">
              <a:buNone/>
            </a:pPr>
            <a:r>
              <a:rPr lang="ko-KR" altLang="ko-KR" sz="1200" dirty="0"/>
              <a:t>이름/나이/성별/직업</a:t>
            </a:r>
          </a:p>
          <a:p>
            <a:pPr marL="0" indent="0">
              <a:buNone/>
            </a:pPr>
            <a:r>
              <a:rPr lang="ko-KR" altLang="ko-KR" sz="1200" dirty="0"/>
              <a:t>김민석 · 32세 · 남 · 사무직 회사원 (앉아서 일, 최근 </a:t>
            </a:r>
            <a:r>
              <a:rPr lang="ko-KR" altLang="ko-KR" sz="1200" dirty="0" err="1"/>
              <a:t>야근·회식</a:t>
            </a:r>
            <a:r>
              <a:rPr lang="ko-KR" altLang="ko-KR" sz="1200" dirty="0"/>
              <a:t> 잦음)</a:t>
            </a:r>
          </a:p>
          <a:p>
            <a:pPr marL="0" indent="0">
              <a:buNone/>
            </a:pPr>
            <a:r>
              <a:rPr lang="ko-KR" altLang="ko-KR" sz="1200" dirty="0"/>
              <a:t>상황</a:t>
            </a:r>
          </a:p>
          <a:p>
            <a:pPr marL="0" indent="0">
              <a:buNone/>
            </a:pPr>
            <a:r>
              <a:rPr lang="ko-KR" altLang="ko-KR" sz="1200" dirty="0"/>
              <a:t>· 3주 뒤 친구 결혼식 하객 예정</a:t>
            </a:r>
          </a:p>
          <a:p>
            <a:pPr marL="0" indent="0">
              <a:buNone/>
            </a:pPr>
            <a:r>
              <a:rPr lang="ko-KR" altLang="ko-KR" sz="1200" dirty="0"/>
              <a:t>· 입고 갈 옷(</a:t>
            </a:r>
            <a:r>
              <a:rPr lang="ko-KR" altLang="ko-KR" sz="1200" dirty="0" err="1"/>
              <a:t>셔츠+슬랙스</a:t>
            </a:r>
            <a:r>
              <a:rPr lang="ko-KR" altLang="ko-KR" sz="1200" dirty="0"/>
              <a:t>, 재킷)은 이미 </a:t>
            </a:r>
            <a:r>
              <a:rPr lang="ko-KR" altLang="ko-KR" sz="1200" dirty="0" err="1"/>
              <a:t>생각해둠</a:t>
            </a:r>
            <a:endParaRPr lang="ko-KR" altLang="ko-KR" sz="1200" dirty="0"/>
          </a:p>
          <a:p>
            <a:pPr marL="0" indent="0">
              <a:buNone/>
            </a:pPr>
            <a:r>
              <a:rPr lang="ko-KR" altLang="ko-KR" sz="1200" dirty="0"/>
              <a:t>· 최근 3~5kg 쪄서 예전 사이즈로 사면 안 맞을까 걱정 — 뭘 사야 할지 모름</a:t>
            </a:r>
          </a:p>
          <a:p>
            <a:pPr marL="0" indent="0">
              <a:buNone/>
            </a:pPr>
            <a:r>
              <a:rPr lang="ko-KR" altLang="ko-KR" sz="1200" dirty="0"/>
              <a:t>페인 / 니즈</a:t>
            </a:r>
          </a:p>
          <a:p>
            <a:pPr marL="0" indent="0">
              <a:buNone/>
            </a:pPr>
            <a:r>
              <a:rPr lang="ko-KR" altLang="ko-KR" sz="1200" dirty="0"/>
              <a:t>· </a:t>
            </a:r>
            <a:r>
              <a:rPr lang="ko-KR" altLang="ko-KR" sz="1200" dirty="0" err="1"/>
              <a:t>무신사</a:t>
            </a:r>
            <a:r>
              <a:rPr lang="ko-KR" altLang="ko-KR" sz="1200" dirty="0"/>
              <a:t> 추천 사이즈가 과거 구매 이력이랑 다르고 일관되지 않음</a:t>
            </a:r>
          </a:p>
          <a:p>
            <a:pPr marL="0" indent="0">
              <a:buNone/>
            </a:pPr>
            <a:r>
              <a:rPr lang="ko-KR" altLang="ko-KR" sz="1200" dirty="0"/>
              <a:t>· 나랑 비슷한 체형 후기를 찾아봐도 각각 달라 신뢰가 안 감</a:t>
            </a:r>
          </a:p>
          <a:p>
            <a:pPr marL="0" indent="0">
              <a:buNone/>
            </a:pPr>
            <a:r>
              <a:rPr lang="ko-KR" altLang="ko-KR" sz="1200" dirty="0"/>
              <a:t>· 살찐 뒤 지금 내 몸 사이즈를 스스로도 모름</a:t>
            </a:r>
          </a:p>
          <a:p>
            <a:pPr marL="0" indent="0">
              <a:buNone/>
            </a:pPr>
            <a:r>
              <a:rPr lang="ko-KR" altLang="ko-KR" sz="1200" dirty="0"/>
              <a:t>· 결혼식 날짜가 있어 </a:t>
            </a:r>
            <a:r>
              <a:rPr lang="ko-KR" altLang="ko-KR" sz="1200" dirty="0" err="1"/>
              <a:t>반품·재구매할</a:t>
            </a:r>
            <a:r>
              <a:rPr lang="ko-KR" altLang="ko-KR" sz="1200" dirty="0"/>
              <a:t> 여유가 없음</a:t>
            </a:r>
          </a:p>
          <a:p>
            <a:pPr marL="0" indent="0">
              <a:buNone/>
            </a:pPr>
            <a:r>
              <a:rPr lang="ko-KR" altLang="ko-KR" sz="1200" dirty="0"/>
              <a:t>→ 지금 내 체형 기준의 확실한 사이즈, 한 번에 맞아서 제때 준비 끝내고 싶음</a:t>
            </a:r>
          </a:p>
          <a:p>
            <a:pPr marL="0" indent="0">
              <a:buNone/>
            </a:pPr>
            <a:r>
              <a:rPr lang="ko-KR" altLang="ko-KR" sz="1200" dirty="0"/>
              <a:t>현재 해결 방식</a:t>
            </a:r>
          </a:p>
          <a:p>
            <a:pPr marL="0" indent="0">
              <a:buNone/>
            </a:pPr>
            <a:r>
              <a:rPr lang="ko-KR" altLang="ko-KR" sz="1200" dirty="0"/>
              <a:t>· </a:t>
            </a:r>
            <a:r>
              <a:rPr lang="ko-KR" altLang="ko-KR" sz="1200" dirty="0" err="1"/>
              <a:t>무신사</a:t>
            </a:r>
            <a:r>
              <a:rPr lang="ko-KR" altLang="ko-KR" sz="1200" dirty="0"/>
              <a:t> 사이즈 추천 → 과거 이력과 안 맞아 못 믿음</a:t>
            </a:r>
          </a:p>
          <a:p>
            <a:pPr marL="0" indent="0">
              <a:buNone/>
            </a:pPr>
            <a:r>
              <a:rPr lang="ko-KR" altLang="ko-KR" sz="1200" dirty="0"/>
              <a:t>· 비슷한 체형 리뷰 검색 → 사람마다 달라 더 혼란</a:t>
            </a:r>
          </a:p>
          <a:p>
            <a:pPr marL="0" indent="0">
              <a:buNone/>
            </a:pPr>
            <a:r>
              <a:rPr lang="ko-KR" altLang="ko-KR" sz="1200" dirty="0"/>
              <a:t>· 그냥 한 치수 크게(</a:t>
            </a:r>
            <a:r>
              <a:rPr lang="ko-KR" altLang="ko-KR" sz="1200" dirty="0" err="1"/>
              <a:t>안전빵</a:t>
            </a:r>
            <a:r>
              <a:rPr lang="ko-KR" altLang="ko-KR" sz="1200" dirty="0"/>
              <a:t>) 지름 → 안 맞을 걱정은 줄지만 핏이 망가짐</a:t>
            </a:r>
          </a:p>
          <a:p>
            <a:pPr marL="0" indent="0">
              <a:buNone/>
            </a:pPr>
            <a:r>
              <a:rPr lang="ko-KR" altLang="ko-KR" sz="1200" dirty="0"/>
              <a:t>이 사람이 할 법한 한 줄</a:t>
            </a:r>
          </a:p>
          <a:p>
            <a:pPr marL="0" indent="0">
              <a:buNone/>
            </a:pPr>
            <a:r>
              <a:rPr lang="ko-KR" altLang="ko-KR" sz="1200" dirty="0"/>
              <a:t>"살은 쪘고 결혼식은 다가오는데, 이 사이즈가 지금 </a:t>
            </a:r>
            <a:r>
              <a:rPr lang="ko-KR" altLang="ko-KR" sz="1200" dirty="0" err="1"/>
              <a:t>나한테</a:t>
            </a:r>
            <a:r>
              <a:rPr lang="ko-KR" altLang="ko-KR" sz="1200" dirty="0"/>
              <a:t> 맞을지 모르겠어요."</a:t>
            </a:r>
          </a:p>
          <a:p>
            <a:endParaRPr lang="ko-KR" altLang="ko-KR" sz="1200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041C384-DFD9-C6C4-D39F-5BDC5E3428A9}"/>
              </a:ext>
            </a:extLst>
          </p:cNvPr>
          <p:cNvSpPr txBox="1">
            <a:spLocks/>
          </p:cNvSpPr>
          <p:nvPr/>
        </p:nvSpPr>
        <p:spPr>
          <a:xfrm>
            <a:off x="6165273" y="1046831"/>
            <a:ext cx="4114800" cy="56079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ko-KR" sz="1200" dirty="0"/>
              <a:t>[페르소나 2] </a:t>
            </a:r>
            <a:r>
              <a:rPr lang="ko-KR" altLang="ko-KR" sz="1200" dirty="0" err="1"/>
              <a:t>한예린</a:t>
            </a:r>
            <a:r>
              <a:rPr lang="ko-KR" altLang="ko-KR" sz="1200" dirty="0"/>
              <a:t> — 스타일 고민</a:t>
            </a:r>
          </a:p>
          <a:p>
            <a:pPr marL="0" indent="0">
              <a:buNone/>
            </a:pPr>
            <a:r>
              <a:rPr lang="ko-KR" altLang="ko-KR" sz="1200" dirty="0"/>
              <a:t>이름/나이/성별/직업</a:t>
            </a:r>
          </a:p>
          <a:p>
            <a:pPr marL="0" indent="0">
              <a:buNone/>
            </a:pPr>
            <a:r>
              <a:rPr lang="ko-KR" altLang="ko-KR" sz="1200" dirty="0" err="1"/>
              <a:t>한예린</a:t>
            </a:r>
            <a:r>
              <a:rPr lang="ko-KR" altLang="ko-KR" sz="1200" dirty="0"/>
              <a:t> · 34세 · 여 · 1인 브랜드 디자인 스튜디오 대표 (거래처 </a:t>
            </a:r>
            <a:r>
              <a:rPr lang="ko-KR" altLang="ko-KR" sz="1200" dirty="0" err="1"/>
              <a:t>미팅·피칭</a:t>
            </a:r>
            <a:r>
              <a:rPr lang="ko-KR" altLang="ko-KR" sz="1200" dirty="0"/>
              <a:t> 잦음)</a:t>
            </a:r>
          </a:p>
          <a:p>
            <a:pPr marL="0" indent="0">
              <a:buNone/>
            </a:pPr>
            <a:r>
              <a:rPr lang="ko-KR" altLang="ko-KR" sz="1200" dirty="0"/>
              <a:t>상황</a:t>
            </a:r>
          </a:p>
          <a:p>
            <a:pPr marL="0" indent="0">
              <a:buNone/>
            </a:pPr>
            <a:r>
              <a:rPr lang="ko-KR" altLang="ko-KR" sz="1200" dirty="0"/>
              <a:t>· 거래처 </a:t>
            </a:r>
            <a:r>
              <a:rPr lang="ko-KR" altLang="ko-KR" sz="1200" dirty="0" err="1"/>
              <a:t>미팅·발표회</a:t>
            </a:r>
            <a:r>
              <a:rPr lang="ko-KR" altLang="ko-KR" sz="1200" dirty="0"/>
              <a:t>(피칭)에서 신뢰 있는 이미지를 줘야 함</a:t>
            </a:r>
          </a:p>
          <a:p>
            <a:pPr marL="0" indent="0">
              <a:buNone/>
            </a:pPr>
            <a:r>
              <a:rPr lang="ko-KR" altLang="ko-KR" sz="1200" dirty="0"/>
              <a:t>· 곧 중요한 입점 제안 미팅을 앞둠</a:t>
            </a:r>
          </a:p>
          <a:p>
            <a:pPr marL="0" indent="0">
              <a:buNone/>
            </a:pPr>
            <a:r>
              <a:rPr lang="ko-KR" altLang="ko-KR" sz="1200" dirty="0"/>
              <a:t>· 내 체형에 어울리는 옷을 잘 모름</a:t>
            </a:r>
          </a:p>
          <a:p>
            <a:pPr marL="0" indent="0">
              <a:buNone/>
            </a:pPr>
            <a:r>
              <a:rPr lang="ko-KR" altLang="ko-KR" sz="1200" dirty="0"/>
              <a:t>페인 / 니즈</a:t>
            </a:r>
          </a:p>
          <a:p>
            <a:pPr marL="0" indent="0">
              <a:buNone/>
            </a:pPr>
            <a:r>
              <a:rPr lang="ko-KR" altLang="ko-KR" sz="1200" dirty="0"/>
              <a:t>· </a:t>
            </a:r>
            <a:r>
              <a:rPr lang="ko-KR" altLang="ko-KR" sz="1200" dirty="0" err="1"/>
              <a:t>유튜브·인스타</a:t>
            </a:r>
            <a:r>
              <a:rPr lang="ko-KR" altLang="ko-KR" sz="1200" dirty="0"/>
              <a:t> 보고 옷 샀는데 주변에서 "안 </a:t>
            </a:r>
            <a:r>
              <a:rPr lang="ko-KR" altLang="ko-KR" sz="1200" dirty="0" err="1"/>
              <a:t>어울린다"는</a:t>
            </a:r>
            <a:r>
              <a:rPr lang="ko-KR" altLang="ko-KR" sz="1200" dirty="0"/>
              <a:t> 말을 자주 들음</a:t>
            </a:r>
          </a:p>
          <a:p>
            <a:pPr marL="0" indent="0">
              <a:buNone/>
            </a:pPr>
            <a:r>
              <a:rPr lang="ko-KR" altLang="ko-KR" sz="1200" dirty="0"/>
              <a:t>· 트렌드는 알겠는데 "</a:t>
            </a:r>
            <a:r>
              <a:rPr lang="ko-KR" altLang="ko-KR" sz="1200" dirty="0" err="1"/>
              <a:t>나한테</a:t>
            </a:r>
            <a:r>
              <a:rPr lang="ko-KR" altLang="ko-KR" sz="1200" dirty="0"/>
              <a:t>" 어울리는 건 모름</a:t>
            </a:r>
          </a:p>
          <a:p>
            <a:pPr marL="0" indent="0">
              <a:buNone/>
            </a:pPr>
            <a:r>
              <a:rPr lang="ko-KR" altLang="ko-KR" sz="1200" dirty="0"/>
              <a:t>· 1인 대표라 이미지가 곧 </a:t>
            </a:r>
            <a:r>
              <a:rPr lang="ko-KR" altLang="ko-KR" sz="1200" dirty="0" err="1"/>
              <a:t>신뢰·매출인데</a:t>
            </a:r>
            <a:r>
              <a:rPr lang="ko-KR" altLang="ko-KR" sz="1200" dirty="0"/>
              <a:t> 확신이 없음</a:t>
            </a:r>
          </a:p>
          <a:p>
            <a:pPr marL="0" indent="0">
              <a:buNone/>
            </a:pPr>
            <a:r>
              <a:rPr lang="ko-KR" altLang="ko-KR" sz="1200" dirty="0"/>
              <a:t>→ 내 </a:t>
            </a:r>
            <a:r>
              <a:rPr lang="ko-KR" altLang="ko-KR" sz="1200" dirty="0" err="1"/>
              <a:t>체형·비즈니스</a:t>
            </a:r>
            <a:r>
              <a:rPr lang="ko-KR" altLang="ko-KR" sz="1200" dirty="0"/>
              <a:t> 상황에 맞는, 신뢰 주는 스타일 기준을 갖고 싶음</a:t>
            </a:r>
          </a:p>
          <a:p>
            <a:pPr marL="0" indent="0">
              <a:buNone/>
            </a:pPr>
            <a:r>
              <a:rPr lang="ko-KR" altLang="ko-KR" sz="1200" dirty="0"/>
              <a:t>현재 해결 방식</a:t>
            </a:r>
          </a:p>
          <a:p>
            <a:pPr marL="0" indent="0">
              <a:buNone/>
            </a:pPr>
            <a:r>
              <a:rPr lang="ko-KR" altLang="ko-KR" sz="1200" dirty="0"/>
              <a:t>· </a:t>
            </a:r>
            <a:r>
              <a:rPr lang="ko-KR" altLang="ko-KR" sz="1200" dirty="0" err="1"/>
              <a:t>유튜브·인스타</a:t>
            </a:r>
            <a:r>
              <a:rPr lang="ko-KR" altLang="ko-KR" sz="1200" dirty="0"/>
              <a:t> </a:t>
            </a:r>
            <a:r>
              <a:rPr lang="ko-KR" altLang="ko-KR" sz="1200" dirty="0" err="1"/>
              <a:t>룩북</a:t>
            </a:r>
            <a:r>
              <a:rPr lang="ko-KR" altLang="ko-KR" sz="1200" dirty="0"/>
              <a:t> 따라 </a:t>
            </a:r>
            <a:r>
              <a:rPr lang="ko-KR" altLang="ko-KR" sz="1200" dirty="0" err="1"/>
              <a:t>사봄</a:t>
            </a:r>
            <a:r>
              <a:rPr lang="ko-KR" altLang="ko-KR" sz="1200" dirty="0"/>
              <a:t> → </a:t>
            </a:r>
            <a:r>
              <a:rPr lang="ko-KR" altLang="ko-KR" sz="1200" dirty="0" err="1"/>
              <a:t>나한텐</a:t>
            </a:r>
            <a:r>
              <a:rPr lang="ko-KR" altLang="ko-KR" sz="1200" dirty="0"/>
              <a:t> 안 어울려 옷장에 방치</a:t>
            </a:r>
          </a:p>
          <a:p>
            <a:pPr marL="0" indent="0">
              <a:buNone/>
            </a:pPr>
            <a:r>
              <a:rPr lang="ko-KR" altLang="ko-KR" sz="1200" dirty="0"/>
              <a:t>· 지인 조언 </a:t>
            </a:r>
            <a:r>
              <a:rPr lang="ko-KR" altLang="ko-KR" sz="1200" dirty="0" err="1"/>
              <a:t>들어봄</a:t>
            </a:r>
            <a:r>
              <a:rPr lang="ko-KR" altLang="ko-KR" sz="1200" dirty="0"/>
              <a:t> → </a:t>
            </a:r>
            <a:r>
              <a:rPr lang="ko-KR" altLang="ko-KR" sz="1200" dirty="0" err="1"/>
              <a:t>제각각이라</a:t>
            </a:r>
            <a:r>
              <a:rPr lang="ko-KR" altLang="ko-KR" sz="1200" dirty="0"/>
              <a:t> 기준이 안 섬</a:t>
            </a:r>
          </a:p>
          <a:p>
            <a:pPr marL="0" indent="0">
              <a:buNone/>
            </a:pPr>
            <a:r>
              <a:rPr lang="ko-KR" altLang="ko-KR" sz="1200" dirty="0"/>
              <a:t>· 결국 무난한 무채색으로 도망 → 신뢰는 주지만 </a:t>
            </a:r>
            <a:r>
              <a:rPr lang="ko-KR" altLang="ko-KR" sz="1200" dirty="0" err="1"/>
              <a:t>존재감·기억에</a:t>
            </a:r>
            <a:r>
              <a:rPr lang="ko-KR" altLang="ko-KR" sz="1200" dirty="0"/>
              <a:t> 안 남음</a:t>
            </a:r>
          </a:p>
          <a:p>
            <a:pPr marL="0" indent="0">
              <a:buNone/>
            </a:pPr>
            <a:endParaRPr lang="ko-KR" altLang="ko-KR" sz="1200" dirty="0"/>
          </a:p>
          <a:p>
            <a:pPr marL="0" indent="0">
              <a:buNone/>
            </a:pPr>
            <a:r>
              <a:rPr lang="ko-KR" altLang="ko-KR" sz="1200" dirty="0"/>
              <a:t>이 사람이 할 법한 한 줄</a:t>
            </a:r>
          </a:p>
          <a:p>
            <a:pPr marL="0" indent="0">
              <a:buNone/>
            </a:pPr>
            <a:r>
              <a:rPr lang="ko-KR" altLang="ko-KR" sz="1200" dirty="0"/>
              <a:t>"대표라 이미지가 곧 신뢰인데… 유튜브 보고 샀더니 안 </a:t>
            </a:r>
            <a:r>
              <a:rPr lang="ko-KR" altLang="ko-KR" sz="1200" dirty="0" err="1"/>
              <a:t>어울린대요</a:t>
            </a:r>
            <a:r>
              <a:rPr lang="ko-KR" altLang="ko-KR" sz="1200" dirty="0"/>
              <a:t>."</a:t>
            </a:r>
          </a:p>
          <a:p>
            <a:pPr marL="0" indent="0">
              <a:buNone/>
            </a:pPr>
            <a:r>
              <a:rPr lang="ko-KR" altLang="ko-KR" sz="1200" i="1" dirty="0" err="1"/>
              <a:t>나한테</a:t>
            </a:r>
            <a:r>
              <a:rPr lang="ko-KR" altLang="ko-KR" sz="1200" i="1" dirty="0"/>
              <a:t> 맞을지 모르겠어요.“</a:t>
            </a:r>
            <a:br>
              <a:rPr lang="en-US" altLang="ko-KR" sz="1100" i="1" dirty="0"/>
            </a:br>
            <a:br>
              <a:rPr lang="en-US" altLang="ko-KR" sz="1100" i="1" dirty="0"/>
            </a:br>
            <a:endParaRPr lang="ko-KR" altLang="ko-KR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TextBox 126">
            <a:extLst>
              <a:ext uri="{FF2B5EF4-FFF2-40B4-BE49-F238E27FC236}">
                <a16:creationId xmlns:a16="http://schemas.microsoft.com/office/drawing/2014/main" id="{1596A675-0CE3-F348-4929-68DAB6A46BC9}"/>
              </a:ext>
            </a:extLst>
          </p:cNvPr>
          <p:cNvSpPr txBox="1"/>
          <p:nvPr/>
        </p:nvSpPr>
        <p:spPr>
          <a:xfrm>
            <a:off x="457200" y="292608"/>
            <a:ext cx="54864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8B908B"/>
                </a:solidFill>
                <a:latin typeface="맑은 고딕"/>
              </a:rPr>
              <a:t>USER JOURNEY MAP · AS-IS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A003691A-9829-3F04-3C7B-34E2E197F524}"/>
              </a:ext>
            </a:extLst>
          </p:cNvPr>
          <p:cNvSpPr txBox="1"/>
          <p:nvPr/>
        </p:nvSpPr>
        <p:spPr>
          <a:xfrm>
            <a:off x="457200" y="475488"/>
            <a:ext cx="960120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300" b="1" i="0">
                <a:solidFill>
                  <a:srgbClr val="1A1D1B"/>
                </a:solidFill>
                <a:latin typeface="맑은 고딕"/>
              </a:rPr>
              <a:t>같은 좌절, 다른 최저점 — 그래서 해법도 둘이다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6923C633-DFBA-0158-A653-40DAB01CB9DD}"/>
              </a:ext>
            </a:extLst>
          </p:cNvPr>
          <p:cNvSpPr txBox="1"/>
          <p:nvPr/>
        </p:nvSpPr>
        <p:spPr>
          <a:xfrm>
            <a:off x="457200" y="896112"/>
            <a:ext cx="1124712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 i="0">
                <a:solidFill>
                  <a:srgbClr val="5B615D"/>
                </a:solidFill>
                <a:latin typeface="맑은 고딕"/>
              </a:rPr>
              <a:t>사이즈는 ‘사이즈를 정하는 순간’, 스타일은 ‘입고 반응을 듣는 순간’ 무너진다. 성질이 다른 두 페인이라 푸는 방법도 달라야 한다.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9C0C9BFD-3AEC-C98A-BEB2-1FDBA6607C0E}"/>
              </a:ext>
            </a:extLst>
          </p:cNvPr>
          <p:cNvSpPr txBox="1"/>
          <p:nvPr/>
        </p:nvSpPr>
        <p:spPr>
          <a:xfrm>
            <a:off x="457200" y="1207008"/>
            <a:ext cx="384048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3E6B52"/>
                </a:solidFill>
                <a:latin typeface="맑은 고딕"/>
              </a:rPr>
              <a:t>A</a:t>
            </a: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0EDF610D-A248-4221-FD06-E07541CDC743}"/>
              </a:ext>
            </a:extLst>
          </p:cNvPr>
          <p:cNvSpPr txBox="1"/>
          <p:nvPr/>
        </p:nvSpPr>
        <p:spPr>
          <a:xfrm>
            <a:off x="841247" y="1207008"/>
            <a:ext cx="475488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1" i="0">
                <a:solidFill>
                  <a:srgbClr val="1A1D1B"/>
                </a:solidFill>
                <a:latin typeface="맑은 고딕"/>
              </a:rPr>
              <a:t>김민석 · 32세 · 남  |  사이즈 고민</a:t>
            </a: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23D9AD74-2E42-893A-DA3D-7FDFA0BEF1D8}"/>
              </a:ext>
            </a:extLst>
          </p:cNvPr>
          <p:cNvSpPr txBox="1"/>
          <p:nvPr/>
        </p:nvSpPr>
        <p:spPr>
          <a:xfrm>
            <a:off x="4389120" y="1216152"/>
            <a:ext cx="45720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8B908B"/>
                </a:solidFill>
                <a:latin typeface="맑은 고딕"/>
              </a:rPr>
              <a:t>시나리오 · 결혼식 하객룩 구매 (최근 체중 증가)</a:t>
            </a:r>
          </a:p>
        </p:txBody>
      </p:sp>
      <p:graphicFrame>
        <p:nvGraphicFramePr>
          <p:cNvPr id="133" name="Table 7">
            <a:extLst>
              <a:ext uri="{FF2B5EF4-FFF2-40B4-BE49-F238E27FC236}">
                <a16:creationId xmlns:a16="http://schemas.microsoft.com/office/drawing/2014/main" id="{1505A10D-B0D6-72ED-9392-983367D272DB}"/>
              </a:ext>
            </a:extLst>
          </p:cNvPr>
          <p:cNvGraphicFramePr>
            <a:graphicFrameLocks noGrp="1"/>
          </p:cNvGraphicFramePr>
          <p:nvPr/>
        </p:nvGraphicFramePr>
        <p:xfrm>
          <a:off x="457200" y="1481328"/>
          <a:ext cx="11277294" cy="20939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35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789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789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789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789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7896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7896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endParaRPr/>
                    </a:p>
                  </a:txBody>
                  <a:tcPr marL="54864" marR="54864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E4A3B"/>
                          </a:solidFill>
                          <a:latin typeface="맑은 고딕"/>
                        </a:rPr>
                        <a:t>1. 초대·계기</a:t>
                      </a:r>
                    </a:p>
                  </a:txBody>
                  <a:tcPr marL="64008">
                    <a:solidFill>
                      <a:srgbClr val="EAF1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E4A3B"/>
                          </a:solidFill>
                          <a:latin typeface="맑은 고딕"/>
                        </a:rPr>
                        <a:t>2. 탐색</a:t>
                      </a:r>
                    </a:p>
                  </a:txBody>
                  <a:tcPr marL="64008">
                    <a:solidFill>
                      <a:srgbClr val="EAF1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B5654A"/>
                          </a:solidFill>
                          <a:latin typeface="맑은 고딕"/>
                        </a:rPr>
                        <a:t>3. 사이즈 결정 ★</a:t>
                      </a:r>
                    </a:p>
                  </a:txBody>
                  <a:tcPr marL="64008">
                    <a:solidFill>
                      <a:srgbClr val="FBEF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E4A3B"/>
                          </a:solidFill>
                          <a:latin typeface="맑은 고딕"/>
                        </a:rPr>
                        <a:t>4. 주문</a:t>
                      </a:r>
                    </a:p>
                  </a:txBody>
                  <a:tcPr marL="64008">
                    <a:solidFill>
                      <a:srgbClr val="EAF1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E4A3B"/>
                          </a:solidFill>
                          <a:latin typeface="맑은 고딕"/>
                        </a:rPr>
                        <a:t>5. 수령·착용</a:t>
                      </a:r>
                    </a:p>
                  </a:txBody>
                  <a:tcPr marL="64008">
                    <a:solidFill>
                      <a:srgbClr val="EAF1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E4A3B"/>
                          </a:solidFill>
                          <a:latin typeface="맑은 고딕"/>
                        </a:rPr>
                        <a:t>6. 결과</a:t>
                      </a:r>
                    </a:p>
                  </a:txBody>
                  <a:tcPr marL="64008">
                    <a:solidFill>
                      <a:srgbClr val="EAF1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8B908B"/>
                          </a:solidFill>
                          <a:latin typeface="맑은 고딕"/>
                        </a:rPr>
                        <a:t>행동</a:t>
                      </a:r>
                    </a:p>
                  </a:txBody>
                  <a:tcPr marL="54864" marR="54864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5B615D"/>
                          </a:solidFill>
                          <a:latin typeface="맑은 고딕"/>
                        </a:rPr>
                        <a:t>청첩장 받음</a:t>
                      </a:r>
                    </a:p>
                    <a:p>
                      <a:r>
                        <a:rPr sz="900" b="0">
                          <a:solidFill>
                            <a:srgbClr val="5B615D"/>
                          </a:solidFill>
                          <a:latin typeface="맑은 고딕"/>
                        </a:rPr>
                        <a:t>옷장 확인</a:t>
                      </a:r>
                    </a:p>
                  </a:txBody>
                  <a:tcPr marL="54864" marR="54864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5B615D"/>
                          </a:solidFill>
                          <a:latin typeface="맑은 고딕"/>
                        </a:rPr>
                        <a:t>온라인몰에서</a:t>
                      </a:r>
                    </a:p>
                    <a:p>
                      <a:r>
                        <a:rPr sz="900" b="0">
                          <a:solidFill>
                            <a:srgbClr val="5B615D"/>
                          </a:solidFill>
                          <a:latin typeface="맑은 고딕"/>
                        </a:rPr>
                        <a:t>하객룩 검색</a:t>
                      </a:r>
                    </a:p>
                  </a:txBody>
                  <a:tcPr marL="54864" marR="54864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B5654A"/>
                          </a:solidFill>
                          <a:latin typeface="맑은 고딕"/>
                        </a:rPr>
                        <a:t>사이즈표·추천</a:t>
                      </a:r>
                    </a:p>
                    <a:p>
                      <a:r>
                        <a:rPr sz="900" b="1">
                          <a:solidFill>
                            <a:srgbClr val="B5654A"/>
                          </a:solidFill>
                          <a:latin typeface="맑은 고딕"/>
                        </a:rPr>
                        <a:t>·리뷰·구매이력 확인</a:t>
                      </a:r>
                    </a:p>
                  </a:txBody>
                  <a:tcPr marL="54864" marR="54864" marT="32004" marB="32004">
                    <a:solidFill>
                      <a:srgbClr val="FBEF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5B615D"/>
                          </a:solidFill>
                          <a:latin typeface="맑은 고딕"/>
                        </a:rPr>
                        <a:t>확신 없이</a:t>
                      </a:r>
                    </a:p>
                    <a:p>
                      <a:r>
                        <a:rPr sz="900" b="0">
                          <a:solidFill>
                            <a:srgbClr val="5B615D"/>
                          </a:solidFill>
                          <a:latin typeface="맑은 고딕"/>
                        </a:rPr>
                        <a:t>한 치수 크게</a:t>
                      </a:r>
                    </a:p>
                  </a:txBody>
                  <a:tcPr marL="54864" marR="54864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5B615D"/>
                          </a:solidFill>
                          <a:latin typeface="맑은 고딕"/>
                        </a:rPr>
                        <a:t>배송 받고</a:t>
                      </a:r>
                    </a:p>
                    <a:p>
                      <a:r>
                        <a:rPr sz="900" b="0">
                          <a:solidFill>
                            <a:srgbClr val="5B615D"/>
                          </a:solidFill>
                          <a:latin typeface="맑은 고딕"/>
                        </a:rPr>
                        <a:t>입어봄</a:t>
                      </a:r>
                    </a:p>
                  </a:txBody>
                  <a:tcPr marL="54864" marR="54864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5B615D"/>
                          </a:solidFill>
                          <a:latin typeface="맑은 고딕"/>
                        </a:rPr>
                        <a:t>반품 신청</a:t>
                      </a:r>
                    </a:p>
                    <a:p>
                      <a:r>
                        <a:rPr sz="900" b="0">
                          <a:solidFill>
                            <a:srgbClr val="5B615D"/>
                          </a:solidFill>
                          <a:latin typeface="맑은 고딕"/>
                        </a:rPr>
                        <a:t>/ 그냥 입고 감</a:t>
                      </a:r>
                    </a:p>
                  </a:txBody>
                  <a:tcPr marL="54864" marR="54864" marT="32004" marB="32004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8B908B"/>
                          </a:solidFill>
                          <a:latin typeface="맑은 고딕"/>
                        </a:rPr>
                        <a:t>감정</a:t>
                      </a:r>
                    </a:p>
                  </a:txBody>
                  <a:tcPr marL="54864" marR="54864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54864" marR="54864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54864" marR="54864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54864" marR="54864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54864" marR="54864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54864" marR="54864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54864" marR="54864" marT="32004" marB="32004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8B908B"/>
                          </a:solidFill>
                          <a:latin typeface="맑은 고딕"/>
                        </a:rPr>
                        <a:t>페인포인트</a:t>
                      </a:r>
                    </a:p>
                  </a:txBody>
                  <a:tcPr marL="54864" marR="54864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5B615D"/>
                          </a:solidFill>
                          <a:latin typeface="맑은 고딕"/>
                        </a:rPr>
                        <a:t>예전 옷이</a:t>
                      </a:r>
                    </a:p>
                    <a:p>
                      <a:r>
                        <a:rPr sz="900" b="0">
                          <a:solidFill>
                            <a:srgbClr val="5B615D"/>
                          </a:solidFill>
                          <a:latin typeface="맑은 고딕"/>
                        </a:rPr>
                        <a:t>안 맞을 예감</a:t>
                      </a:r>
                    </a:p>
                  </a:txBody>
                  <a:tcPr marL="54864" marR="54864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5B615D"/>
                          </a:solidFill>
                          <a:latin typeface="맑은 고딕"/>
                        </a:rPr>
                        <a:t>옷은 정했는데</a:t>
                      </a:r>
                    </a:p>
                    <a:p>
                      <a:r>
                        <a:rPr sz="900" b="0">
                          <a:solidFill>
                            <a:srgbClr val="5B615D"/>
                          </a:solidFill>
                          <a:latin typeface="맑은 고딕"/>
                        </a:rPr>
                        <a:t>사이즈부터 막힘</a:t>
                      </a:r>
                    </a:p>
                  </a:txBody>
                  <a:tcPr marL="54864" marR="54864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B5654A"/>
                          </a:solidFill>
                          <a:latin typeface="맑은 고딕"/>
                        </a:rPr>
                        <a:t>★ 어떤 기준도 ‘지금의 나’를</a:t>
                      </a:r>
                    </a:p>
                    <a:p>
                      <a:r>
                        <a:rPr sz="900" b="1">
                          <a:solidFill>
                            <a:srgbClr val="B5654A"/>
                          </a:solidFill>
                          <a:latin typeface="맑은 고딕"/>
                        </a:rPr>
                        <a:t>설명 못 함</a:t>
                      </a:r>
                    </a:p>
                  </a:txBody>
                  <a:tcPr marL="54864" marR="54864" marT="32004" marB="32004">
                    <a:solidFill>
                      <a:srgbClr val="FBEF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5B615D"/>
                          </a:solidFill>
                          <a:latin typeface="맑은 고딕"/>
                        </a:rPr>
                        <a:t>반품 전제의</a:t>
                      </a:r>
                    </a:p>
                    <a:p>
                      <a:r>
                        <a:rPr sz="900" b="0">
                          <a:solidFill>
                            <a:srgbClr val="5B615D"/>
                          </a:solidFill>
                          <a:latin typeface="맑은 고딕"/>
                        </a:rPr>
                        <a:t>확신 없는 결제</a:t>
                      </a:r>
                    </a:p>
                  </a:txBody>
                  <a:tcPr marL="54864" marR="54864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5B615D"/>
                          </a:solidFill>
                          <a:latin typeface="맑은 고딕"/>
                        </a:rPr>
                        <a:t>부위별로 안 맞음</a:t>
                      </a:r>
                    </a:p>
                    <a:p>
                      <a:r>
                        <a:rPr sz="900" b="0">
                          <a:solidFill>
                            <a:srgbClr val="5B615D"/>
                          </a:solidFill>
                          <a:latin typeface="맑은 고딕"/>
                        </a:rPr>
                        <a:t>(한 사이즈로 해결 X)</a:t>
                      </a:r>
                    </a:p>
                  </a:txBody>
                  <a:tcPr marL="54864" marR="54864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5B615D"/>
                          </a:solidFill>
                          <a:latin typeface="맑은 고딕"/>
                        </a:rPr>
                        <a:t>시간 압박 + 실패</a:t>
                      </a:r>
                    </a:p>
                    <a:p>
                      <a:r>
                        <a:rPr sz="900" b="0">
                          <a:solidFill>
                            <a:srgbClr val="5B615D"/>
                          </a:solidFill>
                          <a:latin typeface="맑은 고딕"/>
                        </a:rPr>
                        <a:t>→ 아는 브랜드만</a:t>
                      </a:r>
                    </a:p>
                  </a:txBody>
                  <a:tcPr marL="54864" marR="54864" marT="32004" marB="32004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cxnSp>
        <p:nvCxnSpPr>
          <p:cNvPr id="134" name="Connector 8">
            <a:extLst>
              <a:ext uri="{FF2B5EF4-FFF2-40B4-BE49-F238E27FC236}">
                <a16:creationId xmlns:a16="http://schemas.microsoft.com/office/drawing/2014/main" id="{9F1A41FE-D42B-5972-A0B2-94B20A5D7BC8}"/>
              </a:ext>
            </a:extLst>
          </p:cNvPr>
          <p:cNvCxnSpPr/>
          <p:nvPr/>
        </p:nvCxnSpPr>
        <p:spPr>
          <a:xfrm>
            <a:off x="1060704" y="2715768"/>
            <a:ext cx="10673791" cy="0"/>
          </a:xfrm>
          <a:prstGeom prst="line">
            <a:avLst/>
          </a:prstGeom>
          <a:ln w="9525">
            <a:solidFill>
              <a:srgbClr val="E1E5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9">
            <a:extLst>
              <a:ext uri="{FF2B5EF4-FFF2-40B4-BE49-F238E27FC236}">
                <a16:creationId xmlns:a16="http://schemas.microsoft.com/office/drawing/2014/main" id="{1E43F547-FD32-DEFB-5CC5-B9E3E557B826}"/>
              </a:ext>
            </a:extLst>
          </p:cNvPr>
          <p:cNvCxnSpPr/>
          <p:nvPr/>
        </p:nvCxnSpPr>
        <p:spPr>
          <a:xfrm>
            <a:off x="1950186" y="2628900"/>
            <a:ext cx="1778965" cy="86868"/>
          </a:xfrm>
          <a:prstGeom prst="line">
            <a:avLst/>
          </a:prstGeom>
          <a:ln w="25400">
            <a:solidFill>
              <a:srgbClr val="3E6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0">
            <a:extLst>
              <a:ext uri="{FF2B5EF4-FFF2-40B4-BE49-F238E27FC236}">
                <a16:creationId xmlns:a16="http://schemas.microsoft.com/office/drawing/2014/main" id="{9AA8BF0D-2AAE-2C53-9DA6-2919B1F1C843}"/>
              </a:ext>
            </a:extLst>
          </p:cNvPr>
          <p:cNvCxnSpPr/>
          <p:nvPr/>
        </p:nvCxnSpPr>
        <p:spPr>
          <a:xfrm>
            <a:off x="3729151" y="2715768"/>
            <a:ext cx="1778966" cy="173736"/>
          </a:xfrm>
          <a:prstGeom prst="line">
            <a:avLst/>
          </a:prstGeom>
          <a:ln w="25400">
            <a:solidFill>
              <a:srgbClr val="3E6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1">
            <a:extLst>
              <a:ext uri="{FF2B5EF4-FFF2-40B4-BE49-F238E27FC236}">
                <a16:creationId xmlns:a16="http://schemas.microsoft.com/office/drawing/2014/main" id="{CE0A5F4E-CFDD-648E-C937-98674D8E6A4D}"/>
              </a:ext>
            </a:extLst>
          </p:cNvPr>
          <p:cNvCxnSpPr/>
          <p:nvPr/>
        </p:nvCxnSpPr>
        <p:spPr>
          <a:xfrm flipV="1">
            <a:off x="5508117" y="2802636"/>
            <a:ext cx="1778965" cy="86868"/>
          </a:xfrm>
          <a:prstGeom prst="line">
            <a:avLst/>
          </a:prstGeom>
          <a:ln w="25400">
            <a:solidFill>
              <a:srgbClr val="3E6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2">
            <a:extLst>
              <a:ext uri="{FF2B5EF4-FFF2-40B4-BE49-F238E27FC236}">
                <a16:creationId xmlns:a16="http://schemas.microsoft.com/office/drawing/2014/main" id="{84802137-2216-BC15-2C70-ED9099492A1A}"/>
              </a:ext>
            </a:extLst>
          </p:cNvPr>
          <p:cNvCxnSpPr/>
          <p:nvPr/>
        </p:nvCxnSpPr>
        <p:spPr>
          <a:xfrm>
            <a:off x="7287082" y="2802636"/>
            <a:ext cx="1778965" cy="86868"/>
          </a:xfrm>
          <a:prstGeom prst="line">
            <a:avLst/>
          </a:prstGeom>
          <a:ln w="25400">
            <a:solidFill>
              <a:srgbClr val="3E6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">
            <a:extLst>
              <a:ext uri="{FF2B5EF4-FFF2-40B4-BE49-F238E27FC236}">
                <a16:creationId xmlns:a16="http://schemas.microsoft.com/office/drawing/2014/main" id="{57E42E4F-559D-B770-64D8-00133A1559C5}"/>
              </a:ext>
            </a:extLst>
          </p:cNvPr>
          <p:cNvCxnSpPr/>
          <p:nvPr/>
        </p:nvCxnSpPr>
        <p:spPr>
          <a:xfrm>
            <a:off x="9066047" y="2889504"/>
            <a:ext cx="1778965" cy="0"/>
          </a:xfrm>
          <a:prstGeom prst="line">
            <a:avLst/>
          </a:prstGeom>
          <a:ln w="25400">
            <a:solidFill>
              <a:srgbClr val="3E6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0" name="Oval 14">
            <a:extLst>
              <a:ext uri="{FF2B5EF4-FFF2-40B4-BE49-F238E27FC236}">
                <a16:creationId xmlns:a16="http://schemas.microsoft.com/office/drawing/2014/main" id="{311DC081-BD05-FF34-43E7-0BF87C4E2FFA}"/>
              </a:ext>
            </a:extLst>
          </p:cNvPr>
          <p:cNvSpPr/>
          <p:nvPr/>
        </p:nvSpPr>
        <p:spPr>
          <a:xfrm>
            <a:off x="1895322" y="2574036"/>
            <a:ext cx="109728" cy="10972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E6B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E329E069-9E54-9AA6-5917-D6881F699C54}"/>
              </a:ext>
            </a:extLst>
          </p:cNvPr>
          <p:cNvSpPr txBox="1"/>
          <p:nvPr/>
        </p:nvSpPr>
        <p:spPr>
          <a:xfrm>
            <a:off x="1492986" y="2354580"/>
            <a:ext cx="9144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1" i="0">
                <a:solidFill>
                  <a:srgbClr val="5B615D"/>
                </a:solidFill>
                <a:latin typeface="맑은 고딕"/>
              </a:rPr>
              <a:t>+1</a:t>
            </a:r>
          </a:p>
        </p:txBody>
      </p:sp>
      <p:sp>
        <p:nvSpPr>
          <p:cNvPr id="142" name="Oval 16">
            <a:extLst>
              <a:ext uri="{FF2B5EF4-FFF2-40B4-BE49-F238E27FC236}">
                <a16:creationId xmlns:a16="http://schemas.microsoft.com/office/drawing/2014/main" id="{2E428380-3432-3B11-739E-A160D909D02A}"/>
              </a:ext>
            </a:extLst>
          </p:cNvPr>
          <p:cNvSpPr/>
          <p:nvPr/>
        </p:nvSpPr>
        <p:spPr>
          <a:xfrm>
            <a:off x="3674287" y="2660904"/>
            <a:ext cx="109728" cy="10972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E6B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C1209BE9-56E3-3F03-3CE1-BAD3E0C4B4A7}"/>
              </a:ext>
            </a:extLst>
          </p:cNvPr>
          <p:cNvSpPr txBox="1"/>
          <p:nvPr/>
        </p:nvSpPr>
        <p:spPr>
          <a:xfrm>
            <a:off x="3271951" y="2441448"/>
            <a:ext cx="9144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1" i="0">
                <a:solidFill>
                  <a:srgbClr val="5B615D"/>
                </a:solidFill>
                <a:latin typeface="맑은 고딕"/>
              </a:rPr>
              <a:t>0</a:t>
            </a:r>
          </a:p>
        </p:txBody>
      </p:sp>
      <p:sp>
        <p:nvSpPr>
          <p:cNvPr id="144" name="Oval 18">
            <a:extLst>
              <a:ext uri="{FF2B5EF4-FFF2-40B4-BE49-F238E27FC236}">
                <a16:creationId xmlns:a16="http://schemas.microsoft.com/office/drawing/2014/main" id="{D6EAB7B3-E69D-8D9C-44ED-CCC1DC47ECC1}"/>
              </a:ext>
            </a:extLst>
          </p:cNvPr>
          <p:cNvSpPr/>
          <p:nvPr/>
        </p:nvSpPr>
        <p:spPr>
          <a:xfrm>
            <a:off x="5430393" y="2811780"/>
            <a:ext cx="155448" cy="155448"/>
          </a:xfrm>
          <a:prstGeom prst="ellipse">
            <a:avLst/>
          </a:prstGeom>
          <a:solidFill>
            <a:srgbClr val="B5654A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182E6735-5C41-03D3-BB4B-009A8A173EF2}"/>
              </a:ext>
            </a:extLst>
          </p:cNvPr>
          <p:cNvSpPr txBox="1"/>
          <p:nvPr/>
        </p:nvSpPr>
        <p:spPr>
          <a:xfrm>
            <a:off x="5050917" y="2615184"/>
            <a:ext cx="9144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1" i="0">
                <a:solidFill>
                  <a:srgbClr val="B5654A"/>
                </a:solidFill>
                <a:latin typeface="맑은 고딕"/>
              </a:rPr>
              <a:t>−2 최저</a:t>
            </a:r>
          </a:p>
        </p:txBody>
      </p:sp>
      <p:sp>
        <p:nvSpPr>
          <p:cNvPr id="146" name="Oval 20">
            <a:extLst>
              <a:ext uri="{FF2B5EF4-FFF2-40B4-BE49-F238E27FC236}">
                <a16:creationId xmlns:a16="http://schemas.microsoft.com/office/drawing/2014/main" id="{4764740E-75B0-2A25-7375-C777C71ABC2E}"/>
              </a:ext>
            </a:extLst>
          </p:cNvPr>
          <p:cNvSpPr/>
          <p:nvPr/>
        </p:nvSpPr>
        <p:spPr>
          <a:xfrm>
            <a:off x="7232218" y="2747772"/>
            <a:ext cx="109728" cy="10972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E6B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60B6840C-8A1F-EB05-F0E4-A6F6E3556E28}"/>
              </a:ext>
            </a:extLst>
          </p:cNvPr>
          <p:cNvSpPr txBox="1"/>
          <p:nvPr/>
        </p:nvSpPr>
        <p:spPr>
          <a:xfrm>
            <a:off x="6829882" y="2528316"/>
            <a:ext cx="9144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1" i="0">
                <a:solidFill>
                  <a:srgbClr val="5B615D"/>
                </a:solidFill>
                <a:latin typeface="맑은 고딕"/>
              </a:rPr>
              <a:t>−1</a:t>
            </a:r>
          </a:p>
        </p:txBody>
      </p:sp>
      <p:sp>
        <p:nvSpPr>
          <p:cNvPr id="148" name="Oval 22">
            <a:extLst>
              <a:ext uri="{FF2B5EF4-FFF2-40B4-BE49-F238E27FC236}">
                <a16:creationId xmlns:a16="http://schemas.microsoft.com/office/drawing/2014/main" id="{82225053-E436-BFB6-6DFD-83CBCFE450D6}"/>
              </a:ext>
            </a:extLst>
          </p:cNvPr>
          <p:cNvSpPr/>
          <p:nvPr/>
        </p:nvSpPr>
        <p:spPr>
          <a:xfrm>
            <a:off x="9011183" y="2834640"/>
            <a:ext cx="109728" cy="10972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E6B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A7A5CF2D-0F10-7922-1C19-885D2B135B1E}"/>
              </a:ext>
            </a:extLst>
          </p:cNvPr>
          <p:cNvSpPr txBox="1"/>
          <p:nvPr/>
        </p:nvSpPr>
        <p:spPr>
          <a:xfrm>
            <a:off x="8608847" y="2615184"/>
            <a:ext cx="9144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1" i="0">
                <a:solidFill>
                  <a:srgbClr val="5B615D"/>
                </a:solidFill>
                <a:latin typeface="맑은 고딕"/>
              </a:rPr>
              <a:t>−2</a:t>
            </a:r>
          </a:p>
        </p:txBody>
      </p:sp>
      <p:sp>
        <p:nvSpPr>
          <p:cNvPr id="150" name="Oval 24">
            <a:extLst>
              <a:ext uri="{FF2B5EF4-FFF2-40B4-BE49-F238E27FC236}">
                <a16:creationId xmlns:a16="http://schemas.microsoft.com/office/drawing/2014/main" id="{0763BD0C-E574-AAF8-C8DE-180997778AF6}"/>
              </a:ext>
            </a:extLst>
          </p:cNvPr>
          <p:cNvSpPr/>
          <p:nvPr/>
        </p:nvSpPr>
        <p:spPr>
          <a:xfrm>
            <a:off x="10790148" y="2834640"/>
            <a:ext cx="109728" cy="10972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E6B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54F9220E-F43B-6BA9-C4BC-96E31CF47036}"/>
              </a:ext>
            </a:extLst>
          </p:cNvPr>
          <p:cNvSpPr txBox="1"/>
          <p:nvPr/>
        </p:nvSpPr>
        <p:spPr>
          <a:xfrm>
            <a:off x="10387812" y="2615184"/>
            <a:ext cx="9144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1" i="0">
                <a:solidFill>
                  <a:srgbClr val="5B615D"/>
                </a:solidFill>
                <a:latin typeface="맑은 고딕"/>
              </a:rPr>
              <a:t>−2</a:t>
            </a: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9AB427C1-5E95-5F88-90BA-99F0F9ACA8DC}"/>
              </a:ext>
            </a:extLst>
          </p:cNvPr>
          <p:cNvSpPr txBox="1"/>
          <p:nvPr/>
        </p:nvSpPr>
        <p:spPr>
          <a:xfrm>
            <a:off x="457200" y="3767328"/>
            <a:ext cx="384048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B5654A"/>
                </a:solidFill>
                <a:latin typeface="맑은 고딕"/>
              </a:rPr>
              <a:t>B</a:t>
            </a: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4E5B3538-13E4-876F-1D39-9D435B0F5346}"/>
              </a:ext>
            </a:extLst>
          </p:cNvPr>
          <p:cNvSpPr txBox="1"/>
          <p:nvPr/>
        </p:nvSpPr>
        <p:spPr>
          <a:xfrm>
            <a:off x="841247" y="3767328"/>
            <a:ext cx="475488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1" i="0">
                <a:solidFill>
                  <a:srgbClr val="1A1D1B"/>
                </a:solidFill>
                <a:latin typeface="맑은 고딕"/>
              </a:rPr>
              <a:t>한예린 · 34세 · 여  |  스타일 고민</a:t>
            </a: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A3B4C179-06C7-5A43-D2C3-94FA39C7B44A}"/>
              </a:ext>
            </a:extLst>
          </p:cNvPr>
          <p:cNvSpPr txBox="1"/>
          <p:nvPr/>
        </p:nvSpPr>
        <p:spPr>
          <a:xfrm>
            <a:off x="4389120" y="3776472"/>
            <a:ext cx="45720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8B908B"/>
                </a:solidFill>
                <a:latin typeface="맑은 고딕"/>
              </a:rPr>
              <a:t>시나리오 · 거래처 미팅 옷 구매 (1인 대표)</a:t>
            </a:r>
          </a:p>
        </p:txBody>
      </p:sp>
      <p:graphicFrame>
        <p:nvGraphicFramePr>
          <p:cNvPr id="155" name="Table 29">
            <a:extLst>
              <a:ext uri="{FF2B5EF4-FFF2-40B4-BE49-F238E27FC236}">
                <a16:creationId xmlns:a16="http://schemas.microsoft.com/office/drawing/2014/main" id="{90226165-9E2E-6777-B93E-1E32348C12EE}"/>
              </a:ext>
            </a:extLst>
          </p:cNvPr>
          <p:cNvGraphicFramePr>
            <a:graphicFrameLocks noGrp="1"/>
          </p:cNvGraphicFramePr>
          <p:nvPr/>
        </p:nvGraphicFramePr>
        <p:xfrm>
          <a:off x="457200" y="4041648"/>
          <a:ext cx="11277294" cy="20939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35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47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347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347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3475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3475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endParaRPr/>
                    </a:p>
                  </a:txBody>
                  <a:tcPr marL="54864" marR="54864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E4A3B"/>
                          </a:solidFill>
                          <a:latin typeface="맑은 고딕"/>
                        </a:rPr>
                        <a:t>1. 계기</a:t>
                      </a:r>
                    </a:p>
                  </a:txBody>
                  <a:tcPr marL="64008">
                    <a:solidFill>
                      <a:srgbClr val="EAF1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E4A3B"/>
                          </a:solidFill>
                          <a:latin typeface="맑은 고딕"/>
                        </a:rPr>
                        <a:t>2. 탐색</a:t>
                      </a:r>
                    </a:p>
                  </a:txBody>
                  <a:tcPr marL="64008">
                    <a:solidFill>
                      <a:srgbClr val="EAF1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E4A3B"/>
                          </a:solidFill>
                          <a:latin typeface="맑은 고딕"/>
                        </a:rPr>
                        <a:t>3. 구매</a:t>
                      </a:r>
                    </a:p>
                  </a:txBody>
                  <a:tcPr marL="64008">
                    <a:solidFill>
                      <a:srgbClr val="EAF1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B5654A"/>
                          </a:solidFill>
                          <a:latin typeface="맑은 고딕"/>
                        </a:rPr>
                        <a:t>4. 착용·반응 ★</a:t>
                      </a:r>
                    </a:p>
                  </a:txBody>
                  <a:tcPr marL="64008">
                    <a:solidFill>
                      <a:srgbClr val="FBEF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E4A3B"/>
                          </a:solidFill>
                          <a:latin typeface="맑은 고딕"/>
                        </a:rPr>
                        <a:t>5. 결과</a:t>
                      </a:r>
                    </a:p>
                  </a:txBody>
                  <a:tcPr marL="64008">
                    <a:solidFill>
                      <a:srgbClr val="EAF1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8B908B"/>
                          </a:solidFill>
                          <a:latin typeface="맑은 고딕"/>
                        </a:rPr>
                        <a:t>행동</a:t>
                      </a:r>
                    </a:p>
                  </a:txBody>
                  <a:tcPr marL="54864" marR="54864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5B615D"/>
                          </a:solidFill>
                          <a:latin typeface="맑은 고딕"/>
                        </a:rPr>
                        <a:t>중요 미팅 잡힘</a:t>
                      </a:r>
                    </a:p>
                    <a:p>
                      <a:r>
                        <a:rPr sz="900" b="0">
                          <a:solidFill>
                            <a:srgbClr val="5B615D"/>
                          </a:solidFill>
                          <a:latin typeface="맑은 고딕"/>
                        </a:rPr>
                        <a:t>“뭘 입지?”</a:t>
                      </a:r>
                    </a:p>
                  </a:txBody>
                  <a:tcPr marL="54864" marR="54864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5B615D"/>
                          </a:solidFill>
                          <a:latin typeface="맑은 고딕"/>
                        </a:rPr>
                        <a:t>유튜브·인스타</a:t>
                      </a:r>
                    </a:p>
                    <a:p>
                      <a:r>
                        <a:rPr sz="900" b="0">
                          <a:solidFill>
                            <a:srgbClr val="5B615D"/>
                          </a:solidFill>
                          <a:latin typeface="맑은 고딕"/>
                        </a:rPr>
                        <a:t>룩북 참고</a:t>
                      </a:r>
                    </a:p>
                  </a:txBody>
                  <a:tcPr marL="54864" marR="54864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5B615D"/>
                          </a:solidFill>
                          <a:latin typeface="맑은 고딕"/>
                        </a:rPr>
                        <a:t>룩북 따라</a:t>
                      </a:r>
                    </a:p>
                    <a:p>
                      <a:r>
                        <a:rPr sz="900" b="0">
                          <a:solidFill>
                            <a:srgbClr val="5B615D"/>
                          </a:solidFill>
                          <a:latin typeface="맑은 고딕"/>
                        </a:rPr>
                        <a:t>비슷한 옷 구매</a:t>
                      </a:r>
                    </a:p>
                  </a:txBody>
                  <a:tcPr marL="54864" marR="54864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B5654A"/>
                          </a:solidFill>
                          <a:latin typeface="맑은 고딕"/>
                        </a:rPr>
                        <a:t>미팅에 입고 감</a:t>
                      </a:r>
                    </a:p>
                    <a:p>
                      <a:r>
                        <a:rPr sz="900" b="1">
                          <a:solidFill>
                            <a:srgbClr val="B5654A"/>
                          </a:solidFill>
                          <a:latin typeface="맑은 고딕"/>
                        </a:rPr>
                        <a:t>→ 주변 반응</a:t>
                      </a:r>
                    </a:p>
                  </a:txBody>
                  <a:tcPr marL="54864" marR="54864" marT="32004" marB="32004">
                    <a:solidFill>
                      <a:srgbClr val="FBEF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5B615D"/>
                          </a:solidFill>
                          <a:latin typeface="맑은 고딕"/>
                        </a:rPr>
                        <a:t>옷장에 방치</a:t>
                      </a:r>
                    </a:p>
                    <a:p>
                      <a:r>
                        <a:rPr sz="900" b="0">
                          <a:solidFill>
                            <a:srgbClr val="5B615D"/>
                          </a:solidFill>
                          <a:latin typeface="맑은 고딕"/>
                        </a:rPr>
                        <a:t>무채색으로 회귀</a:t>
                      </a:r>
                    </a:p>
                  </a:txBody>
                  <a:tcPr marL="54864" marR="54864" marT="32004" marB="32004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8B908B"/>
                          </a:solidFill>
                          <a:latin typeface="맑은 고딕"/>
                        </a:rPr>
                        <a:t>감정</a:t>
                      </a:r>
                    </a:p>
                  </a:txBody>
                  <a:tcPr marL="54864" marR="54864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54864" marR="54864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54864" marR="54864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54864" marR="54864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54864" marR="54864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54864" marR="54864" marT="32004" marB="32004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8B908B"/>
                          </a:solidFill>
                          <a:latin typeface="맑은 고딕"/>
                        </a:rPr>
                        <a:t>페인포인트</a:t>
                      </a:r>
                    </a:p>
                  </a:txBody>
                  <a:tcPr marL="54864" marR="54864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5B615D"/>
                          </a:solidFill>
                          <a:latin typeface="맑은 고딕"/>
                        </a:rPr>
                        <a:t>체형에 어울리는</a:t>
                      </a:r>
                    </a:p>
                    <a:p>
                      <a:r>
                        <a:rPr sz="900" b="0">
                          <a:solidFill>
                            <a:srgbClr val="5B615D"/>
                          </a:solidFill>
                          <a:latin typeface="맑은 고딕"/>
                        </a:rPr>
                        <a:t>기준이 없음</a:t>
                      </a:r>
                    </a:p>
                  </a:txBody>
                  <a:tcPr marL="54864" marR="54864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5B615D"/>
                          </a:solidFill>
                          <a:latin typeface="맑은 고딕"/>
                        </a:rPr>
                        <a:t>트렌드는 알아도</a:t>
                      </a:r>
                    </a:p>
                    <a:p>
                      <a:r>
                        <a:rPr sz="900" b="0">
                          <a:solidFill>
                            <a:srgbClr val="5B615D"/>
                          </a:solidFill>
                          <a:latin typeface="맑은 고딕"/>
                        </a:rPr>
                        <a:t>“나한테도?”는 모름</a:t>
                      </a:r>
                    </a:p>
                  </a:txBody>
                  <a:tcPr marL="54864" marR="54864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5B615D"/>
                          </a:solidFill>
                          <a:latin typeface="맑은 고딕"/>
                        </a:rPr>
                        <a:t>모델 핏 ≠ 내 핏</a:t>
                      </a:r>
                    </a:p>
                  </a:txBody>
                  <a:tcPr marL="54864" marR="54864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B5654A"/>
                          </a:solidFill>
                          <a:latin typeface="맑은 고딕"/>
                        </a:rPr>
                        <a:t>★ “안 어울린다”</a:t>
                      </a:r>
                    </a:p>
                    <a:p>
                      <a:r>
                        <a:rPr sz="900" b="1">
                          <a:solidFill>
                            <a:srgbClr val="B5654A"/>
                          </a:solidFill>
                          <a:latin typeface="맑은 고딕"/>
                        </a:rPr>
                        <a:t>대표 이미지에 타격</a:t>
                      </a:r>
                    </a:p>
                  </a:txBody>
                  <a:tcPr marL="54864" marR="54864" marT="32004" marB="32004">
                    <a:solidFill>
                      <a:srgbClr val="FBEF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5B615D"/>
                          </a:solidFill>
                          <a:latin typeface="맑은 고딕"/>
                        </a:rPr>
                        <a:t>시도 포기</a:t>
                      </a:r>
                    </a:p>
                    <a:p>
                      <a:r>
                        <a:rPr sz="900" b="0">
                          <a:solidFill>
                            <a:srgbClr val="5B615D"/>
                          </a:solidFill>
                          <a:latin typeface="맑은 고딕"/>
                        </a:rPr>
                        <a:t>→ 존재감 없는 옷</a:t>
                      </a:r>
                    </a:p>
                  </a:txBody>
                  <a:tcPr marL="54864" marR="54864" marT="32004" marB="32004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cxnSp>
        <p:nvCxnSpPr>
          <p:cNvPr id="156" name="Connector 30">
            <a:extLst>
              <a:ext uri="{FF2B5EF4-FFF2-40B4-BE49-F238E27FC236}">
                <a16:creationId xmlns:a16="http://schemas.microsoft.com/office/drawing/2014/main" id="{F27D6B34-AFFC-DD28-518A-BE9E532D66AF}"/>
              </a:ext>
            </a:extLst>
          </p:cNvPr>
          <p:cNvCxnSpPr/>
          <p:nvPr/>
        </p:nvCxnSpPr>
        <p:spPr>
          <a:xfrm>
            <a:off x="1060704" y="5276088"/>
            <a:ext cx="10673791" cy="0"/>
          </a:xfrm>
          <a:prstGeom prst="line">
            <a:avLst/>
          </a:prstGeom>
          <a:ln w="9525">
            <a:solidFill>
              <a:srgbClr val="E1E5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31">
            <a:extLst>
              <a:ext uri="{FF2B5EF4-FFF2-40B4-BE49-F238E27FC236}">
                <a16:creationId xmlns:a16="http://schemas.microsoft.com/office/drawing/2014/main" id="{21C2F766-789C-4742-CC39-F3AAF5E99EAD}"/>
              </a:ext>
            </a:extLst>
          </p:cNvPr>
          <p:cNvCxnSpPr/>
          <p:nvPr/>
        </p:nvCxnSpPr>
        <p:spPr>
          <a:xfrm>
            <a:off x="2128083" y="5189220"/>
            <a:ext cx="2134758" cy="0"/>
          </a:xfrm>
          <a:prstGeom prst="line">
            <a:avLst/>
          </a:prstGeom>
          <a:ln w="25400">
            <a:solidFill>
              <a:srgbClr val="3E6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32">
            <a:extLst>
              <a:ext uri="{FF2B5EF4-FFF2-40B4-BE49-F238E27FC236}">
                <a16:creationId xmlns:a16="http://schemas.microsoft.com/office/drawing/2014/main" id="{A81F2F2B-ECD2-8AEF-5301-43D0054B7B75}"/>
              </a:ext>
            </a:extLst>
          </p:cNvPr>
          <p:cNvCxnSpPr/>
          <p:nvPr/>
        </p:nvCxnSpPr>
        <p:spPr>
          <a:xfrm>
            <a:off x="4262841" y="5189220"/>
            <a:ext cx="2134758" cy="86868"/>
          </a:xfrm>
          <a:prstGeom prst="line">
            <a:avLst/>
          </a:prstGeom>
          <a:ln w="25400">
            <a:solidFill>
              <a:srgbClr val="3E6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33">
            <a:extLst>
              <a:ext uri="{FF2B5EF4-FFF2-40B4-BE49-F238E27FC236}">
                <a16:creationId xmlns:a16="http://schemas.microsoft.com/office/drawing/2014/main" id="{2945BBE5-1C2B-A12E-09E3-AC929474835C}"/>
              </a:ext>
            </a:extLst>
          </p:cNvPr>
          <p:cNvCxnSpPr/>
          <p:nvPr/>
        </p:nvCxnSpPr>
        <p:spPr>
          <a:xfrm>
            <a:off x="6397599" y="5276088"/>
            <a:ext cx="2134758" cy="173736"/>
          </a:xfrm>
          <a:prstGeom prst="line">
            <a:avLst/>
          </a:prstGeom>
          <a:ln w="25400">
            <a:solidFill>
              <a:srgbClr val="3E6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34">
            <a:extLst>
              <a:ext uri="{FF2B5EF4-FFF2-40B4-BE49-F238E27FC236}">
                <a16:creationId xmlns:a16="http://schemas.microsoft.com/office/drawing/2014/main" id="{E85F8C3D-EB19-6FF3-0208-A50E176F99FE}"/>
              </a:ext>
            </a:extLst>
          </p:cNvPr>
          <p:cNvCxnSpPr/>
          <p:nvPr/>
        </p:nvCxnSpPr>
        <p:spPr>
          <a:xfrm flipV="1">
            <a:off x="8532357" y="5362956"/>
            <a:ext cx="2134759" cy="86868"/>
          </a:xfrm>
          <a:prstGeom prst="line">
            <a:avLst/>
          </a:prstGeom>
          <a:ln w="25400">
            <a:solidFill>
              <a:srgbClr val="3E6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1" name="Oval 35">
            <a:extLst>
              <a:ext uri="{FF2B5EF4-FFF2-40B4-BE49-F238E27FC236}">
                <a16:creationId xmlns:a16="http://schemas.microsoft.com/office/drawing/2014/main" id="{D8A3EAEE-0D0E-3261-C163-F8EAAE6771E5}"/>
              </a:ext>
            </a:extLst>
          </p:cNvPr>
          <p:cNvSpPr/>
          <p:nvPr/>
        </p:nvSpPr>
        <p:spPr>
          <a:xfrm>
            <a:off x="2073219" y="5134356"/>
            <a:ext cx="109728" cy="10972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E6B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B6B35D70-6FC3-0261-60D6-9ABE64DC5C09}"/>
              </a:ext>
            </a:extLst>
          </p:cNvPr>
          <p:cNvSpPr txBox="1"/>
          <p:nvPr/>
        </p:nvSpPr>
        <p:spPr>
          <a:xfrm>
            <a:off x="1670883" y="4914900"/>
            <a:ext cx="9144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1" i="0">
                <a:solidFill>
                  <a:srgbClr val="5B615D"/>
                </a:solidFill>
                <a:latin typeface="맑은 고딕"/>
              </a:rPr>
              <a:t>+1</a:t>
            </a:r>
          </a:p>
        </p:txBody>
      </p:sp>
      <p:sp>
        <p:nvSpPr>
          <p:cNvPr id="163" name="Oval 37">
            <a:extLst>
              <a:ext uri="{FF2B5EF4-FFF2-40B4-BE49-F238E27FC236}">
                <a16:creationId xmlns:a16="http://schemas.microsoft.com/office/drawing/2014/main" id="{BE44976A-8965-FFFF-85BF-A899A4723617}"/>
              </a:ext>
            </a:extLst>
          </p:cNvPr>
          <p:cNvSpPr/>
          <p:nvPr/>
        </p:nvSpPr>
        <p:spPr>
          <a:xfrm>
            <a:off x="4207977" y="5134356"/>
            <a:ext cx="109728" cy="10972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E6B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8A6BC214-618B-A4A7-9256-B15C1378082F}"/>
              </a:ext>
            </a:extLst>
          </p:cNvPr>
          <p:cNvSpPr txBox="1"/>
          <p:nvPr/>
        </p:nvSpPr>
        <p:spPr>
          <a:xfrm>
            <a:off x="3805641" y="4914900"/>
            <a:ext cx="9144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1" i="0">
                <a:solidFill>
                  <a:srgbClr val="5B615D"/>
                </a:solidFill>
                <a:latin typeface="맑은 고딕"/>
              </a:rPr>
              <a:t>+1</a:t>
            </a:r>
          </a:p>
        </p:txBody>
      </p:sp>
      <p:sp>
        <p:nvSpPr>
          <p:cNvPr id="165" name="Oval 39">
            <a:extLst>
              <a:ext uri="{FF2B5EF4-FFF2-40B4-BE49-F238E27FC236}">
                <a16:creationId xmlns:a16="http://schemas.microsoft.com/office/drawing/2014/main" id="{DB8E6662-0A60-62F2-49FC-0F6557C28764}"/>
              </a:ext>
            </a:extLst>
          </p:cNvPr>
          <p:cNvSpPr/>
          <p:nvPr/>
        </p:nvSpPr>
        <p:spPr>
          <a:xfrm>
            <a:off x="6342735" y="5221224"/>
            <a:ext cx="109728" cy="10972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E6B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CA58D397-4380-6263-9CBE-14564600FAD3}"/>
              </a:ext>
            </a:extLst>
          </p:cNvPr>
          <p:cNvSpPr txBox="1"/>
          <p:nvPr/>
        </p:nvSpPr>
        <p:spPr>
          <a:xfrm>
            <a:off x="5940399" y="5001768"/>
            <a:ext cx="9144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1" i="0">
                <a:solidFill>
                  <a:srgbClr val="5B615D"/>
                </a:solidFill>
                <a:latin typeface="맑은 고딕"/>
              </a:rPr>
              <a:t>0</a:t>
            </a:r>
          </a:p>
        </p:txBody>
      </p:sp>
      <p:sp>
        <p:nvSpPr>
          <p:cNvPr id="167" name="Oval 41">
            <a:extLst>
              <a:ext uri="{FF2B5EF4-FFF2-40B4-BE49-F238E27FC236}">
                <a16:creationId xmlns:a16="http://schemas.microsoft.com/office/drawing/2014/main" id="{10DD94D8-5B1D-256E-F319-98D34EF1F2C1}"/>
              </a:ext>
            </a:extLst>
          </p:cNvPr>
          <p:cNvSpPr/>
          <p:nvPr/>
        </p:nvSpPr>
        <p:spPr>
          <a:xfrm>
            <a:off x="8454633" y="5372100"/>
            <a:ext cx="155448" cy="155448"/>
          </a:xfrm>
          <a:prstGeom prst="ellipse">
            <a:avLst/>
          </a:prstGeom>
          <a:solidFill>
            <a:srgbClr val="B5654A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EB172E02-A9F9-A652-D879-3CE0646C8711}"/>
              </a:ext>
            </a:extLst>
          </p:cNvPr>
          <p:cNvSpPr txBox="1"/>
          <p:nvPr/>
        </p:nvSpPr>
        <p:spPr>
          <a:xfrm>
            <a:off x="8075157" y="5175504"/>
            <a:ext cx="9144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1" i="0">
                <a:solidFill>
                  <a:srgbClr val="B5654A"/>
                </a:solidFill>
                <a:latin typeface="맑은 고딕"/>
              </a:rPr>
              <a:t>−2 최저</a:t>
            </a:r>
          </a:p>
        </p:txBody>
      </p:sp>
      <p:sp>
        <p:nvSpPr>
          <p:cNvPr id="169" name="Oval 43">
            <a:extLst>
              <a:ext uri="{FF2B5EF4-FFF2-40B4-BE49-F238E27FC236}">
                <a16:creationId xmlns:a16="http://schemas.microsoft.com/office/drawing/2014/main" id="{89339312-E117-557C-DFCD-646EB560782F}"/>
              </a:ext>
            </a:extLst>
          </p:cNvPr>
          <p:cNvSpPr/>
          <p:nvPr/>
        </p:nvSpPr>
        <p:spPr>
          <a:xfrm>
            <a:off x="10612252" y="5308092"/>
            <a:ext cx="109728" cy="10972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E6B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38A07851-FF0A-87D9-0047-16087ACE0F00}"/>
              </a:ext>
            </a:extLst>
          </p:cNvPr>
          <p:cNvSpPr txBox="1"/>
          <p:nvPr/>
        </p:nvSpPr>
        <p:spPr>
          <a:xfrm>
            <a:off x="10209916" y="5088636"/>
            <a:ext cx="9144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1" i="0">
                <a:solidFill>
                  <a:srgbClr val="5B615D"/>
                </a:solidFill>
                <a:latin typeface="맑은 고딕"/>
              </a:rPr>
              <a:t>−1</a:t>
            </a:r>
          </a:p>
        </p:txBody>
      </p:sp>
      <p:sp>
        <p:nvSpPr>
          <p:cNvPr id="171" name="Rounded Rectangle 45">
            <a:extLst>
              <a:ext uri="{FF2B5EF4-FFF2-40B4-BE49-F238E27FC236}">
                <a16:creationId xmlns:a16="http://schemas.microsoft.com/office/drawing/2014/main" id="{7C77A091-AD8F-B94B-4066-34AF3592ACF1}"/>
              </a:ext>
            </a:extLst>
          </p:cNvPr>
          <p:cNvSpPr/>
          <p:nvPr/>
        </p:nvSpPr>
        <p:spPr>
          <a:xfrm>
            <a:off x="457200" y="6053328"/>
            <a:ext cx="5586984" cy="566928"/>
          </a:xfrm>
          <a:prstGeom prst="roundRect">
            <a:avLst/>
          </a:prstGeom>
          <a:solidFill>
            <a:srgbClr val="FBEFEA"/>
          </a:solidFill>
          <a:ln w="15875">
            <a:solidFill>
              <a:srgbClr val="B565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604510FA-DDCC-8EAE-DBC8-6D6478DE37C9}"/>
              </a:ext>
            </a:extLst>
          </p:cNvPr>
          <p:cNvSpPr txBox="1"/>
          <p:nvPr/>
        </p:nvSpPr>
        <p:spPr>
          <a:xfrm>
            <a:off x="594360" y="6126480"/>
            <a:ext cx="530352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1" i="0">
                <a:solidFill>
                  <a:srgbClr val="B5654A"/>
                </a:solidFill>
                <a:latin typeface="맑은 고딕"/>
              </a:rPr>
              <a:t>A 최저점 · 3. 사이즈 결정</a:t>
            </a:r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9B59280F-67E4-C673-C292-B5B88BF13FEA}"/>
              </a:ext>
            </a:extLst>
          </p:cNvPr>
          <p:cNvSpPr txBox="1"/>
          <p:nvPr/>
        </p:nvSpPr>
        <p:spPr>
          <a:xfrm>
            <a:off x="594360" y="6300216"/>
            <a:ext cx="53035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 i="0">
                <a:solidFill>
                  <a:srgbClr val="1A1D1B"/>
                </a:solidFill>
                <a:latin typeface="맑은 고딕"/>
              </a:rPr>
              <a:t>‘지금의 나’를 아는 기준이 없다</a:t>
            </a:r>
          </a:p>
        </p:txBody>
      </p:sp>
      <p:sp>
        <p:nvSpPr>
          <p:cNvPr id="174" name="Rounded Rectangle 48">
            <a:extLst>
              <a:ext uri="{FF2B5EF4-FFF2-40B4-BE49-F238E27FC236}">
                <a16:creationId xmlns:a16="http://schemas.microsoft.com/office/drawing/2014/main" id="{923C4947-38AA-E90B-2295-67C6BA092AB5}"/>
              </a:ext>
            </a:extLst>
          </p:cNvPr>
          <p:cNvSpPr/>
          <p:nvPr/>
        </p:nvSpPr>
        <p:spPr>
          <a:xfrm>
            <a:off x="6144768" y="6053328"/>
            <a:ext cx="5586984" cy="566928"/>
          </a:xfrm>
          <a:prstGeom prst="roundRect">
            <a:avLst/>
          </a:prstGeom>
          <a:solidFill>
            <a:srgbClr val="EAF1ED"/>
          </a:solidFill>
          <a:ln w="15875">
            <a:solidFill>
              <a:srgbClr val="2E4A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BA75A621-7AD8-52F7-45A7-C7623C10BE94}"/>
              </a:ext>
            </a:extLst>
          </p:cNvPr>
          <p:cNvSpPr txBox="1"/>
          <p:nvPr/>
        </p:nvSpPr>
        <p:spPr>
          <a:xfrm>
            <a:off x="6281928" y="6126480"/>
            <a:ext cx="530352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1" i="0">
                <a:solidFill>
                  <a:srgbClr val="2E4A3B"/>
                </a:solidFill>
                <a:latin typeface="맑은 고딕"/>
              </a:rPr>
              <a:t>B 최저점 · 4. 착용 · 반응</a:t>
            </a:r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EF7FED9C-B3FE-A570-0119-990B7FC6116B}"/>
              </a:ext>
            </a:extLst>
          </p:cNvPr>
          <p:cNvSpPr txBox="1"/>
          <p:nvPr/>
        </p:nvSpPr>
        <p:spPr>
          <a:xfrm>
            <a:off x="6281928" y="6300216"/>
            <a:ext cx="53035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 i="0">
                <a:solidFill>
                  <a:srgbClr val="1A1D1B"/>
                </a:solidFill>
                <a:latin typeface="맑은 고딕"/>
              </a:rPr>
              <a:t>‘나에게 맞는지’ 판단할 기준이 없다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TextBox 318">
            <a:extLst>
              <a:ext uri="{FF2B5EF4-FFF2-40B4-BE49-F238E27FC236}">
                <a16:creationId xmlns:a16="http://schemas.microsoft.com/office/drawing/2014/main" id="{ABAD767B-8BC6-5A5F-1D6B-4C49AE2B3420}"/>
              </a:ext>
            </a:extLst>
          </p:cNvPr>
          <p:cNvSpPr txBox="1"/>
          <p:nvPr/>
        </p:nvSpPr>
        <p:spPr>
          <a:xfrm>
            <a:off x="457200" y="292608"/>
            <a:ext cx="54864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8B908B"/>
                </a:solidFill>
                <a:latin typeface="맑은 고딕"/>
              </a:rPr>
              <a:t>5 WHYS · ROOT CAUSE ANALYSIS</a:t>
            </a:r>
          </a:p>
        </p:txBody>
      </p:sp>
      <p:sp>
        <p:nvSpPr>
          <p:cNvPr id="321" name="TextBox 320">
            <a:extLst>
              <a:ext uri="{FF2B5EF4-FFF2-40B4-BE49-F238E27FC236}">
                <a16:creationId xmlns:a16="http://schemas.microsoft.com/office/drawing/2014/main" id="{4E4B5EBD-6457-1C46-F860-FA64D623D53E}"/>
              </a:ext>
            </a:extLst>
          </p:cNvPr>
          <p:cNvSpPr txBox="1"/>
          <p:nvPr/>
        </p:nvSpPr>
        <p:spPr>
          <a:xfrm>
            <a:off x="457200" y="475488"/>
            <a:ext cx="960120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300" b="1" i="0">
                <a:solidFill>
                  <a:srgbClr val="1A1D1B"/>
                </a:solidFill>
                <a:latin typeface="맑은 고딕"/>
              </a:rPr>
              <a:t>같은 방법으로 팠더니, 끝나는 지점이 달랐다</a:t>
            </a:r>
          </a:p>
        </p:txBody>
      </p:sp>
      <p:sp>
        <p:nvSpPr>
          <p:cNvPr id="323" name="TextBox 322">
            <a:extLst>
              <a:ext uri="{FF2B5EF4-FFF2-40B4-BE49-F238E27FC236}">
                <a16:creationId xmlns:a16="http://schemas.microsoft.com/office/drawing/2014/main" id="{E8F2E92B-6918-ECA0-ED59-253FCACCE258}"/>
              </a:ext>
            </a:extLst>
          </p:cNvPr>
          <p:cNvSpPr txBox="1"/>
          <p:nvPr/>
        </p:nvSpPr>
        <p:spPr>
          <a:xfrm>
            <a:off x="457200" y="896112"/>
            <a:ext cx="1124712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 i="0">
                <a:solidFill>
                  <a:srgbClr val="5B615D"/>
                </a:solidFill>
                <a:latin typeface="맑은 고딕"/>
              </a:rPr>
              <a:t>저니맵 최저점을 각각 5번 파고들었다. 사이즈는 ‘치수’라는 정답에 닿고, 스타일은 ‘취향’에서 멈춘다 — 그래서 푸는 방법도 달라야 한다.</a:t>
            </a:r>
          </a:p>
        </p:txBody>
      </p:sp>
      <p:sp>
        <p:nvSpPr>
          <p:cNvPr id="325" name="Rounded Rectangle 4">
            <a:extLst>
              <a:ext uri="{FF2B5EF4-FFF2-40B4-BE49-F238E27FC236}">
                <a16:creationId xmlns:a16="http://schemas.microsoft.com/office/drawing/2014/main" id="{54E7BBE9-13CF-1536-FA1B-054FE3FD8BA5}"/>
              </a:ext>
            </a:extLst>
          </p:cNvPr>
          <p:cNvSpPr/>
          <p:nvPr/>
        </p:nvSpPr>
        <p:spPr>
          <a:xfrm>
            <a:off x="457200" y="1261872"/>
            <a:ext cx="690372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7" name="Rounded Rectangle 5">
            <a:extLst>
              <a:ext uri="{FF2B5EF4-FFF2-40B4-BE49-F238E27FC236}">
                <a16:creationId xmlns:a16="http://schemas.microsoft.com/office/drawing/2014/main" id="{3F992F80-6354-B209-2A07-D14F0813D1B1}"/>
              </a:ext>
            </a:extLst>
          </p:cNvPr>
          <p:cNvSpPr/>
          <p:nvPr/>
        </p:nvSpPr>
        <p:spPr>
          <a:xfrm>
            <a:off x="457200" y="1261872"/>
            <a:ext cx="6903720" cy="384048"/>
          </a:xfrm>
          <a:prstGeom prst="roundRect">
            <a:avLst/>
          </a:prstGeom>
          <a:solidFill>
            <a:srgbClr val="EA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9" name="TextBox 328">
            <a:extLst>
              <a:ext uri="{FF2B5EF4-FFF2-40B4-BE49-F238E27FC236}">
                <a16:creationId xmlns:a16="http://schemas.microsoft.com/office/drawing/2014/main" id="{39A761B2-B2B9-D10E-DC62-15F1F1495033}"/>
              </a:ext>
            </a:extLst>
          </p:cNvPr>
          <p:cNvSpPr txBox="1"/>
          <p:nvPr/>
        </p:nvSpPr>
        <p:spPr>
          <a:xfrm>
            <a:off x="603504" y="1353312"/>
            <a:ext cx="54864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1" i="0">
                <a:solidFill>
                  <a:srgbClr val="2E4A3B"/>
                </a:solidFill>
                <a:latin typeface="맑은 고딕"/>
              </a:rPr>
              <a:t>A · 사이즈 (김민석)   —   정답이 있는 문제</a:t>
            </a:r>
          </a:p>
        </p:txBody>
      </p:sp>
      <p:sp>
        <p:nvSpPr>
          <p:cNvPr id="331" name="TextBox 330">
            <a:extLst>
              <a:ext uri="{FF2B5EF4-FFF2-40B4-BE49-F238E27FC236}">
                <a16:creationId xmlns:a16="http://schemas.microsoft.com/office/drawing/2014/main" id="{3025C821-C741-6CC8-FDE4-AD72EF9C4D0B}"/>
              </a:ext>
            </a:extLst>
          </p:cNvPr>
          <p:cNvSpPr txBox="1"/>
          <p:nvPr/>
        </p:nvSpPr>
        <p:spPr>
          <a:xfrm>
            <a:off x="5440680" y="1362456"/>
            <a:ext cx="17830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50" b="1" i="0">
                <a:solidFill>
                  <a:srgbClr val="8B908B"/>
                </a:solidFill>
                <a:latin typeface="맑은 고딕"/>
              </a:rPr>
              <a:t>저니맵 ③ 사이즈 결정 (−2)</a:t>
            </a:r>
          </a:p>
        </p:txBody>
      </p:sp>
      <p:sp>
        <p:nvSpPr>
          <p:cNvPr id="333" name="TextBox 332">
            <a:extLst>
              <a:ext uri="{FF2B5EF4-FFF2-40B4-BE49-F238E27FC236}">
                <a16:creationId xmlns:a16="http://schemas.microsoft.com/office/drawing/2014/main" id="{8C5A18AE-732E-CD77-A052-617EDEB8B0D9}"/>
              </a:ext>
            </a:extLst>
          </p:cNvPr>
          <p:cNvSpPr txBox="1"/>
          <p:nvPr/>
        </p:nvSpPr>
        <p:spPr>
          <a:xfrm>
            <a:off x="603504" y="1755648"/>
            <a:ext cx="661111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1" i="0">
                <a:solidFill>
                  <a:srgbClr val="B5654A"/>
                </a:solidFill>
                <a:latin typeface="맑은 고딕"/>
              </a:rPr>
              <a:t>문제 · 사이즈를 확신 못 하고 “안 맞으면 반품하지”로 주문한다</a:t>
            </a:r>
          </a:p>
        </p:txBody>
      </p:sp>
      <p:sp>
        <p:nvSpPr>
          <p:cNvPr id="335" name="Rounded Rectangle 9">
            <a:extLst>
              <a:ext uri="{FF2B5EF4-FFF2-40B4-BE49-F238E27FC236}">
                <a16:creationId xmlns:a16="http://schemas.microsoft.com/office/drawing/2014/main" id="{492B24E6-A651-4DE6-BEBB-13F56BB0AF1C}"/>
              </a:ext>
            </a:extLst>
          </p:cNvPr>
          <p:cNvSpPr/>
          <p:nvPr/>
        </p:nvSpPr>
        <p:spPr>
          <a:xfrm>
            <a:off x="603504" y="2029968"/>
            <a:ext cx="6611112" cy="5120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7" name="TextBox 336">
            <a:extLst>
              <a:ext uri="{FF2B5EF4-FFF2-40B4-BE49-F238E27FC236}">
                <a16:creationId xmlns:a16="http://schemas.microsoft.com/office/drawing/2014/main" id="{60D23127-78C3-BF80-BD2E-9B8223872498}"/>
              </a:ext>
            </a:extLst>
          </p:cNvPr>
          <p:cNvSpPr txBox="1"/>
          <p:nvPr/>
        </p:nvSpPr>
        <p:spPr>
          <a:xfrm>
            <a:off x="713232" y="2103120"/>
            <a:ext cx="566928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1" i="0">
                <a:solidFill>
                  <a:srgbClr val="3E6B52"/>
                </a:solidFill>
                <a:latin typeface="맑은 고딕"/>
              </a:rPr>
              <a:t>WHY 1</a:t>
            </a:r>
          </a:p>
        </p:txBody>
      </p:sp>
      <p:sp>
        <p:nvSpPr>
          <p:cNvPr id="339" name="TextBox 338">
            <a:extLst>
              <a:ext uri="{FF2B5EF4-FFF2-40B4-BE49-F238E27FC236}">
                <a16:creationId xmlns:a16="http://schemas.microsoft.com/office/drawing/2014/main" id="{AFAE5975-35FE-AFB4-2126-D7214A3FCEC5}"/>
              </a:ext>
            </a:extLst>
          </p:cNvPr>
          <p:cNvSpPr txBox="1"/>
          <p:nvPr/>
        </p:nvSpPr>
        <p:spPr>
          <a:xfrm>
            <a:off x="1325880" y="2084832"/>
            <a:ext cx="27432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1" i="0">
                <a:solidFill>
                  <a:srgbClr val="1A1D1B"/>
                </a:solidFill>
                <a:latin typeface="맑은 고딕"/>
              </a:rPr>
              <a:t>왜 확신하지 못하나?</a:t>
            </a:r>
          </a:p>
        </p:txBody>
      </p:sp>
      <p:sp>
        <p:nvSpPr>
          <p:cNvPr id="341" name="TextBox 340">
            <a:extLst>
              <a:ext uri="{FF2B5EF4-FFF2-40B4-BE49-F238E27FC236}">
                <a16:creationId xmlns:a16="http://schemas.microsoft.com/office/drawing/2014/main" id="{764C0324-0E9A-03E7-2C76-459F0119F94A}"/>
              </a:ext>
            </a:extLst>
          </p:cNvPr>
          <p:cNvSpPr txBox="1"/>
          <p:nvPr/>
        </p:nvSpPr>
        <p:spPr>
          <a:xfrm>
            <a:off x="1325880" y="2276856"/>
            <a:ext cx="539496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5B615D"/>
                </a:solidFill>
                <a:latin typeface="맑은 고딕"/>
              </a:rPr>
              <a:t>→ 안 입어본 브랜드의 ‘M’이 내 몸에 어떻게 맞을지 알 수 없어서</a:t>
            </a:r>
          </a:p>
        </p:txBody>
      </p:sp>
      <p:sp>
        <p:nvSpPr>
          <p:cNvPr id="343" name="Down Arrow 13">
            <a:extLst>
              <a:ext uri="{FF2B5EF4-FFF2-40B4-BE49-F238E27FC236}">
                <a16:creationId xmlns:a16="http://schemas.microsoft.com/office/drawing/2014/main" id="{5341D904-16F3-A61F-2F41-0C6E1509E0DF}"/>
              </a:ext>
            </a:extLst>
          </p:cNvPr>
          <p:cNvSpPr/>
          <p:nvPr/>
        </p:nvSpPr>
        <p:spPr>
          <a:xfrm>
            <a:off x="955548" y="2544775"/>
            <a:ext cx="137160" cy="68580"/>
          </a:xfrm>
          <a:prstGeom prst="downArrow">
            <a:avLst/>
          </a:prstGeom>
          <a:solidFill>
            <a:srgbClr val="E1E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5" name="Rounded Rectangle 14">
            <a:extLst>
              <a:ext uri="{FF2B5EF4-FFF2-40B4-BE49-F238E27FC236}">
                <a16:creationId xmlns:a16="http://schemas.microsoft.com/office/drawing/2014/main" id="{58619AEE-D85A-7910-A272-BDF6CA490F6D}"/>
              </a:ext>
            </a:extLst>
          </p:cNvPr>
          <p:cNvSpPr/>
          <p:nvPr/>
        </p:nvSpPr>
        <p:spPr>
          <a:xfrm>
            <a:off x="603504" y="2624328"/>
            <a:ext cx="6611112" cy="5120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7" name="TextBox 346">
            <a:extLst>
              <a:ext uri="{FF2B5EF4-FFF2-40B4-BE49-F238E27FC236}">
                <a16:creationId xmlns:a16="http://schemas.microsoft.com/office/drawing/2014/main" id="{B77DF8BC-207B-A878-C0AF-5AD405A282E4}"/>
              </a:ext>
            </a:extLst>
          </p:cNvPr>
          <p:cNvSpPr txBox="1"/>
          <p:nvPr/>
        </p:nvSpPr>
        <p:spPr>
          <a:xfrm>
            <a:off x="713232" y="2697480"/>
            <a:ext cx="566928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1" i="0">
                <a:solidFill>
                  <a:srgbClr val="3E6B52"/>
                </a:solidFill>
                <a:latin typeface="맑은 고딕"/>
              </a:rPr>
              <a:t>WHY 2</a:t>
            </a:r>
          </a:p>
        </p:txBody>
      </p:sp>
      <p:sp>
        <p:nvSpPr>
          <p:cNvPr id="349" name="TextBox 348">
            <a:extLst>
              <a:ext uri="{FF2B5EF4-FFF2-40B4-BE49-F238E27FC236}">
                <a16:creationId xmlns:a16="http://schemas.microsoft.com/office/drawing/2014/main" id="{78A99263-B7BE-8D9A-6440-60FCE8DB9E07}"/>
              </a:ext>
            </a:extLst>
          </p:cNvPr>
          <p:cNvSpPr txBox="1"/>
          <p:nvPr/>
        </p:nvSpPr>
        <p:spPr>
          <a:xfrm>
            <a:off x="1325880" y="2679192"/>
            <a:ext cx="27432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1" i="0">
                <a:solidFill>
                  <a:srgbClr val="1A1D1B"/>
                </a:solidFill>
                <a:latin typeface="맑은 고딕"/>
              </a:rPr>
              <a:t>왜 알 수 없나?</a:t>
            </a:r>
          </a:p>
        </p:txBody>
      </p:sp>
      <p:sp>
        <p:nvSpPr>
          <p:cNvPr id="351" name="TextBox 350">
            <a:extLst>
              <a:ext uri="{FF2B5EF4-FFF2-40B4-BE49-F238E27FC236}">
                <a16:creationId xmlns:a16="http://schemas.microsoft.com/office/drawing/2014/main" id="{F907786D-9AC3-7AA3-C329-5DCA1412E5E9}"/>
              </a:ext>
            </a:extLst>
          </p:cNvPr>
          <p:cNvSpPr txBox="1"/>
          <p:nvPr/>
        </p:nvSpPr>
        <p:spPr>
          <a:xfrm>
            <a:off x="1325880" y="2871216"/>
            <a:ext cx="539496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5B615D"/>
                </a:solidFill>
                <a:latin typeface="맑은 고딕"/>
              </a:rPr>
              <a:t>→ 같은 M이라도 브랜드마다 실제 치수가 다르고, 통일된 기준이 없어서</a:t>
            </a:r>
          </a:p>
        </p:txBody>
      </p:sp>
      <p:sp>
        <p:nvSpPr>
          <p:cNvPr id="353" name="Down Arrow 18">
            <a:extLst>
              <a:ext uri="{FF2B5EF4-FFF2-40B4-BE49-F238E27FC236}">
                <a16:creationId xmlns:a16="http://schemas.microsoft.com/office/drawing/2014/main" id="{50C5C854-EABA-A588-6879-F78F7941F1C1}"/>
              </a:ext>
            </a:extLst>
          </p:cNvPr>
          <p:cNvSpPr/>
          <p:nvPr/>
        </p:nvSpPr>
        <p:spPr>
          <a:xfrm>
            <a:off x="955548" y="3139135"/>
            <a:ext cx="137160" cy="68580"/>
          </a:xfrm>
          <a:prstGeom prst="downArrow">
            <a:avLst/>
          </a:prstGeom>
          <a:solidFill>
            <a:srgbClr val="E1E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5" name="Rounded Rectangle 19">
            <a:extLst>
              <a:ext uri="{FF2B5EF4-FFF2-40B4-BE49-F238E27FC236}">
                <a16:creationId xmlns:a16="http://schemas.microsoft.com/office/drawing/2014/main" id="{D0607A59-4934-2A08-30AB-DFCE646023C7}"/>
              </a:ext>
            </a:extLst>
          </p:cNvPr>
          <p:cNvSpPr/>
          <p:nvPr/>
        </p:nvSpPr>
        <p:spPr>
          <a:xfrm>
            <a:off x="603504" y="3218688"/>
            <a:ext cx="6611112" cy="5120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7" name="TextBox 356">
            <a:extLst>
              <a:ext uri="{FF2B5EF4-FFF2-40B4-BE49-F238E27FC236}">
                <a16:creationId xmlns:a16="http://schemas.microsoft.com/office/drawing/2014/main" id="{F1A6E21D-84EA-198D-2C19-84A23D27DBA9}"/>
              </a:ext>
            </a:extLst>
          </p:cNvPr>
          <p:cNvSpPr txBox="1"/>
          <p:nvPr/>
        </p:nvSpPr>
        <p:spPr>
          <a:xfrm>
            <a:off x="713232" y="3291840"/>
            <a:ext cx="566928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1" i="0">
                <a:solidFill>
                  <a:srgbClr val="3E6B52"/>
                </a:solidFill>
                <a:latin typeface="맑은 고딕"/>
              </a:rPr>
              <a:t>WHY 3</a:t>
            </a:r>
          </a:p>
        </p:txBody>
      </p:sp>
      <p:sp>
        <p:nvSpPr>
          <p:cNvPr id="359" name="TextBox 358">
            <a:extLst>
              <a:ext uri="{FF2B5EF4-FFF2-40B4-BE49-F238E27FC236}">
                <a16:creationId xmlns:a16="http://schemas.microsoft.com/office/drawing/2014/main" id="{1F6766D4-1A2F-D7AF-9BEF-1F7945A0BB0C}"/>
              </a:ext>
            </a:extLst>
          </p:cNvPr>
          <p:cNvSpPr txBox="1"/>
          <p:nvPr/>
        </p:nvSpPr>
        <p:spPr>
          <a:xfrm>
            <a:off x="1325880" y="3273552"/>
            <a:ext cx="27432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1" i="0">
                <a:solidFill>
                  <a:srgbClr val="1A1D1B"/>
                </a:solidFill>
                <a:latin typeface="맑은 고딕"/>
              </a:rPr>
              <a:t>왜 사이즈표를 봐도 모르나?</a:t>
            </a:r>
          </a:p>
        </p:txBody>
      </p:sp>
      <p:sp>
        <p:nvSpPr>
          <p:cNvPr id="361" name="TextBox 360">
            <a:extLst>
              <a:ext uri="{FF2B5EF4-FFF2-40B4-BE49-F238E27FC236}">
                <a16:creationId xmlns:a16="http://schemas.microsoft.com/office/drawing/2014/main" id="{E84CD67C-6C38-94EA-9D77-0F6654ECE51F}"/>
              </a:ext>
            </a:extLst>
          </p:cNvPr>
          <p:cNvSpPr txBox="1"/>
          <p:nvPr/>
        </p:nvSpPr>
        <p:spPr>
          <a:xfrm>
            <a:off x="1325880" y="3465576"/>
            <a:ext cx="539496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5B615D"/>
                </a:solidFill>
                <a:latin typeface="맑은 고딕"/>
              </a:rPr>
              <a:t>→ 사이즈표는 ‘옷의 치수’일 뿐 — 비교할 내 몸 치수를 모르기 때문</a:t>
            </a:r>
          </a:p>
        </p:txBody>
      </p:sp>
      <p:sp>
        <p:nvSpPr>
          <p:cNvPr id="363" name="Down Arrow 23">
            <a:extLst>
              <a:ext uri="{FF2B5EF4-FFF2-40B4-BE49-F238E27FC236}">
                <a16:creationId xmlns:a16="http://schemas.microsoft.com/office/drawing/2014/main" id="{DA94EDC6-6292-37C8-89BC-69C756099FB8}"/>
              </a:ext>
            </a:extLst>
          </p:cNvPr>
          <p:cNvSpPr/>
          <p:nvPr/>
        </p:nvSpPr>
        <p:spPr>
          <a:xfrm>
            <a:off x="955548" y="3733495"/>
            <a:ext cx="137160" cy="68580"/>
          </a:xfrm>
          <a:prstGeom prst="downArrow">
            <a:avLst/>
          </a:prstGeom>
          <a:solidFill>
            <a:srgbClr val="E1E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5" name="Rounded Rectangle 24">
            <a:extLst>
              <a:ext uri="{FF2B5EF4-FFF2-40B4-BE49-F238E27FC236}">
                <a16:creationId xmlns:a16="http://schemas.microsoft.com/office/drawing/2014/main" id="{59D2091D-36A9-22BB-F456-DA81C7D8D2FB}"/>
              </a:ext>
            </a:extLst>
          </p:cNvPr>
          <p:cNvSpPr/>
          <p:nvPr/>
        </p:nvSpPr>
        <p:spPr>
          <a:xfrm>
            <a:off x="603504" y="3813048"/>
            <a:ext cx="6611112" cy="5120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7" name="TextBox 366">
            <a:extLst>
              <a:ext uri="{FF2B5EF4-FFF2-40B4-BE49-F238E27FC236}">
                <a16:creationId xmlns:a16="http://schemas.microsoft.com/office/drawing/2014/main" id="{601EECC5-E671-3828-A664-563A06A97E5D}"/>
              </a:ext>
            </a:extLst>
          </p:cNvPr>
          <p:cNvSpPr txBox="1"/>
          <p:nvPr/>
        </p:nvSpPr>
        <p:spPr>
          <a:xfrm>
            <a:off x="713232" y="3886200"/>
            <a:ext cx="566928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1" i="0">
                <a:solidFill>
                  <a:srgbClr val="3E6B52"/>
                </a:solidFill>
                <a:latin typeface="맑은 고딕"/>
              </a:rPr>
              <a:t>WHY 4</a:t>
            </a:r>
          </a:p>
        </p:txBody>
      </p:sp>
      <p:sp>
        <p:nvSpPr>
          <p:cNvPr id="369" name="TextBox 368">
            <a:extLst>
              <a:ext uri="{FF2B5EF4-FFF2-40B4-BE49-F238E27FC236}">
                <a16:creationId xmlns:a16="http://schemas.microsoft.com/office/drawing/2014/main" id="{91ED47BF-1874-3F1A-C32B-188DDB84708D}"/>
              </a:ext>
            </a:extLst>
          </p:cNvPr>
          <p:cNvSpPr txBox="1"/>
          <p:nvPr/>
        </p:nvSpPr>
        <p:spPr>
          <a:xfrm>
            <a:off x="1325880" y="3867911"/>
            <a:ext cx="27432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1" i="0">
                <a:solidFill>
                  <a:srgbClr val="1A1D1B"/>
                </a:solidFill>
                <a:latin typeface="맑은 고딕"/>
              </a:rPr>
              <a:t>왜 내 몸 치수를 모르나?</a:t>
            </a:r>
          </a:p>
        </p:txBody>
      </p:sp>
      <p:sp>
        <p:nvSpPr>
          <p:cNvPr id="371" name="TextBox 370">
            <a:extLst>
              <a:ext uri="{FF2B5EF4-FFF2-40B4-BE49-F238E27FC236}">
                <a16:creationId xmlns:a16="http://schemas.microsoft.com/office/drawing/2014/main" id="{C42F9A8D-AAAC-E557-466B-E988F72A99FB}"/>
              </a:ext>
            </a:extLst>
          </p:cNvPr>
          <p:cNvSpPr txBox="1"/>
          <p:nvPr/>
        </p:nvSpPr>
        <p:spPr>
          <a:xfrm>
            <a:off x="1325880" y="4059935"/>
            <a:ext cx="539496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5B615D"/>
                </a:solidFill>
                <a:latin typeface="맑은 고딕"/>
              </a:rPr>
              <a:t>→ 줄자는 번거롭고 부정확 · 체중이 변해 예전 값도 못 믿음</a:t>
            </a:r>
          </a:p>
        </p:txBody>
      </p:sp>
      <p:sp>
        <p:nvSpPr>
          <p:cNvPr id="373" name="Down Arrow 28">
            <a:extLst>
              <a:ext uri="{FF2B5EF4-FFF2-40B4-BE49-F238E27FC236}">
                <a16:creationId xmlns:a16="http://schemas.microsoft.com/office/drawing/2014/main" id="{C5B87D99-168B-5F41-6627-6E02BC83629C}"/>
              </a:ext>
            </a:extLst>
          </p:cNvPr>
          <p:cNvSpPr/>
          <p:nvPr/>
        </p:nvSpPr>
        <p:spPr>
          <a:xfrm>
            <a:off x="955548" y="4327855"/>
            <a:ext cx="137160" cy="68580"/>
          </a:xfrm>
          <a:prstGeom prst="downArrow">
            <a:avLst/>
          </a:prstGeom>
          <a:solidFill>
            <a:srgbClr val="E1E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5" name="Rounded Rectangle 29">
            <a:extLst>
              <a:ext uri="{FF2B5EF4-FFF2-40B4-BE49-F238E27FC236}">
                <a16:creationId xmlns:a16="http://schemas.microsoft.com/office/drawing/2014/main" id="{FE00A6E4-9A9B-1D75-A157-9BDE3A104EF5}"/>
              </a:ext>
            </a:extLst>
          </p:cNvPr>
          <p:cNvSpPr/>
          <p:nvPr/>
        </p:nvSpPr>
        <p:spPr>
          <a:xfrm>
            <a:off x="603504" y="4407408"/>
            <a:ext cx="6611112" cy="512064"/>
          </a:xfrm>
          <a:prstGeom prst="roundRect">
            <a:avLst/>
          </a:prstGeom>
          <a:solidFill>
            <a:srgbClr val="FBEFEA"/>
          </a:solidFill>
          <a:ln w="12700">
            <a:solidFill>
              <a:srgbClr val="B565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7" name="TextBox 376">
            <a:extLst>
              <a:ext uri="{FF2B5EF4-FFF2-40B4-BE49-F238E27FC236}">
                <a16:creationId xmlns:a16="http://schemas.microsoft.com/office/drawing/2014/main" id="{54AFA30E-B2A1-9461-63FA-E84149164672}"/>
              </a:ext>
            </a:extLst>
          </p:cNvPr>
          <p:cNvSpPr txBox="1"/>
          <p:nvPr/>
        </p:nvSpPr>
        <p:spPr>
          <a:xfrm>
            <a:off x="713232" y="4480560"/>
            <a:ext cx="566928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1" i="0">
                <a:solidFill>
                  <a:srgbClr val="B5654A"/>
                </a:solidFill>
                <a:latin typeface="맑은 고딕"/>
              </a:rPr>
              <a:t>WHY 5</a:t>
            </a:r>
          </a:p>
        </p:txBody>
      </p:sp>
      <p:sp>
        <p:nvSpPr>
          <p:cNvPr id="379" name="TextBox 378">
            <a:extLst>
              <a:ext uri="{FF2B5EF4-FFF2-40B4-BE49-F238E27FC236}">
                <a16:creationId xmlns:a16="http://schemas.microsoft.com/office/drawing/2014/main" id="{C8B7FC16-9DEA-2D9B-EEC5-304A70CCE021}"/>
              </a:ext>
            </a:extLst>
          </p:cNvPr>
          <p:cNvSpPr txBox="1"/>
          <p:nvPr/>
        </p:nvSpPr>
        <p:spPr>
          <a:xfrm>
            <a:off x="1325880" y="4462272"/>
            <a:ext cx="27432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1" i="0">
                <a:solidFill>
                  <a:srgbClr val="1A1D1B"/>
                </a:solidFill>
                <a:latin typeface="맑은 고딕"/>
              </a:rPr>
              <a:t>왜 아무도 대신 알려주지 않나?</a:t>
            </a:r>
          </a:p>
        </p:txBody>
      </p:sp>
      <p:sp>
        <p:nvSpPr>
          <p:cNvPr id="381" name="TextBox 380">
            <a:extLst>
              <a:ext uri="{FF2B5EF4-FFF2-40B4-BE49-F238E27FC236}">
                <a16:creationId xmlns:a16="http://schemas.microsoft.com/office/drawing/2014/main" id="{E1731162-35B3-3340-27ED-E061606252F5}"/>
              </a:ext>
            </a:extLst>
          </p:cNvPr>
          <p:cNvSpPr txBox="1"/>
          <p:nvPr/>
        </p:nvSpPr>
        <p:spPr>
          <a:xfrm>
            <a:off x="1325880" y="4654296"/>
            <a:ext cx="539496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B5654A"/>
                </a:solidFill>
                <a:latin typeface="맑은 고딕"/>
              </a:rPr>
              <a:t>→ 기존 서비스는 ‘그 몰의 이력’이나 ‘남의 체형 후기’에 기댐</a:t>
            </a:r>
          </a:p>
        </p:txBody>
      </p:sp>
      <p:sp>
        <p:nvSpPr>
          <p:cNvPr id="383" name="Rounded Rectangle 33">
            <a:extLst>
              <a:ext uri="{FF2B5EF4-FFF2-40B4-BE49-F238E27FC236}">
                <a16:creationId xmlns:a16="http://schemas.microsoft.com/office/drawing/2014/main" id="{6271B7A7-13CC-8171-ED58-46DA1720299F}"/>
              </a:ext>
            </a:extLst>
          </p:cNvPr>
          <p:cNvSpPr/>
          <p:nvPr/>
        </p:nvSpPr>
        <p:spPr>
          <a:xfrm>
            <a:off x="603504" y="5020056"/>
            <a:ext cx="6611112" cy="402336"/>
          </a:xfrm>
          <a:prstGeom prst="roundRect">
            <a:avLst/>
          </a:prstGeom>
          <a:solidFill>
            <a:srgbClr val="2E4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5" name="TextBox 384">
            <a:extLst>
              <a:ext uri="{FF2B5EF4-FFF2-40B4-BE49-F238E27FC236}">
                <a16:creationId xmlns:a16="http://schemas.microsoft.com/office/drawing/2014/main" id="{9945A339-A51E-79B6-B86E-6E49497353D2}"/>
              </a:ext>
            </a:extLst>
          </p:cNvPr>
          <p:cNvSpPr txBox="1"/>
          <p:nvPr/>
        </p:nvSpPr>
        <p:spPr>
          <a:xfrm>
            <a:off x="731520" y="5129784"/>
            <a:ext cx="64008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맑은 고딕"/>
              </a:rPr>
              <a:t>근본원인   브랜드를 가로질러 ‘지금 내 몸’을 기준으로 번역해주는 곳이 없다</a:t>
            </a:r>
          </a:p>
        </p:txBody>
      </p:sp>
      <p:sp>
        <p:nvSpPr>
          <p:cNvPr id="387" name="Rounded Rectangle 35">
            <a:extLst>
              <a:ext uri="{FF2B5EF4-FFF2-40B4-BE49-F238E27FC236}">
                <a16:creationId xmlns:a16="http://schemas.microsoft.com/office/drawing/2014/main" id="{5D6B4A7A-FE04-026A-D9D6-773C6A96E20F}"/>
              </a:ext>
            </a:extLst>
          </p:cNvPr>
          <p:cNvSpPr/>
          <p:nvPr/>
        </p:nvSpPr>
        <p:spPr>
          <a:xfrm>
            <a:off x="7571231" y="1261872"/>
            <a:ext cx="416052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9" name="Rounded Rectangle 36">
            <a:extLst>
              <a:ext uri="{FF2B5EF4-FFF2-40B4-BE49-F238E27FC236}">
                <a16:creationId xmlns:a16="http://schemas.microsoft.com/office/drawing/2014/main" id="{710A3795-6170-E8B7-6299-FBFDE33C6DFB}"/>
              </a:ext>
            </a:extLst>
          </p:cNvPr>
          <p:cNvSpPr/>
          <p:nvPr/>
        </p:nvSpPr>
        <p:spPr>
          <a:xfrm>
            <a:off x="7571231" y="1261872"/>
            <a:ext cx="4160520" cy="384048"/>
          </a:xfrm>
          <a:prstGeom prst="roundRect">
            <a:avLst/>
          </a:prstGeom>
          <a:solidFill>
            <a:srgbClr val="FB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1" name="TextBox 390">
            <a:extLst>
              <a:ext uri="{FF2B5EF4-FFF2-40B4-BE49-F238E27FC236}">
                <a16:creationId xmlns:a16="http://schemas.microsoft.com/office/drawing/2014/main" id="{D25A2497-1C33-D565-42C9-876C2219A349}"/>
              </a:ext>
            </a:extLst>
          </p:cNvPr>
          <p:cNvSpPr txBox="1"/>
          <p:nvPr/>
        </p:nvSpPr>
        <p:spPr>
          <a:xfrm>
            <a:off x="7717536" y="1353312"/>
            <a:ext cx="384048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1" i="0">
                <a:solidFill>
                  <a:srgbClr val="B5654A"/>
                </a:solidFill>
                <a:latin typeface="맑은 고딕"/>
              </a:rPr>
              <a:t>B · 스타일 (한예린)  —  정답이 없는 문제</a:t>
            </a:r>
          </a:p>
        </p:txBody>
      </p:sp>
      <p:sp>
        <p:nvSpPr>
          <p:cNvPr id="393" name="TextBox 392">
            <a:extLst>
              <a:ext uri="{FF2B5EF4-FFF2-40B4-BE49-F238E27FC236}">
                <a16:creationId xmlns:a16="http://schemas.microsoft.com/office/drawing/2014/main" id="{04CF52E2-0D80-0378-35AB-F04C72B8C555}"/>
              </a:ext>
            </a:extLst>
          </p:cNvPr>
          <p:cNvSpPr txBox="1"/>
          <p:nvPr/>
        </p:nvSpPr>
        <p:spPr>
          <a:xfrm>
            <a:off x="7717536" y="1755648"/>
            <a:ext cx="3867911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1" i="0">
                <a:solidFill>
                  <a:srgbClr val="B5654A"/>
                </a:solidFill>
                <a:latin typeface="맑은 고딕"/>
              </a:rPr>
              <a:t>문제 · 룩북 따라 샀는데 “안 어울린다”는 말을 듣는다</a:t>
            </a:r>
          </a:p>
        </p:txBody>
      </p:sp>
      <p:sp>
        <p:nvSpPr>
          <p:cNvPr id="395" name="Rounded Rectangle 39">
            <a:extLst>
              <a:ext uri="{FF2B5EF4-FFF2-40B4-BE49-F238E27FC236}">
                <a16:creationId xmlns:a16="http://schemas.microsoft.com/office/drawing/2014/main" id="{117B2220-5F4B-40A6-BF25-5E5E25826C88}"/>
              </a:ext>
            </a:extLst>
          </p:cNvPr>
          <p:cNvSpPr/>
          <p:nvPr/>
        </p:nvSpPr>
        <p:spPr>
          <a:xfrm>
            <a:off x="7717536" y="2029968"/>
            <a:ext cx="3867911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7" name="TextBox 396">
            <a:extLst>
              <a:ext uri="{FF2B5EF4-FFF2-40B4-BE49-F238E27FC236}">
                <a16:creationId xmlns:a16="http://schemas.microsoft.com/office/drawing/2014/main" id="{B53FF585-548C-61C4-3760-6D45C9D799F5}"/>
              </a:ext>
            </a:extLst>
          </p:cNvPr>
          <p:cNvSpPr txBox="1"/>
          <p:nvPr/>
        </p:nvSpPr>
        <p:spPr>
          <a:xfrm>
            <a:off x="7827263" y="2121408"/>
            <a:ext cx="566928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1" i="0">
                <a:solidFill>
                  <a:srgbClr val="B5654A"/>
                </a:solidFill>
                <a:latin typeface="맑은 고딕"/>
              </a:rPr>
              <a:t>WHY 1</a:t>
            </a:r>
          </a:p>
        </p:txBody>
      </p:sp>
      <p:sp>
        <p:nvSpPr>
          <p:cNvPr id="399" name="TextBox 398">
            <a:extLst>
              <a:ext uri="{FF2B5EF4-FFF2-40B4-BE49-F238E27FC236}">
                <a16:creationId xmlns:a16="http://schemas.microsoft.com/office/drawing/2014/main" id="{C57CA5C9-B949-A87F-0C4D-E62460C925CB}"/>
              </a:ext>
            </a:extLst>
          </p:cNvPr>
          <p:cNvSpPr txBox="1"/>
          <p:nvPr/>
        </p:nvSpPr>
        <p:spPr>
          <a:xfrm>
            <a:off x="7827263" y="2304288"/>
            <a:ext cx="3611879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1" i="0">
                <a:solidFill>
                  <a:srgbClr val="1A1D1B"/>
                </a:solidFill>
                <a:latin typeface="맑은 고딕"/>
              </a:rPr>
              <a:t>왜 안 어울리나?</a:t>
            </a:r>
          </a:p>
        </p:txBody>
      </p:sp>
      <p:sp>
        <p:nvSpPr>
          <p:cNvPr id="401" name="TextBox 400">
            <a:extLst>
              <a:ext uri="{FF2B5EF4-FFF2-40B4-BE49-F238E27FC236}">
                <a16:creationId xmlns:a16="http://schemas.microsoft.com/office/drawing/2014/main" id="{49C58D1B-E3E4-7BD8-366B-D73257CD4618}"/>
              </a:ext>
            </a:extLst>
          </p:cNvPr>
          <p:cNvSpPr txBox="1"/>
          <p:nvPr/>
        </p:nvSpPr>
        <p:spPr>
          <a:xfrm>
            <a:off x="7827263" y="2496312"/>
            <a:ext cx="3611879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5B615D"/>
                </a:solidFill>
                <a:latin typeface="맑은 고딕"/>
              </a:rPr>
              <a:t>→ 모델 체형 기준의 코디라 내 체형에선 다르게 나타남</a:t>
            </a:r>
          </a:p>
        </p:txBody>
      </p:sp>
      <p:sp>
        <p:nvSpPr>
          <p:cNvPr id="403" name="Down Arrow 43">
            <a:extLst>
              <a:ext uri="{FF2B5EF4-FFF2-40B4-BE49-F238E27FC236}">
                <a16:creationId xmlns:a16="http://schemas.microsoft.com/office/drawing/2014/main" id="{1C539B7F-19FE-C6F9-A76C-BDB9F6B8A641}"/>
              </a:ext>
            </a:extLst>
          </p:cNvPr>
          <p:cNvSpPr/>
          <p:nvPr/>
        </p:nvSpPr>
        <p:spPr>
          <a:xfrm>
            <a:off x="8069579" y="2782519"/>
            <a:ext cx="137160" cy="82296"/>
          </a:xfrm>
          <a:prstGeom prst="downArrow">
            <a:avLst/>
          </a:prstGeom>
          <a:solidFill>
            <a:srgbClr val="E1E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5" name="Rounded Rectangle 44">
            <a:extLst>
              <a:ext uri="{FF2B5EF4-FFF2-40B4-BE49-F238E27FC236}">
                <a16:creationId xmlns:a16="http://schemas.microsoft.com/office/drawing/2014/main" id="{D825CE3E-C884-16BF-D359-239E34C4F26D}"/>
              </a:ext>
            </a:extLst>
          </p:cNvPr>
          <p:cNvSpPr/>
          <p:nvPr/>
        </p:nvSpPr>
        <p:spPr>
          <a:xfrm>
            <a:off x="7717536" y="2907792"/>
            <a:ext cx="3867911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7" name="TextBox 406">
            <a:extLst>
              <a:ext uri="{FF2B5EF4-FFF2-40B4-BE49-F238E27FC236}">
                <a16:creationId xmlns:a16="http://schemas.microsoft.com/office/drawing/2014/main" id="{85396B36-101B-9716-3FC5-B55E950494B1}"/>
              </a:ext>
            </a:extLst>
          </p:cNvPr>
          <p:cNvSpPr txBox="1"/>
          <p:nvPr/>
        </p:nvSpPr>
        <p:spPr>
          <a:xfrm>
            <a:off x="7827263" y="2999232"/>
            <a:ext cx="566928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1" i="0">
                <a:solidFill>
                  <a:srgbClr val="B5654A"/>
                </a:solidFill>
                <a:latin typeface="맑은 고딕"/>
              </a:rPr>
              <a:t>WHY 2</a:t>
            </a:r>
          </a:p>
        </p:txBody>
      </p:sp>
      <p:sp>
        <p:nvSpPr>
          <p:cNvPr id="409" name="TextBox 408">
            <a:extLst>
              <a:ext uri="{FF2B5EF4-FFF2-40B4-BE49-F238E27FC236}">
                <a16:creationId xmlns:a16="http://schemas.microsoft.com/office/drawing/2014/main" id="{F71EE3B0-8EFD-C4A0-ACE6-F0C5145AABAF}"/>
              </a:ext>
            </a:extLst>
          </p:cNvPr>
          <p:cNvSpPr txBox="1"/>
          <p:nvPr/>
        </p:nvSpPr>
        <p:spPr>
          <a:xfrm>
            <a:off x="7827263" y="3182112"/>
            <a:ext cx="3611879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1" i="0">
                <a:solidFill>
                  <a:srgbClr val="1A1D1B"/>
                </a:solidFill>
                <a:latin typeface="맑은 고딕"/>
              </a:rPr>
              <a:t>왜 내 체형에 맞게 못 고르나?</a:t>
            </a:r>
          </a:p>
        </p:txBody>
      </p:sp>
      <p:sp>
        <p:nvSpPr>
          <p:cNvPr id="411" name="TextBox 410">
            <a:extLst>
              <a:ext uri="{FF2B5EF4-FFF2-40B4-BE49-F238E27FC236}">
                <a16:creationId xmlns:a16="http://schemas.microsoft.com/office/drawing/2014/main" id="{35773024-D9C0-0A13-4EE3-CE14AB57DBE4}"/>
              </a:ext>
            </a:extLst>
          </p:cNvPr>
          <p:cNvSpPr txBox="1"/>
          <p:nvPr/>
        </p:nvSpPr>
        <p:spPr>
          <a:xfrm>
            <a:off x="7827263" y="3374136"/>
            <a:ext cx="3611879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5B615D"/>
                </a:solidFill>
                <a:latin typeface="맑은 고딕"/>
              </a:rPr>
              <a:t>→ 내 체형에 뭐가 어울리는지 판단할 기준이 없어서</a:t>
            </a:r>
          </a:p>
        </p:txBody>
      </p:sp>
      <p:sp>
        <p:nvSpPr>
          <p:cNvPr id="413" name="Down Arrow 48">
            <a:extLst>
              <a:ext uri="{FF2B5EF4-FFF2-40B4-BE49-F238E27FC236}">
                <a16:creationId xmlns:a16="http://schemas.microsoft.com/office/drawing/2014/main" id="{EAB900C1-5598-3944-82A9-73DEB8F4D1AF}"/>
              </a:ext>
            </a:extLst>
          </p:cNvPr>
          <p:cNvSpPr/>
          <p:nvPr/>
        </p:nvSpPr>
        <p:spPr>
          <a:xfrm>
            <a:off x="8069579" y="3660343"/>
            <a:ext cx="137160" cy="82296"/>
          </a:xfrm>
          <a:prstGeom prst="downArrow">
            <a:avLst/>
          </a:prstGeom>
          <a:solidFill>
            <a:srgbClr val="E1E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5" name="Rounded Rectangle 49">
            <a:extLst>
              <a:ext uri="{FF2B5EF4-FFF2-40B4-BE49-F238E27FC236}">
                <a16:creationId xmlns:a16="http://schemas.microsoft.com/office/drawing/2014/main" id="{9AF13452-0951-2632-1AFE-B8B17E558915}"/>
              </a:ext>
            </a:extLst>
          </p:cNvPr>
          <p:cNvSpPr/>
          <p:nvPr/>
        </p:nvSpPr>
        <p:spPr>
          <a:xfrm>
            <a:off x="7717536" y="3785616"/>
            <a:ext cx="3867911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7" name="TextBox 416">
            <a:extLst>
              <a:ext uri="{FF2B5EF4-FFF2-40B4-BE49-F238E27FC236}">
                <a16:creationId xmlns:a16="http://schemas.microsoft.com/office/drawing/2014/main" id="{525857C5-C846-F6EC-31A5-96D006D58A1D}"/>
              </a:ext>
            </a:extLst>
          </p:cNvPr>
          <p:cNvSpPr txBox="1"/>
          <p:nvPr/>
        </p:nvSpPr>
        <p:spPr>
          <a:xfrm>
            <a:off x="7827263" y="3877056"/>
            <a:ext cx="566928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1" i="0">
                <a:solidFill>
                  <a:srgbClr val="B5654A"/>
                </a:solidFill>
                <a:latin typeface="맑은 고딕"/>
              </a:rPr>
              <a:t>WHY 3</a:t>
            </a:r>
          </a:p>
        </p:txBody>
      </p:sp>
      <p:sp>
        <p:nvSpPr>
          <p:cNvPr id="419" name="TextBox 418">
            <a:extLst>
              <a:ext uri="{FF2B5EF4-FFF2-40B4-BE49-F238E27FC236}">
                <a16:creationId xmlns:a16="http://schemas.microsoft.com/office/drawing/2014/main" id="{E4CD017E-B190-9C34-2C93-848C585FFD44}"/>
              </a:ext>
            </a:extLst>
          </p:cNvPr>
          <p:cNvSpPr txBox="1"/>
          <p:nvPr/>
        </p:nvSpPr>
        <p:spPr>
          <a:xfrm>
            <a:off x="7827263" y="4059936"/>
            <a:ext cx="3611879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1" i="0">
                <a:solidFill>
                  <a:srgbClr val="1A1D1B"/>
                </a:solidFill>
                <a:latin typeface="맑은 고딕"/>
              </a:rPr>
              <a:t>왜 그 기준이 없나?</a:t>
            </a:r>
          </a:p>
        </p:txBody>
      </p:sp>
      <p:sp>
        <p:nvSpPr>
          <p:cNvPr id="421" name="TextBox 420">
            <a:extLst>
              <a:ext uri="{FF2B5EF4-FFF2-40B4-BE49-F238E27FC236}">
                <a16:creationId xmlns:a16="http://schemas.microsoft.com/office/drawing/2014/main" id="{64DB18AA-558C-3333-9541-35BFE134AC37}"/>
              </a:ext>
            </a:extLst>
          </p:cNvPr>
          <p:cNvSpPr txBox="1"/>
          <p:nvPr/>
        </p:nvSpPr>
        <p:spPr>
          <a:xfrm>
            <a:off x="7827263" y="4251960"/>
            <a:ext cx="3611879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5B615D"/>
                </a:solidFill>
                <a:latin typeface="맑은 고딕"/>
              </a:rPr>
              <a:t>→ 어울림은 체형·상황·취향이 섞여 정답이 하나로 정해지지 않음</a:t>
            </a:r>
          </a:p>
        </p:txBody>
      </p:sp>
      <p:sp>
        <p:nvSpPr>
          <p:cNvPr id="423" name="Rounded Rectangle 53">
            <a:extLst>
              <a:ext uri="{FF2B5EF4-FFF2-40B4-BE49-F238E27FC236}">
                <a16:creationId xmlns:a16="http://schemas.microsoft.com/office/drawing/2014/main" id="{B740AC23-7B4A-2FB9-D3CC-7D3AC953E36D}"/>
              </a:ext>
            </a:extLst>
          </p:cNvPr>
          <p:cNvSpPr/>
          <p:nvPr/>
        </p:nvSpPr>
        <p:spPr>
          <a:xfrm>
            <a:off x="7717536" y="4681728"/>
            <a:ext cx="3867911" cy="603504"/>
          </a:xfrm>
          <a:prstGeom prst="roundRect">
            <a:avLst/>
          </a:prstGeom>
          <a:solidFill>
            <a:srgbClr val="F4F2EF"/>
          </a:solidFill>
          <a:ln w="15875">
            <a:solidFill>
              <a:srgbClr val="8B90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5" name="TextBox 424">
            <a:extLst>
              <a:ext uri="{FF2B5EF4-FFF2-40B4-BE49-F238E27FC236}">
                <a16:creationId xmlns:a16="http://schemas.microsoft.com/office/drawing/2014/main" id="{BDBB9DFC-8F96-C5A4-B7DB-7AE08476260C}"/>
              </a:ext>
            </a:extLst>
          </p:cNvPr>
          <p:cNvSpPr txBox="1"/>
          <p:nvPr/>
        </p:nvSpPr>
        <p:spPr>
          <a:xfrm>
            <a:off x="7827263" y="4764024"/>
            <a:ext cx="3611879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 i="0">
                <a:solidFill>
                  <a:srgbClr val="5B615D"/>
                </a:solidFill>
                <a:latin typeface="맑은 고딕"/>
              </a:rPr>
              <a:t>🚧  여기서 멈춘다</a:t>
            </a:r>
          </a:p>
        </p:txBody>
      </p:sp>
      <p:sp>
        <p:nvSpPr>
          <p:cNvPr id="427" name="TextBox 426">
            <a:extLst>
              <a:ext uri="{FF2B5EF4-FFF2-40B4-BE49-F238E27FC236}">
                <a16:creationId xmlns:a16="http://schemas.microsoft.com/office/drawing/2014/main" id="{A2533E94-C928-8696-18B8-13E91E00F332}"/>
              </a:ext>
            </a:extLst>
          </p:cNvPr>
          <p:cNvSpPr txBox="1"/>
          <p:nvPr/>
        </p:nvSpPr>
        <p:spPr>
          <a:xfrm>
            <a:off x="7827263" y="4965192"/>
            <a:ext cx="3611879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8B908B"/>
                </a:solidFill>
                <a:latin typeface="맑은 고딕"/>
              </a:rPr>
              <a:t>‘취향’은 규칙으로 계산되지 않는다</a:t>
            </a:r>
          </a:p>
        </p:txBody>
      </p:sp>
      <p:sp>
        <p:nvSpPr>
          <p:cNvPr id="429" name="Rounded Rectangle 56">
            <a:extLst>
              <a:ext uri="{FF2B5EF4-FFF2-40B4-BE49-F238E27FC236}">
                <a16:creationId xmlns:a16="http://schemas.microsoft.com/office/drawing/2014/main" id="{79345FC7-5580-E05C-1CEA-04E309199CCD}"/>
              </a:ext>
            </a:extLst>
          </p:cNvPr>
          <p:cNvSpPr/>
          <p:nvPr/>
        </p:nvSpPr>
        <p:spPr>
          <a:xfrm>
            <a:off x="457200" y="5577840"/>
            <a:ext cx="5404104" cy="658368"/>
          </a:xfrm>
          <a:prstGeom prst="roundRect">
            <a:avLst/>
          </a:prstGeom>
          <a:solidFill>
            <a:srgbClr val="EAF1ED"/>
          </a:solidFill>
          <a:ln w="15875">
            <a:solidFill>
              <a:srgbClr val="2E4A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1" name="TextBox 430">
            <a:extLst>
              <a:ext uri="{FF2B5EF4-FFF2-40B4-BE49-F238E27FC236}">
                <a16:creationId xmlns:a16="http://schemas.microsoft.com/office/drawing/2014/main" id="{03133B70-405E-7038-86C5-38CA847E6865}"/>
              </a:ext>
            </a:extLst>
          </p:cNvPr>
          <p:cNvSpPr txBox="1"/>
          <p:nvPr/>
        </p:nvSpPr>
        <p:spPr>
          <a:xfrm>
            <a:off x="621792" y="5678424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2E4A3B"/>
                </a:solidFill>
                <a:latin typeface="맑은 고딕"/>
              </a:rPr>
              <a:t>A · 사이즈 — 정답이 있는 문제</a:t>
            </a:r>
          </a:p>
        </p:txBody>
      </p:sp>
      <p:sp>
        <p:nvSpPr>
          <p:cNvPr id="433" name="TextBox 432">
            <a:extLst>
              <a:ext uri="{FF2B5EF4-FFF2-40B4-BE49-F238E27FC236}">
                <a16:creationId xmlns:a16="http://schemas.microsoft.com/office/drawing/2014/main" id="{82DB4667-11A2-3918-8926-D6A826803BFC}"/>
              </a:ext>
            </a:extLst>
          </p:cNvPr>
          <p:cNvSpPr txBox="1"/>
          <p:nvPr/>
        </p:nvSpPr>
        <p:spPr>
          <a:xfrm>
            <a:off x="621792" y="5888736"/>
            <a:ext cx="50292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1A1D1B"/>
                </a:solidFill>
                <a:latin typeface="맑은 고딕"/>
              </a:rPr>
              <a:t>파고들면 ‘치수’라는 정답에 닿는다</a:t>
            </a:r>
          </a:p>
        </p:txBody>
      </p:sp>
      <p:sp>
        <p:nvSpPr>
          <p:cNvPr id="435" name="Rounded Rectangle 59">
            <a:extLst>
              <a:ext uri="{FF2B5EF4-FFF2-40B4-BE49-F238E27FC236}">
                <a16:creationId xmlns:a16="http://schemas.microsoft.com/office/drawing/2014/main" id="{A4C6A1EE-3298-F3C9-7CFB-E777BAF0E8C4}"/>
              </a:ext>
            </a:extLst>
          </p:cNvPr>
          <p:cNvSpPr/>
          <p:nvPr/>
        </p:nvSpPr>
        <p:spPr>
          <a:xfrm>
            <a:off x="6327648" y="5577840"/>
            <a:ext cx="5404104" cy="658368"/>
          </a:xfrm>
          <a:prstGeom prst="roundRect">
            <a:avLst/>
          </a:prstGeom>
          <a:solidFill>
            <a:srgbClr val="FBEFEA"/>
          </a:solidFill>
          <a:ln w="15875">
            <a:solidFill>
              <a:srgbClr val="B565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7" name="TextBox 436">
            <a:extLst>
              <a:ext uri="{FF2B5EF4-FFF2-40B4-BE49-F238E27FC236}">
                <a16:creationId xmlns:a16="http://schemas.microsoft.com/office/drawing/2014/main" id="{0B96609A-F1EC-A7E0-1AB8-9D4F17065F5F}"/>
              </a:ext>
            </a:extLst>
          </p:cNvPr>
          <p:cNvSpPr txBox="1"/>
          <p:nvPr/>
        </p:nvSpPr>
        <p:spPr>
          <a:xfrm>
            <a:off x="6492240" y="5678424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B5654A"/>
                </a:solidFill>
                <a:latin typeface="맑은 고딕"/>
              </a:rPr>
              <a:t>B · 스타일 — 정답이 없는 문제</a:t>
            </a:r>
          </a:p>
        </p:txBody>
      </p:sp>
      <p:sp>
        <p:nvSpPr>
          <p:cNvPr id="439" name="TextBox 438">
            <a:extLst>
              <a:ext uri="{FF2B5EF4-FFF2-40B4-BE49-F238E27FC236}">
                <a16:creationId xmlns:a16="http://schemas.microsoft.com/office/drawing/2014/main" id="{5EF865CB-FBA5-F892-2D56-730C54304968}"/>
              </a:ext>
            </a:extLst>
          </p:cNvPr>
          <p:cNvSpPr txBox="1"/>
          <p:nvPr/>
        </p:nvSpPr>
        <p:spPr>
          <a:xfrm>
            <a:off x="6492240" y="5888736"/>
            <a:ext cx="50292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1A1D1B"/>
                </a:solidFill>
                <a:latin typeface="맑은 고딕"/>
              </a:rPr>
              <a:t>파고들면 ‘취향’에서 멈춘다</a:t>
            </a:r>
          </a:p>
        </p:txBody>
      </p:sp>
      <p:sp>
        <p:nvSpPr>
          <p:cNvPr id="441" name="TextBox 440">
            <a:extLst>
              <a:ext uri="{FF2B5EF4-FFF2-40B4-BE49-F238E27FC236}">
                <a16:creationId xmlns:a16="http://schemas.microsoft.com/office/drawing/2014/main" id="{5B1C822B-0171-B1C5-9FBB-C7BEBFE75BCA}"/>
              </a:ext>
            </a:extLst>
          </p:cNvPr>
          <p:cNvSpPr txBox="1"/>
          <p:nvPr/>
        </p:nvSpPr>
        <p:spPr>
          <a:xfrm>
            <a:off x="457200" y="6355080"/>
            <a:ext cx="1124712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 i="0">
                <a:solidFill>
                  <a:srgbClr val="B8842B"/>
                </a:solidFill>
                <a:latin typeface="맑은 고딕"/>
              </a:rPr>
              <a:t>→ 다음 장 문제정의(HMW) : “어떻게 하면 치수를 재지 않고도, 안 입어본 브랜드에서 내 사이즈를 알 수 있을까?”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TextBox 1">
            <a:extLst>
              <a:ext uri="{FF2B5EF4-FFF2-40B4-BE49-F238E27FC236}">
                <a16:creationId xmlns:a16="http://schemas.microsoft.com/office/drawing/2014/main" id="{D506F6FA-A40E-2B13-A1CE-24238DE9826D}"/>
              </a:ext>
            </a:extLst>
          </p:cNvPr>
          <p:cNvSpPr txBox="1"/>
          <p:nvPr/>
        </p:nvSpPr>
        <p:spPr>
          <a:xfrm>
            <a:off x="458724" y="521208"/>
            <a:ext cx="54864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950" b="1">
                <a:solidFill>
                  <a:srgbClr val="8B908B"/>
                </a:solidFill>
                <a:latin typeface="맑은 고딕"/>
              </a:rPr>
              <a:t>PROBLEM DEFINITION</a:t>
            </a:r>
          </a:p>
        </p:txBody>
      </p:sp>
      <p:sp>
        <p:nvSpPr>
          <p:cNvPr id="99" name="TextBox 2">
            <a:extLst>
              <a:ext uri="{FF2B5EF4-FFF2-40B4-BE49-F238E27FC236}">
                <a16:creationId xmlns:a16="http://schemas.microsoft.com/office/drawing/2014/main" id="{AA18E168-1A44-9A74-2122-CFD64E478F61}"/>
              </a:ext>
            </a:extLst>
          </p:cNvPr>
          <p:cNvSpPr txBox="1"/>
          <p:nvPr/>
        </p:nvSpPr>
        <p:spPr>
          <a:xfrm>
            <a:off x="458724" y="722376"/>
            <a:ext cx="96012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2600" b="1">
                <a:solidFill>
                  <a:srgbClr val="1A1D1B"/>
                </a:solidFill>
                <a:latin typeface="맑은 고딕"/>
              </a:rPr>
              <a:t>하나의 문제, 두 개의 벽</a:t>
            </a:r>
          </a:p>
        </p:txBody>
      </p:sp>
      <p:sp>
        <p:nvSpPr>
          <p:cNvPr id="100" name="Rounded Rectangle 3">
            <a:extLst>
              <a:ext uri="{FF2B5EF4-FFF2-40B4-BE49-F238E27FC236}">
                <a16:creationId xmlns:a16="http://schemas.microsoft.com/office/drawing/2014/main" id="{16570C7F-99C2-E13F-D8AD-6B00D07B8088}"/>
              </a:ext>
            </a:extLst>
          </p:cNvPr>
          <p:cNvSpPr/>
          <p:nvPr/>
        </p:nvSpPr>
        <p:spPr>
          <a:xfrm>
            <a:off x="458724" y="1508760"/>
            <a:ext cx="11274552" cy="987552"/>
          </a:xfrm>
          <a:prstGeom prst="roundRect">
            <a:avLst/>
          </a:prstGeom>
          <a:solidFill>
            <a:srgbClr val="2E4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01" name="TextBox 4">
            <a:extLst>
              <a:ext uri="{FF2B5EF4-FFF2-40B4-BE49-F238E27FC236}">
                <a16:creationId xmlns:a16="http://schemas.microsoft.com/office/drawing/2014/main" id="{3F8F9FC9-79E0-128D-955F-D3ABC680D975}"/>
              </a:ext>
            </a:extLst>
          </p:cNvPr>
          <p:cNvSpPr txBox="1"/>
          <p:nvPr/>
        </p:nvSpPr>
        <p:spPr>
          <a:xfrm>
            <a:off x="458724" y="1673352"/>
            <a:ext cx="11274552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950" b="1">
                <a:solidFill>
                  <a:srgbClr val="9CC3AE"/>
                </a:solidFill>
                <a:latin typeface="맑은 고딕"/>
              </a:rPr>
              <a:t>핵심 문제</a:t>
            </a:r>
          </a:p>
        </p:txBody>
      </p:sp>
      <p:sp>
        <p:nvSpPr>
          <p:cNvPr id="102" name="TextBox 5">
            <a:extLst>
              <a:ext uri="{FF2B5EF4-FFF2-40B4-BE49-F238E27FC236}">
                <a16:creationId xmlns:a16="http://schemas.microsoft.com/office/drawing/2014/main" id="{B4AAF2A4-F544-83DA-ECD3-414D9625FADB}"/>
              </a:ext>
            </a:extLst>
          </p:cNvPr>
          <p:cNvSpPr txBox="1"/>
          <p:nvPr/>
        </p:nvSpPr>
        <p:spPr>
          <a:xfrm>
            <a:off x="458724" y="1911096"/>
            <a:ext cx="11274552" cy="420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2300" b="1">
                <a:solidFill>
                  <a:srgbClr val="FFFFFF"/>
                </a:solidFill>
                <a:latin typeface="맑은 고딕"/>
              </a:rPr>
              <a:t>“새 옷을 확신하고 사지 못한다 —  사이즈도, 스타일도.”</a:t>
            </a:r>
          </a:p>
        </p:txBody>
      </p:sp>
      <p:sp>
        <p:nvSpPr>
          <p:cNvPr id="103" name="Down Arrow 6">
            <a:extLst>
              <a:ext uri="{FF2B5EF4-FFF2-40B4-BE49-F238E27FC236}">
                <a16:creationId xmlns:a16="http://schemas.microsoft.com/office/drawing/2014/main" id="{71D223F9-0DCE-4821-0439-9C8A2F919D8D}"/>
              </a:ext>
            </a:extLst>
          </p:cNvPr>
          <p:cNvSpPr/>
          <p:nvPr/>
        </p:nvSpPr>
        <p:spPr>
          <a:xfrm>
            <a:off x="3073908" y="2587752"/>
            <a:ext cx="164592" cy="274320"/>
          </a:xfrm>
          <a:prstGeom prst="downArrow">
            <a:avLst/>
          </a:prstGeom>
          <a:solidFill>
            <a:srgbClr val="E1E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04" name="Down Arrow 7">
            <a:extLst>
              <a:ext uri="{FF2B5EF4-FFF2-40B4-BE49-F238E27FC236}">
                <a16:creationId xmlns:a16="http://schemas.microsoft.com/office/drawing/2014/main" id="{FD953765-ACF6-FC96-C8E0-8F4A446FD6CE}"/>
              </a:ext>
            </a:extLst>
          </p:cNvPr>
          <p:cNvSpPr/>
          <p:nvPr/>
        </p:nvSpPr>
        <p:spPr>
          <a:xfrm>
            <a:off x="8953500" y="2587752"/>
            <a:ext cx="164592" cy="274320"/>
          </a:xfrm>
          <a:prstGeom prst="downArrow">
            <a:avLst/>
          </a:prstGeom>
          <a:solidFill>
            <a:srgbClr val="E1E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05" name="Rounded Rectangle 8">
            <a:extLst>
              <a:ext uri="{FF2B5EF4-FFF2-40B4-BE49-F238E27FC236}">
                <a16:creationId xmlns:a16="http://schemas.microsoft.com/office/drawing/2014/main" id="{20A66DCA-DCDA-372E-AD3B-55572E266D27}"/>
              </a:ext>
            </a:extLst>
          </p:cNvPr>
          <p:cNvSpPr/>
          <p:nvPr/>
        </p:nvSpPr>
        <p:spPr>
          <a:xfrm>
            <a:off x="458724" y="3008376"/>
            <a:ext cx="5404104" cy="283464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2E4A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06" name="Rounded Rectangle 9">
            <a:extLst>
              <a:ext uri="{FF2B5EF4-FFF2-40B4-BE49-F238E27FC236}">
                <a16:creationId xmlns:a16="http://schemas.microsoft.com/office/drawing/2014/main" id="{630FEED0-60BA-D529-7DC9-275891A5BF0A}"/>
              </a:ext>
            </a:extLst>
          </p:cNvPr>
          <p:cNvSpPr/>
          <p:nvPr/>
        </p:nvSpPr>
        <p:spPr>
          <a:xfrm>
            <a:off x="458724" y="3008376"/>
            <a:ext cx="5404104" cy="420624"/>
          </a:xfrm>
          <a:prstGeom prst="roundRect">
            <a:avLst/>
          </a:prstGeom>
          <a:solidFill>
            <a:srgbClr val="EA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07" name="TextBox 10">
            <a:extLst>
              <a:ext uri="{FF2B5EF4-FFF2-40B4-BE49-F238E27FC236}">
                <a16:creationId xmlns:a16="http://schemas.microsoft.com/office/drawing/2014/main" id="{389B89AE-E954-80D0-27BB-D8945442C2E3}"/>
              </a:ext>
            </a:extLst>
          </p:cNvPr>
          <p:cNvSpPr txBox="1"/>
          <p:nvPr/>
        </p:nvSpPr>
        <p:spPr>
          <a:xfrm>
            <a:off x="659892" y="3108960"/>
            <a:ext cx="292608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150" b="1">
                <a:solidFill>
                  <a:srgbClr val="2E4A3B"/>
                </a:solidFill>
                <a:latin typeface="맑은 고딕"/>
              </a:rPr>
              <a:t>A · 사이즈 축</a:t>
            </a:r>
          </a:p>
        </p:txBody>
      </p:sp>
      <p:sp>
        <p:nvSpPr>
          <p:cNvPr id="108" name="TextBox 11">
            <a:extLst>
              <a:ext uri="{FF2B5EF4-FFF2-40B4-BE49-F238E27FC236}">
                <a16:creationId xmlns:a16="http://schemas.microsoft.com/office/drawing/2014/main" id="{4478480E-0D11-911D-7262-D8F4B2A5F0A2}"/>
              </a:ext>
            </a:extLst>
          </p:cNvPr>
          <p:cNvSpPr txBox="1"/>
          <p:nvPr/>
        </p:nvSpPr>
        <p:spPr>
          <a:xfrm>
            <a:off x="3576828" y="3127248"/>
            <a:ext cx="210312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sz="950" b="1">
                <a:solidFill>
                  <a:srgbClr val="8B908B"/>
                </a:solidFill>
                <a:latin typeface="맑은 고딕"/>
              </a:rPr>
              <a:t>자체 설문 n=31 · 38%</a:t>
            </a:r>
          </a:p>
        </p:txBody>
      </p:sp>
      <p:sp>
        <p:nvSpPr>
          <p:cNvPr id="109" name="TextBox 12">
            <a:extLst>
              <a:ext uri="{FF2B5EF4-FFF2-40B4-BE49-F238E27FC236}">
                <a16:creationId xmlns:a16="http://schemas.microsoft.com/office/drawing/2014/main" id="{192C6220-9294-BFF6-35B9-3E0CD2EEDB27}"/>
              </a:ext>
            </a:extLst>
          </p:cNvPr>
          <p:cNvSpPr txBox="1"/>
          <p:nvPr/>
        </p:nvSpPr>
        <p:spPr>
          <a:xfrm>
            <a:off x="659892" y="3630168"/>
            <a:ext cx="5001768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950" b="1">
                <a:solidFill>
                  <a:srgbClr val="8B908B"/>
                </a:solidFill>
                <a:latin typeface="맑은 고딕"/>
              </a:rPr>
              <a:t>HOW MIGHT WE</a:t>
            </a:r>
          </a:p>
        </p:txBody>
      </p:sp>
      <p:sp>
        <p:nvSpPr>
          <p:cNvPr id="110" name="TextBox 13">
            <a:extLst>
              <a:ext uri="{FF2B5EF4-FFF2-40B4-BE49-F238E27FC236}">
                <a16:creationId xmlns:a16="http://schemas.microsoft.com/office/drawing/2014/main" id="{212CB4FC-0833-957E-46D0-722DD32BF0F1}"/>
              </a:ext>
            </a:extLst>
          </p:cNvPr>
          <p:cNvSpPr txBox="1"/>
          <p:nvPr/>
        </p:nvSpPr>
        <p:spPr>
          <a:xfrm>
            <a:off x="659892" y="3886199"/>
            <a:ext cx="5001768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700" b="1">
                <a:solidFill>
                  <a:srgbClr val="1A1D1B"/>
                </a:solidFill>
                <a:latin typeface="맑은 고딕"/>
              </a:rPr>
              <a:t>“치수를 재지 않고도, 안 입어본</a:t>
            </a:r>
          </a:p>
        </p:txBody>
      </p:sp>
      <p:sp>
        <p:nvSpPr>
          <p:cNvPr id="111" name="TextBox 14">
            <a:extLst>
              <a:ext uri="{FF2B5EF4-FFF2-40B4-BE49-F238E27FC236}">
                <a16:creationId xmlns:a16="http://schemas.microsoft.com/office/drawing/2014/main" id="{D3B0BF47-ADB6-D506-B9D8-90E3A6EA2F56}"/>
              </a:ext>
            </a:extLst>
          </p:cNvPr>
          <p:cNvSpPr txBox="1"/>
          <p:nvPr/>
        </p:nvSpPr>
        <p:spPr>
          <a:xfrm>
            <a:off x="659892" y="4197096"/>
            <a:ext cx="5001768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700" b="1">
                <a:solidFill>
                  <a:srgbClr val="1A1D1B"/>
                </a:solidFill>
                <a:latin typeface="맑은 고딕"/>
              </a:rPr>
              <a:t>브랜드에서 내 사이즈를 알 수 있을까?”</a:t>
            </a:r>
          </a:p>
        </p:txBody>
      </p:sp>
      <p:sp>
        <p:nvSpPr>
          <p:cNvPr id="112" name="Rounded Rectangle 15">
            <a:extLst>
              <a:ext uri="{FF2B5EF4-FFF2-40B4-BE49-F238E27FC236}">
                <a16:creationId xmlns:a16="http://schemas.microsoft.com/office/drawing/2014/main" id="{35559168-841A-ED6B-E2E3-BB0B8EEB0EF8}"/>
              </a:ext>
            </a:extLst>
          </p:cNvPr>
          <p:cNvSpPr/>
          <p:nvPr/>
        </p:nvSpPr>
        <p:spPr>
          <a:xfrm>
            <a:off x="659892" y="4965192"/>
            <a:ext cx="5001768" cy="566928"/>
          </a:xfrm>
          <a:prstGeom prst="roundRect">
            <a:avLst/>
          </a:prstGeom>
          <a:solidFill>
            <a:srgbClr val="EA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13" name="TextBox 16">
            <a:extLst>
              <a:ext uri="{FF2B5EF4-FFF2-40B4-BE49-F238E27FC236}">
                <a16:creationId xmlns:a16="http://schemas.microsoft.com/office/drawing/2014/main" id="{71DB77CF-3061-679C-7B4C-2205910775AB}"/>
              </a:ext>
            </a:extLst>
          </p:cNvPr>
          <p:cNvSpPr txBox="1"/>
          <p:nvPr/>
        </p:nvSpPr>
        <p:spPr>
          <a:xfrm>
            <a:off x="659892" y="5148072"/>
            <a:ext cx="5001768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250" b="1">
                <a:solidFill>
                  <a:srgbClr val="2E4A3B"/>
                </a:solidFill>
                <a:latin typeface="맑은 고딕"/>
              </a:rPr>
              <a:t>정답이 있는 문제</a:t>
            </a:r>
          </a:p>
        </p:txBody>
      </p:sp>
      <p:sp>
        <p:nvSpPr>
          <p:cNvPr id="114" name="Rounded Rectangle 17">
            <a:extLst>
              <a:ext uri="{FF2B5EF4-FFF2-40B4-BE49-F238E27FC236}">
                <a16:creationId xmlns:a16="http://schemas.microsoft.com/office/drawing/2014/main" id="{1229C759-CC75-A95D-CB65-3BE6E203575B}"/>
              </a:ext>
            </a:extLst>
          </p:cNvPr>
          <p:cNvSpPr/>
          <p:nvPr/>
        </p:nvSpPr>
        <p:spPr>
          <a:xfrm>
            <a:off x="6329172" y="3008376"/>
            <a:ext cx="5404104" cy="283464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B565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15" name="Rounded Rectangle 18">
            <a:extLst>
              <a:ext uri="{FF2B5EF4-FFF2-40B4-BE49-F238E27FC236}">
                <a16:creationId xmlns:a16="http://schemas.microsoft.com/office/drawing/2014/main" id="{97021916-6FAC-C649-0EA8-8166D3184E13}"/>
              </a:ext>
            </a:extLst>
          </p:cNvPr>
          <p:cNvSpPr/>
          <p:nvPr/>
        </p:nvSpPr>
        <p:spPr>
          <a:xfrm>
            <a:off x="6329172" y="3008376"/>
            <a:ext cx="5404104" cy="420624"/>
          </a:xfrm>
          <a:prstGeom prst="roundRect">
            <a:avLst/>
          </a:prstGeom>
          <a:solidFill>
            <a:srgbClr val="FB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16" name="TextBox 19">
            <a:extLst>
              <a:ext uri="{FF2B5EF4-FFF2-40B4-BE49-F238E27FC236}">
                <a16:creationId xmlns:a16="http://schemas.microsoft.com/office/drawing/2014/main" id="{7ACE7575-1691-1EF6-8D69-9AFE8C089F22}"/>
              </a:ext>
            </a:extLst>
          </p:cNvPr>
          <p:cNvSpPr txBox="1"/>
          <p:nvPr/>
        </p:nvSpPr>
        <p:spPr>
          <a:xfrm>
            <a:off x="6530340" y="3108960"/>
            <a:ext cx="292608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150" b="1">
                <a:solidFill>
                  <a:srgbClr val="B5654A"/>
                </a:solidFill>
                <a:latin typeface="맑은 고딕"/>
              </a:rPr>
              <a:t>B · 스타일 축</a:t>
            </a:r>
          </a:p>
        </p:txBody>
      </p:sp>
      <p:sp>
        <p:nvSpPr>
          <p:cNvPr id="117" name="TextBox 20">
            <a:extLst>
              <a:ext uri="{FF2B5EF4-FFF2-40B4-BE49-F238E27FC236}">
                <a16:creationId xmlns:a16="http://schemas.microsoft.com/office/drawing/2014/main" id="{DE8FA006-EB33-85C3-A346-591609223E47}"/>
              </a:ext>
            </a:extLst>
          </p:cNvPr>
          <p:cNvSpPr txBox="1"/>
          <p:nvPr/>
        </p:nvSpPr>
        <p:spPr>
          <a:xfrm>
            <a:off x="9447276" y="3127248"/>
            <a:ext cx="210312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sz="950" b="1">
                <a:solidFill>
                  <a:srgbClr val="8B908B"/>
                </a:solidFill>
                <a:latin typeface="맑은 고딕"/>
              </a:rPr>
              <a:t>자체 설문 n=31 · 40%</a:t>
            </a:r>
          </a:p>
        </p:txBody>
      </p:sp>
      <p:sp>
        <p:nvSpPr>
          <p:cNvPr id="118" name="TextBox 21">
            <a:extLst>
              <a:ext uri="{FF2B5EF4-FFF2-40B4-BE49-F238E27FC236}">
                <a16:creationId xmlns:a16="http://schemas.microsoft.com/office/drawing/2014/main" id="{DC04DA29-0D0F-C8E6-5081-A5CB8066C241}"/>
              </a:ext>
            </a:extLst>
          </p:cNvPr>
          <p:cNvSpPr txBox="1"/>
          <p:nvPr/>
        </p:nvSpPr>
        <p:spPr>
          <a:xfrm>
            <a:off x="6530340" y="3630168"/>
            <a:ext cx="5001768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950" b="1">
                <a:solidFill>
                  <a:srgbClr val="8B908B"/>
                </a:solidFill>
                <a:latin typeface="맑은 고딕"/>
              </a:rPr>
              <a:t>HOW MIGHT WE</a:t>
            </a:r>
          </a:p>
        </p:txBody>
      </p:sp>
      <p:sp>
        <p:nvSpPr>
          <p:cNvPr id="119" name="TextBox 22">
            <a:extLst>
              <a:ext uri="{FF2B5EF4-FFF2-40B4-BE49-F238E27FC236}">
                <a16:creationId xmlns:a16="http://schemas.microsoft.com/office/drawing/2014/main" id="{04432784-23F6-3C2A-097E-D0DF7B1F521E}"/>
              </a:ext>
            </a:extLst>
          </p:cNvPr>
          <p:cNvSpPr txBox="1"/>
          <p:nvPr/>
        </p:nvSpPr>
        <p:spPr>
          <a:xfrm>
            <a:off x="6530340" y="3886199"/>
            <a:ext cx="5001768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700" b="1">
                <a:solidFill>
                  <a:srgbClr val="1A1D1B"/>
                </a:solidFill>
                <a:latin typeface="맑은 고딕"/>
              </a:rPr>
              <a:t>“나에게 어울리는지 판단할</a:t>
            </a:r>
          </a:p>
        </p:txBody>
      </p:sp>
      <p:sp>
        <p:nvSpPr>
          <p:cNvPr id="120" name="TextBox 23">
            <a:extLst>
              <a:ext uri="{FF2B5EF4-FFF2-40B4-BE49-F238E27FC236}">
                <a16:creationId xmlns:a16="http://schemas.microsoft.com/office/drawing/2014/main" id="{1717977B-1EA5-6FF0-5F7A-BF4E91D3A819}"/>
              </a:ext>
            </a:extLst>
          </p:cNvPr>
          <p:cNvSpPr txBox="1"/>
          <p:nvPr/>
        </p:nvSpPr>
        <p:spPr>
          <a:xfrm>
            <a:off x="6530340" y="4197096"/>
            <a:ext cx="5001768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700" b="1">
                <a:solidFill>
                  <a:srgbClr val="1A1D1B"/>
                </a:solidFill>
                <a:latin typeface="맑은 고딕"/>
              </a:rPr>
              <a:t>기준을 어떻게 줄 수 있을까?”</a:t>
            </a:r>
          </a:p>
        </p:txBody>
      </p:sp>
      <p:sp>
        <p:nvSpPr>
          <p:cNvPr id="121" name="Rounded Rectangle 24">
            <a:extLst>
              <a:ext uri="{FF2B5EF4-FFF2-40B4-BE49-F238E27FC236}">
                <a16:creationId xmlns:a16="http://schemas.microsoft.com/office/drawing/2014/main" id="{45F1CE94-09A2-FCE9-0725-63F49E31CFAE}"/>
              </a:ext>
            </a:extLst>
          </p:cNvPr>
          <p:cNvSpPr/>
          <p:nvPr/>
        </p:nvSpPr>
        <p:spPr>
          <a:xfrm>
            <a:off x="6530340" y="4965192"/>
            <a:ext cx="5001768" cy="566928"/>
          </a:xfrm>
          <a:prstGeom prst="roundRect">
            <a:avLst/>
          </a:prstGeom>
          <a:solidFill>
            <a:srgbClr val="FB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22" name="TextBox 25">
            <a:extLst>
              <a:ext uri="{FF2B5EF4-FFF2-40B4-BE49-F238E27FC236}">
                <a16:creationId xmlns:a16="http://schemas.microsoft.com/office/drawing/2014/main" id="{286A5552-C230-9158-EEAE-BD3C2822DD36}"/>
              </a:ext>
            </a:extLst>
          </p:cNvPr>
          <p:cNvSpPr txBox="1"/>
          <p:nvPr/>
        </p:nvSpPr>
        <p:spPr>
          <a:xfrm>
            <a:off x="6530340" y="5148072"/>
            <a:ext cx="5001768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250" b="1">
                <a:solidFill>
                  <a:srgbClr val="B5654A"/>
                </a:solidFill>
                <a:latin typeface="맑은 고딕"/>
              </a:rPr>
              <a:t>정답이 없는 문제</a:t>
            </a:r>
          </a:p>
        </p:txBody>
      </p:sp>
      <p:sp>
        <p:nvSpPr>
          <p:cNvPr id="123" name="TextBox 26">
            <a:extLst>
              <a:ext uri="{FF2B5EF4-FFF2-40B4-BE49-F238E27FC236}">
                <a16:creationId xmlns:a16="http://schemas.microsoft.com/office/drawing/2014/main" id="{BDB8B36D-0D7E-A9ED-BD22-6B79E0086902}"/>
              </a:ext>
            </a:extLst>
          </p:cNvPr>
          <p:cNvSpPr txBox="1"/>
          <p:nvPr/>
        </p:nvSpPr>
        <p:spPr>
          <a:xfrm>
            <a:off x="458724" y="6099048"/>
            <a:ext cx="11274552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100" b="0">
                <a:solidFill>
                  <a:srgbClr val="5B615D"/>
                </a:solidFill>
                <a:latin typeface="맑은 고딕"/>
              </a:rPr>
              <a:t>설문 → 저니맵 → 5 Whys가 이 두 문장으로 모인다.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">
            <a:extLst>
              <a:ext uri="{FF2B5EF4-FFF2-40B4-BE49-F238E27FC236}">
                <a16:creationId xmlns:a16="http://schemas.microsoft.com/office/drawing/2014/main" id="{3AAC6D58-6DA4-699D-E0B9-BD77474294CB}"/>
              </a:ext>
            </a:extLst>
          </p:cNvPr>
          <p:cNvSpPr txBox="1"/>
          <p:nvPr/>
        </p:nvSpPr>
        <p:spPr>
          <a:xfrm>
            <a:off x="458724" y="438912"/>
            <a:ext cx="54864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950" b="1">
                <a:solidFill>
                  <a:srgbClr val="8B908B"/>
                </a:solidFill>
                <a:latin typeface="맑은 고딕"/>
              </a:rPr>
              <a:t>SOLUTION</a:t>
            </a:r>
          </a:p>
        </p:txBody>
      </p:sp>
      <p:sp>
        <p:nvSpPr>
          <p:cNvPr id="9" name="TextBox 2">
            <a:extLst>
              <a:ext uri="{FF2B5EF4-FFF2-40B4-BE49-F238E27FC236}">
                <a16:creationId xmlns:a16="http://schemas.microsoft.com/office/drawing/2014/main" id="{DD632D03-34EA-FE8A-955F-257766E4F33C}"/>
              </a:ext>
            </a:extLst>
          </p:cNvPr>
          <p:cNvSpPr txBox="1"/>
          <p:nvPr/>
        </p:nvSpPr>
        <p:spPr>
          <a:xfrm>
            <a:off x="458724" y="640080"/>
            <a:ext cx="96012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2600" b="1">
                <a:solidFill>
                  <a:srgbClr val="1A1D1B"/>
                </a:solidFill>
                <a:latin typeface="맑은 고딕"/>
              </a:rPr>
              <a:t>성질이 다른 두 문제를, 다른 방법으로 푼다</a:t>
            </a:r>
          </a:p>
        </p:txBody>
      </p:sp>
      <p:sp>
        <p:nvSpPr>
          <p:cNvPr id="10" name="Rounded Rectangle 3">
            <a:extLst>
              <a:ext uri="{FF2B5EF4-FFF2-40B4-BE49-F238E27FC236}">
                <a16:creationId xmlns:a16="http://schemas.microsoft.com/office/drawing/2014/main" id="{045FCA51-34A8-7B48-0F34-5A8FA84C563E}"/>
              </a:ext>
            </a:extLst>
          </p:cNvPr>
          <p:cNvSpPr/>
          <p:nvPr/>
        </p:nvSpPr>
        <p:spPr>
          <a:xfrm>
            <a:off x="458724" y="1444752"/>
            <a:ext cx="11274552" cy="969264"/>
          </a:xfrm>
          <a:prstGeom prst="roundRect">
            <a:avLst/>
          </a:prstGeom>
          <a:solidFill>
            <a:srgbClr val="2E4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1" name="TextBox 4">
            <a:extLst>
              <a:ext uri="{FF2B5EF4-FFF2-40B4-BE49-F238E27FC236}">
                <a16:creationId xmlns:a16="http://schemas.microsoft.com/office/drawing/2014/main" id="{788197B6-260F-3BB8-1B84-43C8520B9333}"/>
              </a:ext>
            </a:extLst>
          </p:cNvPr>
          <p:cNvSpPr txBox="1"/>
          <p:nvPr/>
        </p:nvSpPr>
        <p:spPr>
          <a:xfrm>
            <a:off x="458724" y="1591056"/>
            <a:ext cx="11274552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950" b="1">
                <a:solidFill>
                  <a:srgbClr val="9CC3AE"/>
                </a:solidFill>
                <a:latin typeface="맑은 고딕"/>
              </a:rPr>
              <a:t>핏팅은</a:t>
            </a:r>
          </a:p>
        </p:txBody>
      </p:sp>
      <p:sp>
        <p:nvSpPr>
          <p:cNvPr id="12" name="TextBox 5">
            <a:extLst>
              <a:ext uri="{FF2B5EF4-FFF2-40B4-BE49-F238E27FC236}">
                <a16:creationId xmlns:a16="http://schemas.microsoft.com/office/drawing/2014/main" id="{F05ABBA8-D564-A65B-5516-2CAC05F6BF46}"/>
              </a:ext>
            </a:extLst>
          </p:cNvPr>
          <p:cNvSpPr txBox="1"/>
          <p:nvPr/>
        </p:nvSpPr>
        <p:spPr>
          <a:xfrm>
            <a:off x="458724" y="1810512"/>
            <a:ext cx="11274552" cy="420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2100" b="1">
                <a:solidFill>
                  <a:srgbClr val="FFFFFF"/>
                </a:solidFill>
                <a:latin typeface="맑은 고딕"/>
              </a:rPr>
              <a:t>“내 몸에 맞는 사이즈와,  나에게 어울리는 스타일을 함께 찾아주는 서비스”</a:t>
            </a:r>
          </a:p>
        </p:txBody>
      </p:sp>
      <p:sp>
        <p:nvSpPr>
          <p:cNvPr id="13" name="Rounded Rectangle 6">
            <a:extLst>
              <a:ext uri="{FF2B5EF4-FFF2-40B4-BE49-F238E27FC236}">
                <a16:creationId xmlns:a16="http://schemas.microsoft.com/office/drawing/2014/main" id="{8FB9D220-0773-BD70-A2AF-064DCCCEBA0E}"/>
              </a:ext>
            </a:extLst>
          </p:cNvPr>
          <p:cNvSpPr/>
          <p:nvPr/>
        </p:nvSpPr>
        <p:spPr>
          <a:xfrm>
            <a:off x="458724" y="2798064"/>
            <a:ext cx="5404104" cy="2761488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2E4A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4" name="TextBox 7">
            <a:extLst>
              <a:ext uri="{FF2B5EF4-FFF2-40B4-BE49-F238E27FC236}">
                <a16:creationId xmlns:a16="http://schemas.microsoft.com/office/drawing/2014/main" id="{033A6BD3-818B-F12A-8D4F-DC7A00848B02}"/>
              </a:ext>
            </a:extLst>
          </p:cNvPr>
          <p:cNvSpPr txBox="1"/>
          <p:nvPr/>
        </p:nvSpPr>
        <p:spPr>
          <a:xfrm>
            <a:off x="733044" y="3017520"/>
            <a:ext cx="4855464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200" b="1">
                <a:solidFill>
                  <a:srgbClr val="2E4A3B"/>
                </a:solidFill>
                <a:latin typeface="맑은 고딕"/>
              </a:rPr>
              <a:t>A · 사이즈</a:t>
            </a:r>
          </a:p>
        </p:txBody>
      </p:sp>
      <p:sp>
        <p:nvSpPr>
          <p:cNvPr id="15" name="TextBox 8">
            <a:extLst>
              <a:ext uri="{FF2B5EF4-FFF2-40B4-BE49-F238E27FC236}">
                <a16:creationId xmlns:a16="http://schemas.microsoft.com/office/drawing/2014/main" id="{5795EFB0-9708-9B5D-9899-FDFA8E1F48A7}"/>
              </a:ext>
            </a:extLst>
          </p:cNvPr>
          <p:cNvSpPr txBox="1"/>
          <p:nvPr/>
        </p:nvSpPr>
        <p:spPr>
          <a:xfrm>
            <a:off x="3485388" y="3035808"/>
            <a:ext cx="210312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sz="950" b="1">
                <a:solidFill>
                  <a:srgbClr val="8B908B"/>
                </a:solidFill>
                <a:latin typeface="맑은 고딕"/>
              </a:rPr>
              <a:t>설문 38%</a:t>
            </a:r>
          </a:p>
        </p:txBody>
      </p:sp>
      <p:sp>
        <p:nvSpPr>
          <p:cNvPr id="16" name="Rounded Rectangle 9">
            <a:extLst>
              <a:ext uri="{FF2B5EF4-FFF2-40B4-BE49-F238E27FC236}">
                <a16:creationId xmlns:a16="http://schemas.microsoft.com/office/drawing/2014/main" id="{BB11FF09-CCC5-15FF-DE1B-81C80D3D33B6}"/>
              </a:ext>
            </a:extLst>
          </p:cNvPr>
          <p:cNvSpPr/>
          <p:nvPr/>
        </p:nvSpPr>
        <p:spPr>
          <a:xfrm>
            <a:off x="733044" y="3364992"/>
            <a:ext cx="4855464" cy="475488"/>
          </a:xfrm>
          <a:prstGeom prst="roundRect">
            <a:avLst/>
          </a:prstGeom>
          <a:solidFill>
            <a:srgbClr val="EA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7" name="TextBox 10">
            <a:extLst>
              <a:ext uri="{FF2B5EF4-FFF2-40B4-BE49-F238E27FC236}">
                <a16:creationId xmlns:a16="http://schemas.microsoft.com/office/drawing/2014/main" id="{3660D137-BF82-060F-31B3-5BFC22E87434}"/>
              </a:ext>
            </a:extLst>
          </p:cNvPr>
          <p:cNvSpPr txBox="1"/>
          <p:nvPr/>
        </p:nvSpPr>
        <p:spPr>
          <a:xfrm>
            <a:off x="733044" y="3493008"/>
            <a:ext cx="4855464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300" b="1">
                <a:solidFill>
                  <a:srgbClr val="2E4A3B"/>
                </a:solidFill>
                <a:latin typeface="맑은 고딕"/>
              </a:rPr>
              <a:t>정답이 있다   →   도구로 푼다</a:t>
            </a:r>
          </a:p>
        </p:txBody>
      </p:sp>
      <p:sp>
        <p:nvSpPr>
          <p:cNvPr id="18" name="TextBox 11">
            <a:extLst>
              <a:ext uri="{FF2B5EF4-FFF2-40B4-BE49-F238E27FC236}">
                <a16:creationId xmlns:a16="http://schemas.microsoft.com/office/drawing/2014/main" id="{714646C5-A443-7582-4F1B-4902C6084C22}"/>
              </a:ext>
            </a:extLst>
          </p:cNvPr>
          <p:cNvSpPr txBox="1"/>
          <p:nvPr/>
        </p:nvSpPr>
        <p:spPr>
          <a:xfrm>
            <a:off x="733044" y="4041648"/>
            <a:ext cx="4855464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000" b="1">
                <a:solidFill>
                  <a:srgbClr val="8B908B"/>
                </a:solidFill>
                <a:latin typeface="맑은 고딕"/>
              </a:rPr>
              <a:t>MVP ①</a:t>
            </a:r>
          </a:p>
        </p:txBody>
      </p:sp>
      <p:sp>
        <p:nvSpPr>
          <p:cNvPr id="19" name="TextBox 12">
            <a:extLst>
              <a:ext uri="{FF2B5EF4-FFF2-40B4-BE49-F238E27FC236}">
                <a16:creationId xmlns:a16="http://schemas.microsoft.com/office/drawing/2014/main" id="{80752B9E-DFD4-4C7E-36D9-A58A43A4B78C}"/>
              </a:ext>
            </a:extLst>
          </p:cNvPr>
          <p:cNvSpPr txBox="1"/>
          <p:nvPr/>
        </p:nvSpPr>
        <p:spPr>
          <a:xfrm>
            <a:off x="733044" y="4242816"/>
            <a:ext cx="4855464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2400" b="1">
                <a:solidFill>
                  <a:srgbClr val="1A1D1B"/>
                </a:solidFill>
                <a:latin typeface="맑은 고딕"/>
              </a:rPr>
              <a:t>사이즈 진단</a:t>
            </a:r>
          </a:p>
        </p:txBody>
      </p:sp>
      <p:sp>
        <p:nvSpPr>
          <p:cNvPr id="20" name="TextBox 13">
            <a:extLst>
              <a:ext uri="{FF2B5EF4-FFF2-40B4-BE49-F238E27FC236}">
                <a16:creationId xmlns:a16="http://schemas.microsoft.com/office/drawing/2014/main" id="{6DF04F25-0385-71F5-B2F7-E6AEE96CD707}"/>
              </a:ext>
            </a:extLst>
          </p:cNvPr>
          <p:cNvSpPr txBox="1"/>
          <p:nvPr/>
        </p:nvSpPr>
        <p:spPr>
          <a:xfrm>
            <a:off x="733044" y="4846320"/>
            <a:ext cx="4855464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050" b="0">
                <a:solidFill>
                  <a:srgbClr val="5B615D"/>
                </a:solidFill>
                <a:latin typeface="맑은 고딕"/>
              </a:rPr>
              <a:t>치수는 계산된다.</a:t>
            </a:r>
          </a:p>
          <a:p>
            <a:pPr algn="ctr"/>
            <a:r>
              <a:rPr sz="1050" b="0">
                <a:solidFill>
                  <a:srgbClr val="5B615D"/>
                </a:solidFill>
                <a:latin typeface="맑은 고딕"/>
              </a:rPr>
              <a:t>내 몸을 기준으로 브랜드 사이즈를 환산한다.</a:t>
            </a:r>
          </a:p>
        </p:txBody>
      </p:sp>
      <p:sp>
        <p:nvSpPr>
          <p:cNvPr id="21" name="Rounded Rectangle 14">
            <a:extLst>
              <a:ext uri="{FF2B5EF4-FFF2-40B4-BE49-F238E27FC236}">
                <a16:creationId xmlns:a16="http://schemas.microsoft.com/office/drawing/2014/main" id="{860E4EEE-9A75-046D-E0D6-C01210406544}"/>
              </a:ext>
            </a:extLst>
          </p:cNvPr>
          <p:cNvSpPr/>
          <p:nvPr/>
        </p:nvSpPr>
        <p:spPr>
          <a:xfrm>
            <a:off x="6329172" y="2798064"/>
            <a:ext cx="5404104" cy="2761488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B565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2" name="TextBox 15">
            <a:extLst>
              <a:ext uri="{FF2B5EF4-FFF2-40B4-BE49-F238E27FC236}">
                <a16:creationId xmlns:a16="http://schemas.microsoft.com/office/drawing/2014/main" id="{0F914F7D-C6EC-B9A4-1D94-26BF664DFFF9}"/>
              </a:ext>
            </a:extLst>
          </p:cNvPr>
          <p:cNvSpPr txBox="1"/>
          <p:nvPr/>
        </p:nvSpPr>
        <p:spPr>
          <a:xfrm>
            <a:off x="6603492" y="3017520"/>
            <a:ext cx="4855464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200" b="1">
                <a:solidFill>
                  <a:srgbClr val="B5654A"/>
                </a:solidFill>
                <a:latin typeface="맑은 고딕"/>
              </a:rPr>
              <a:t>B · 스타일</a:t>
            </a:r>
          </a:p>
        </p:txBody>
      </p:sp>
      <p:sp>
        <p:nvSpPr>
          <p:cNvPr id="23" name="TextBox 16">
            <a:extLst>
              <a:ext uri="{FF2B5EF4-FFF2-40B4-BE49-F238E27FC236}">
                <a16:creationId xmlns:a16="http://schemas.microsoft.com/office/drawing/2014/main" id="{3C91BD94-3B06-58E5-AD60-64E60E0DFE23}"/>
              </a:ext>
            </a:extLst>
          </p:cNvPr>
          <p:cNvSpPr txBox="1"/>
          <p:nvPr/>
        </p:nvSpPr>
        <p:spPr>
          <a:xfrm>
            <a:off x="9355836" y="3035808"/>
            <a:ext cx="210312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sz="950" b="1">
                <a:solidFill>
                  <a:srgbClr val="8B908B"/>
                </a:solidFill>
                <a:latin typeface="맑은 고딕"/>
              </a:rPr>
              <a:t>설문 40%</a:t>
            </a:r>
          </a:p>
        </p:txBody>
      </p:sp>
      <p:sp>
        <p:nvSpPr>
          <p:cNvPr id="24" name="Rounded Rectangle 17">
            <a:extLst>
              <a:ext uri="{FF2B5EF4-FFF2-40B4-BE49-F238E27FC236}">
                <a16:creationId xmlns:a16="http://schemas.microsoft.com/office/drawing/2014/main" id="{EC4C14F9-34D4-7305-6842-B54D0F7B84C0}"/>
              </a:ext>
            </a:extLst>
          </p:cNvPr>
          <p:cNvSpPr/>
          <p:nvPr/>
        </p:nvSpPr>
        <p:spPr>
          <a:xfrm>
            <a:off x="6603492" y="3364992"/>
            <a:ext cx="4855464" cy="475488"/>
          </a:xfrm>
          <a:prstGeom prst="roundRect">
            <a:avLst/>
          </a:prstGeom>
          <a:solidFill>
            <a:srgbClr val="FB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5" name="TextBox 18">
            <a:extLst>
              <a:ext uri="{FF2B5EF4-FFF2-40B4-BE49-F238E27FC236}">
                <a16:creationId xmlns:a16="http://schemas.microsoft.com/office/drawing/2014/main" id="{2ADC0853-AA1D-212D-0760-37E4854E9B34}"/>
              </a:ext>
            </a:extLst>
          </p:cNvPr>
          <p:cNvSpPr txBox="1"/>
          <p:nvPr/>
        </p:nvSpPr>
        <p:spPr>
          <a:xfrm>
            <a:off x="6603492" y="3493008"/>
            <a:ext cx="4855464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300" b="1">
                <a:solidFill>
                  <a:srgbClr val="B5654A"/>
                </a:solidFill>
                <a:latin typeface="맑은 고딕"/>
              </a:rPr>
              <a:t>정답이 없다   →   사람이 푼다</a:t>
            </a:r>
          </a:p>
        </p:txBody>
      </p:sp>
      <p:sp>
        <p:nvSpPr>
          <p:cNvPr id="26" name="TextBox 19">
            <a:extLst>
              <a:ext uri="{FF2B5EF4-FFF2-40B4-BE49-F238E27FC236}">
                <a16:creationId xmlns:a16="http://schemas.microsoft.com/office/drawing/2014/main" id="{D6798B5C-5AFE-12CD-19E0-B338CF4769E4}"/>
              </a:ext>
            </a:extLst>
          </p:cNvPr>
          <p:cNvSpPr txBox="1"/>
          <p:nvPr/>
        </p:nvSpPr>
        <p:spPr>
          <a:xfrm>
            <a:off x="6603492" y="4041648"/>
            <a:ext cx="4855464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000" b="1">
                <a:solidFill>
                  <a:srgbClr val="8B908B"/>
                </a:solidFill>
                <a:latin typeface="맑은 고딕"/>
              </a:rPr>
              <a:t>MVP ②</a:t>
            </a:r>
          </a:p>
        </p:txBody>
      </p:sp>
      <p:sp>
        <p:nvSpPr>
          <p:cNvPr id="27" name="TextBox 20">
            <a:extLst>
              <a:ext uri="{FF2B5EF4-FFF2-40B4-BE49-F238E27FC236}">
                <a16:creationId xmlns:a16="http://schemas.microsoft.com/office/drawing/2014/main" id="{5CA4B6C3-A6EF-513B-43D6-A1D779FD1FA7}"/>
              </a:ext>
            </a:extLst>
          </p:cNvPr>
          <p:cNvSpPr txBox="1"/>
          <p:nvPr/>
        </p:nvSpPr>
        <p:spPr>
          <a:xfrm>
            <a:off x="6603492" y="4242816"/>
            <a:ext cx="4855464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2400" b="1">
                <a:solidFill>
                  <a:srgbClr val="1A1D1B"/>
                </a:solidFill>
                <a:latin typeface="맑은 고딕"/>
              </a:rPr>
              <a:t>전문가 매칭</a:t>
            </a:r>
          </a:p>
        </p:txBody>
      </p:sp>
      <p:sp>
        <p:nvSpPr>
          <p:cNvPr id="28" name="TextBox 21">
            <a:extLst>
              <a:ext uri="{FF2B5EF4-FFF2-40B4-BE49-F238E27FC236}">
                <a16:creationId xmlns:a16="http://schemas.microsoft.com/office/drawing/2014/main" id="{D065C7AF-4882-624A-2AAE-E41C3A17BBDD}"/>
              </a:ext>
            </a:extLst>
          </p:cNvPr>
          <p:cNvSpPr txBox="1"/>
          <p:nvPr/>
        </p:nvSpPr>
        <p:spPr>
          <a:xfrm>
            <a:off x="6603492" y="4846320"/>
            <a:ext cx="4855464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050" b="0">
                <a:solidFill>
                  <a:srgbClr val="5B615D"/>
                </a:solidFill>
                <a:latin typeface="맑은 고딕"/>
              </a:rPr>
              <a:t>취향은 판단이 필요하다.</a:t>
            </a:r>
          </a:p>
          <a:p>
            <a:pPr algn="ctr"/>
            <a:r>
              <a:rPr sz="1050" b="0">
                <a:solidFill>
                  <a:srgbClr val="5B615D"/>
                </a:solidFill>
                <a:latin typeface="맑은 고딕"/>
              </a:rPr>
              <a:t>체형과 상황을 아는 전문가에게 연결한다.</a:t>
            </a:r>
          </a:p>
        </p:txBody>
      </p:sp>
      <p:sp>
        <p:nvSpPr>
          <p:cNvPr id="29" name="Rounded Rectangle 22">
            <a:extLst>
              <a:ext uri="{FF2B5EF4-FFF2-40B4-BE49-F238E27FC236}">
                <a16:creationId xmlns:a16="http://schemas.microsoft.com/office/drawing/2014/main" id="{CDBBA9A9-EBD2-8419-04DC-591C01F4BC34}"/>
              </a:ext>
            </a:extLst>
          </p:cNvPr>
          <p:cNvSpPr/>
          <p:nvPr/>
        </p:nvSpPr>
        <p:spPr>
          <a:xfrm>
            <a:off x="458724" y="5760720"/>
            <a:ext cx="11274552" cy="658368"/>
          </a:xfrm>
          <a:prstGeom prst="roundRect">
            <a:avLst/>
          </a:prstGeom>
          <a:solidFill>
            <a:srgbClr val="EAF1ED"/>
          </a:solidFill>
          <a:ln w="15875">
            <a:solidFill>
              <a:srgbClr val="2E4A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30" name="TextBox 23">
            <a:extLst>
              <a:ext uri="{FF2B5EF4-FFF2-40B4-BE49-F238E27FC236}">
                <a16:creationId xmlns:a16="http://schemas.microsoft.com/office/drawing/2014/main" id="{E94F7474-1818-1DF1-5E55-B7138DBC171F}"/>
              </a:ext>
            </a:extLst>
          </p:cNvPr>
          <p:cNvSpPr txBox="1"/>
          <p:nvPr/>
        </p:nvSpPr>
        <p:spPr>
          <a:xfrm>
            <a:off x="458724" y="5961888"/>
            <a:ext cx="11274552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400" b="1">
                <a:solidFill>
                  <a:srgbClr val="2E4A3B"/>
                </a:solidFill>
                <a:latin typeface="맑은 고딕"/>
              </a:rPr>
              <a:t>두 축은 하나로 이어진다   —   ① 로 내 몸을 알고,  그 결과를 들고 ② 로 간다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23F2DC8A-740F-C196-BE64-7CCFA2C8EACE}"/>
              </a:ext>
            </a:extLst>
          </p:cNvPr>
          <p:cNvSpPr txBox="1"/>
          <p:nvPr/>
        </p:nvSpPr>
        <p:spPr>
          <a:xfrm>
            <a:off x="457200" y="292608"/>
            <a:ext cx="54864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1">
                <a:solidFill>
                  <a:srgbClr val="8B908B"/>
                </a:solidFill>
                <a:latin typeface="맑은 고딕"/>
              </a:rPr>
              <a:t>SERVICE FLOW · BEFORE / AFTER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77D5C8E-3CCC-9B2B-EC24-D644C24B19D8}"/>
              </a:ext>
            </a:extLst>
          </p:cNvPr>
          <p:cNvSpPr txBox="1"/>
          <p:nvPr/>
        </p:nvSpPr>
        <p:spPr>
          <a:xfrm>
            <a:off x="457200" y="475488"/>
            <a:ext cx="10515600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2400" b="1" dirty="0">
                <a:solidFill>
                  <a:srgbClr val="1A1D1B"/>
                </a:solidFill>
                <a:latin typeface="맑은 고딕"/>
              </a:rPr>
              <a:t>Before-After</a:t>
            </a:r>
            <a:r>
              <a:rPr sz="2400" b="1" dirty="0">
                <a:solidFill>
                  <a:srgbClr val="1A1D1B"/>
                </a:solidFill>
                <a:latin typeface="맑은 고딕"/>
              </a:rPr>
              <a:t>—  </a:t>
            </a:r>
            <a:r>
              <a:rPr sz="2400" b="1" dirty="0" err="1">
                <a:solidFill>
                  <a:srgbClr val="1A1D1B"/>
                </a:solidFill>
                <a:latin typeface="맑은 고딕"/>
              </a:rPr>
              <a:t>그리고</a:t>
            </a:r>
            <a:r>
              <a:rPr sz="2400" b="1" dirty="0">
                <a:solidFill>
                  <a:srgbClr val="1A1D1B"/>
                </a:solidFill>
                <a:latin typeface="맑은 고딕"/>
              </a:rPr>
              <a:t> </a:t>
            </a:r>
            <a:r>
              <a:rPr sz="2400" b="1" dirty="0" err="1">
                <a:solidFill>
                  <a:srgbClr val="1A1D1B"/>
                </a:solidFill>
                <a:latin typeface="맑은 고딕"/>
              </a:rPr>
              <a:t>진단은</a:t>
            </a:r>
            <a:r>
              <a:rPr sz="2400" b="1" dirty="0">
                <a:solidFill>
                  <a:srgbClr val="1A1D1B"/>
                </a:solidFill>
                <a:latin typeface="맑은 고딕"/>
              </a:rPr>
              <a:t> 한 </a:t>
            </a:r>
            <a:r>
              <a:rPr sz="2400" b="1" dirty="0" err="1">
                <a:solidFill>
                  <a:srgbClr val="1A1D1B"/>
                </a:solidFill>
                <a:latin typeface="맑은 고딕"/>
              </a:rPr>
              <a:t>번이면</a:t>
            </a:r>
            <a:r>
              <a:rPr sz="2400" b="1" dirty="0">
                <a:solidFill>
                  <a:srgbClr val="1A1D1B"/>
                </a:solidFill>
                <a:latin typeface="맑은 고딕"/>
              </a:rPr>
              <a:t> </a:t>
            </a:r>
            <a:r>
              <a:rPr sz="2400" b="1" dirty="0" err="1">
                <a:solidFill>
                  <a:srgbClr val="1A1D1B"/>
                </a:solidFill>
                <a:latin typeface="맑은 고딕"/>
              </a:rPr>
              <a:t>된다</a:t>
            </a:r>
            <a:endParaRPr sz="2400" b="1" dirty="0">
              <a:solidFill>
                <a:srgbClr val="1A1D1B"/>
              </a:solidFill>
              <a:latin typeface="맑은 고딕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D3A72C4-4A21-3EBB-D0C7-30DE30A17D00}"/>
              </a:ext>
            </a:extLst>
          </p:cNvPr>
          <p:cNvSpPr txBox="1"/>
          <p:nvPr/>
        </p:nvSpPr>
        <p:spPr>
          <a:xfrm>
            <a:off x="457200" y="896112"/>
            <a:ext cx="1124712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>
                <a:solidFill>
                  <a:srgbClr val="5B615D"/>
                </a:solidFill>
                <a:latin typeface="맑은 고딕"/>
              </a:rPr>
              <a:t>같은 여정을 단계 수로만 비교했다. 사라진 두 단계와, 다시 하지 않아도 되는 진단이 핵심이다.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7D73AE7-A058-1253-3F35-6B3302A821EA}"/>
              </a:ext>
            </a:extLst>
          </p:cNvPr>
          <p:cNvSpPr txBox="1"/>
          <p:nvPr/>
        </p:nvSpPr>
        <p:spPr>
          <a:xfrm>
            <a:off x="457200" y="1280160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B5654A"/>
                </a:solidFill>
                <a:latin typeface="맑은 고딕"/>
              </a:rPr>
              <a:t>BEFORE  ·  지금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B77320C-61A2-E544-8EDC-6915B45D07AF}"/>
              </a:ext>
            </a:extLst>
          </p:cNvPr>
          <p:cNvSpPr txBox="1"/>
          <p:nvPr/>
        </p:nvSpPr>
        <p:spPr>
          <a:xfrm>
            <a:off x="3017520" y="1298448"/>
            <a:ext cx="27432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1">
                <a:solidFill>
                  <a:srgbClr val="8A8680"/>
                </a:solidFill>
                <a:latin typeface="맑은 고딕"/>
              </a:rPr>
              <a:t>매 구매마다 반복</a:t>
            </a:r>
          </a:p>
        </p:txBody>
      </p:sp>
      <p:sp>
        <p:nvSpPr>
          <p:cNvPr id="19" name="Rounded Rectangle 6">
            <a:extLst>
              <a:ext uri="{FF2B5EF4-FFF2-40B4-BE49-F238E27FC236}">
                <a16:creationId xmlns:a16="http://schemas.microsoft.com/office/drawing/2014/main" id="{2C90F83A-327C-7686-3457-6454465E8DB3}"/>
              </a:ext>
            </a:extLst>
          </p:cNvPr>
          <p:cNvSpPr/>
          <p:nvPr/>
        </p:nvSpPr>
        <p:spPr>
          <a:xfrm>
            <a:off x="457200" y="1554480"/>
            <a:ext cx="2035454" cy="841248"/>
          </a:xfrm>
          <a:prstGeom prst="roundRect">
            <a:avLst/>
          </a:prstGeom>
          <a:solidFill>
            <a:srgbClr val="F2F1EE"/>
          </a:solidFill>
          <a:ln w="12700">
            <a:solidFill>
              <a:srgbClr val="E1E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2C643A6-9745-4EDB-A3A8-825F7D114302}"/>
              </a:ext>
            </a:extLst>
          </p:cNvPr>
          <p:cNvSpPr txBox="1"/>
          <p:nvPr/>
        </p:nvSpPr>
        <p:spPr>
          <a:xfrm>
            <a:off x="566928" y="1682496"/>
            <a:ext cx="1815998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50" b="1">
                <a:solidFill>
                  <a:srgbClr val="1A1D1B"/>
                </a:solidFill>
                <a:latin typeface="맑은 고딕"/>
              </a:rPr>
              <a:t>검색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795DF61-7224-7FCF-3FBA-F9F89F6F349A}"/>
              </a:ext>
            </a:extLst>
          </p:cNvPr>
          <p:cNvSpPr txBox="1"/>
          <p:nvPr/>
        </p:nvSpPr>
        <p:spPr>
          <a:xfrm>
            <a:off x="566928" y="1920240"/>
            <a:ext cx="1815998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0">
                <a:solidFill>
                  <a:srgbClr val="8A8680"/>
                </a:solidFill>
                <a:latin typeface="맑은 고딕"/>
              </a:rPr>
              <a:t>입을 옷 고르기</a:t>
            </a:r>
          </a:p>
        </p:txBody>
      </p:sp>
      <p:sp>
        <p:nvSpPr>
          <p:cNvPr id="25" name="Right Arrow 9">
            <a:extLst>
              <a:ext uri="{FF2B5EF4-FFF2-40B4-BE49-F238E27FC236}">
                <a16:creationId xmlns:a16="http://schemas.microsoft.com/office/drawing/2014/main" id="{B8AC9E07-B04B-0856-B000-D07EA3F514D2}"/>
              </a:ext>
            </a:extLst>
          </p:cNvPr>
          <p:cNvSpPr/>
          <p:nvPr/>
        </p:nvSpPr>
        <p:spPr>
          <a:xfrm>
            <a:off x="2547518" y="1874519"/>
            <a:ext cx="164592" cy="182880"/>
          </a:xfrm>
          <a:prstGeom prst="rightArrow">
            <a:avLst/>
          </a:prstGeom>
          <a:solidFill>
            <a:srgbClr val="E1E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10">
            <a:extLst>
              <a:ext uri="{FF2B5EF4-FFF2-40B4-BE49-F238E27FC236}">
                <a16:creationId xmlns:a16="http://schemas.microsoft.com/office/drawing/2014/main" id="{0A0E1F5F-64BF-3386-F6B2-336459B0CF0C}"/>
              </a:ext>
            </a:extLst>
          </p:cNvPr>
          <p:cNvSpPr/>
          <p:nvPr/>
        </p:nvSpPr>
        <p:spPr>
          <a:xfrm>
            <a:off x="2766974" y="1554480"/>
            <a:ext cx="2035454" cy="841248"/>
          </a:xfrm>
          <a:prstGeom prst="roundRect">
            <a:avLst/>
          </a:prstGeom>
          <a:solidFill>
            <a:srgbClr val="FBEFEA"/>
          </a:solidFill>
          <a:ln w="19050">
            <a:solidFill>
              <a:srgbClr val="B565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3B09D24-6D8D-FF7A-61EC-05D219F9A411}"/>
              </a:ext>
            </a:extLst>
          </p:cNvPr>
          <p:cNvSpPr txBox="1"/>
          <p:nvPr/>
        </p:nvSpPr>
        <p:spPr>
          <a:xfrm>
            <a:off x="2876702" y="1682496"/>
            <a:ext cx="1815998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50" b="1">
                <a:solidFill>
                  <a:srgbClr val="B5654A"/>
                </a:solidFill>
                <a:latin typeface="맑은 고딕"/>
              </a:rPr>
              <a:t>사이즈표·후기 뒤지기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F6C0B8B-3EDE-BD69-9D5C-70E570DCC0C5}"/>
              </a:ext>
            </a:extLst>
          </p:cNvPr>
          <p:cNvSpPr txBox="1"/>
          <p:nvPr/>
        </p:nvSpPr>
        <p:spPr>
          <a:xfrm>
            <a:off x="2876702" y="1920240"/>
            <a:ext cx="1815998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0">
                <a:solidFill>
                  <a:srgbClr val="B5654A"/>
                </a:solidFill>
                <a:latin typeface="맑은 고딕"/>
              </a:rPr>
              <a:t>30분씩 비교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5688368-2B9D-2570-340D-F076CF7676B6}"/>
              </a:ext>
            </a:extLst>
          </p:cNvPr>
          <p:cNvSpPr txBox="1"/>
          <p:nvPr/>
        </p:nvSpPr>
        <p:spPr>
          <a:xfrm>
            <a:off x="2876702" y="2121408"/>
            <a:ext cx="1815998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50" b="1">
                <a:solidFill>
                  <a:srgbClr val="B5654A"/>
                </a:solidFill>
                <a:latin typeface="맑은 고딕"/>
              </a:rPr>
              <a:t>사라짐</a:t>
            </a:r>
          </a:p>
        </p:txBody>
      </p:sp>
      <p:sp>
        <p:nvSpPr>
          <p:cNvPr id="35" name="Right Arrow 14">
            <a:extLst>
              <a:ext uri="{FF2B5EF4-FFF2-40B4-BE49-F238E27FC236}">
                <a16:creationId xmlns:a16="http://schemas.microsoft.com/office/drawing/2014/main" id="{76A23AF0-3459-BC37-15B5-A13389A83BF1}"/>
              </a:ext>
            </a:extLst>
          </p:cNvPr>
          <p:cNvSpPr/>
          <p:nvPr/>
        </p:nvSpPr>
        <p:spPr>
          <a:xfrm>
            <a:off x="4857292" y="1874519"/>
            <a:ext cx="164592" cy="182880"/>
          </a:xfrm>
          <a:prstGeom prst="rightArrow">
            <a:avLst/>
          </a:prstGeom>
          <a:solidFill>
            <a:srgbClr val="E1E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15">
            <a:extLst>
              <a:ext uri="{FF2B5EF4-FFF2-40B4-BE49-F238E27FC236}">
                <a16:creationId xmlns:a16="http://schemas.microsoft.com/office/drawing/2014/main" id="{76BB61F1-48A9-9C77-FF99-4AF6D22239FB}"/>
              </a:ext>
            </a:extLst>
          </p:cNvPr>
          <p:cNvSpPr/>
          <p:nvPr/>
        </p:nvSpPr>
        <p:spPr>
          <a:xfrm>
            <a:off x="5076748" y="1554480"/>
            <a:ext cx="2035454" cy="841248"/>
          </a:xfrm>
          <a:prstGeom prst="roundRect">
            <a:avLst/>
          </a:prstGeom>
          <a:solidFill>
            <a:srgbClr val="F2F1EE"/>
          </a:solidFill>
          <a:ln w="12700">
            <a:solidFill>
              <a:srgbClr val="E1E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3B7F9DB-5A23-E009-2BA4-67302D193011}"/>
              </a:ext>
            </a:extLst>
          </p:cNvPr>
          <p:cNvSpPr txBox="1"/>
          <p:nvPr/>
        </p:nvSpPr>
        <p:spPr>
          <a:xfrm>
            <a:off x="5186476" y="1682496"/>
            <a:ext cx="1815998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50" b="1">
                <a:solidFill>
                  <a:srgbClr val="1A1D1B"/>
                </a:solidFill>
                <a:latin typeface="맑은 고딕"/>
              </a:rPr>
              <a:t>고민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A8E3EB9-F5E1-9BA9-FE9D-BBE6F5CE699C}"/>
              </a:ext>
            </a:extLst>
          </p:cNvPr>
          <p:cNvSpPr txBox="1"/>
          <p:nvPr/>
        </p:nvSpPr>
        <p:spPr>
          <a:xfrm>
            <a:off x="5186476" y="1920240"/>
            <a:ext cx="1815998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0">
                <a:solidFill>
                  <a:srgbClr val="8A8680"/>
                </a:solidFill>
                <a:latin typeface="맑은 고딕"/>
              </a:rPr>
              <a:t>확신이 안 섬</a:t>
            </a:r>
          </a:p>
        </p:txBody>
      </p:sp>
      <p:sp>
        <p:nvSpPr>
          <p:cNvPr id="43" name="Right Arrow 18">
            <a:extLst>
              <a:ext uri="{FF2B5EF4-FFF2-40B4-BE49-F238E27FC236}">
                <a16:creationId xmlns:a16="http://schemas.microsoft.com/office/drawing/2014/main" id="{F5354058-B834-C2D8-D7E6-ECBF15D72DF5}"/>
              </a:ext>
            </a:extLst>
          </p:cNvPr>
          <p:cNvSpPr/>
          <p:nvPr/>
        </p:nvSpPr>
        <p:spPr>
          <a:xfrm>
            <a:off x="7167067" y="1874519"/>
            <a:ext cx="164592" cy="182880"/>
          </a:xfrm>
          <a:prstGeom prst="rightArrow">
            <a:avLst/>
          </a:prstGeom>
          <a:solidFill>
            <a:srgbClr val="E1E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ounded Rectangle 19">
            <a:extLst>
              <a:ext uri="{FF2B5EF4-FFF2-40B4-BE49-F238E27FC236}">
                <a16:creationId xmlns:a16="http://schemas.microsoft.com/office/drawing/2014/main" id="{46808D4D-316B-F6EF-ECD4-A3D138641DE2}"/>
              </a:ext>
            </a:extLst>
          </p:cNvPr>
          <p:cNvSpPr/>
          <p:nvPr/>
        </p:nvSpPr>
        <p:spPr>
          <a:xfrm>
            <a:off x="7386523" y="1554480"/>
            <a:ext cx="2035454" cy="841248"/>
          </a:xfrm>
          <a:prstGeom prst="roundRect">
            <a:avLst/>
          </a:prstGeom>
          <a:solidFill>
            <a:srgbClr val="F2F1EE"/>
          </a:solidFill>
          <a:ln w="12700">
            <a:solidFill>
              <a:srgbClr val="E1E5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3AB0579-DEFB-FF06-A07A-A5538EC59965}"/>
              </a:ext>
            </a:extLst>
          </p:cNvPr>
          <p:cNvSpPr txBox="1"/>
          <p:nvPr/>
        </p:nvSpPr>
        <p:spPr>
          <a:xfrm>
            <a:off x="7496251" y="1682496"/>
            <a:ext cx="1815998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50" b="1">
                <a:solidFill>
                  <a:srgbClr val="1A1D1B"/>
                </a:solidFill>
                <a:latin typeface="맑은 고딕"/>
              </a:rPr>
              <a:t>주문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EA3FD66-B76F-CA5B-CE44-93A220366D25}"/>
              </a:ext>
            </a:extLst>
          </p:cNvPr>
          <p:cNvSpPr txBox="1"/>
          <p:nvPr/>
        </p:nvSpPr>
        <p:spPr>
          <a:xfrm>
            <a:off x="7496251" y="1920240"/>
            <a:ext cx="1815998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0">
                <a:solidFill>
                  <a:srgbClr val="8A8680"/>
                </a:solidFill>
                <a:latin typeface="맑은 고딕"/>
              </a:rPr>
              <a:t>안 맞으면 반품하지</a:t>
            </a:r>
          </a:p>
        </p:txBody>
      </p:sp>
      <p:sp>
        <p:nvSpPr>
          <p:cNvPr id="51" name="Right Arrow 22">
            <a:extLst>
              <a:ext uri="{FF2B5EF4-FFF2-40B4-BE49-F238E27FC236}">
                <a16:creationId xmlns:a16="http://schemas.microsoft.com/office/drawing/2014/main" id="{1533DFAC-B2E1-CE18-C9D0-C009F2BE651E}"/>
              </a:ext>
            </a:extLst>
          </p:cNvPr>
          <p:cNvSpPr/>
          <p:nvPr/>
        </p:nvSpPr>
        <p:spPr>
          <a:xfrm>
            <a:off x="9476841" y="1874519"/>
            <a:ext cx="164592" cy="182880"/>
          </a:xfrm>
          <a:prstGeom prst="rightArrow">
            <a:avLst/>
          </a:prstGeom>
          <a:solidFill>
            <a:srgbClr val="E1E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ounded Rectangle 23">
            <a:extLst>
              <a:ext uri="{FF2B5EF4-FFF2-40B4-BE49-F238E27FC236}">
                <a16:creationId xmlns:a16="http://schemas.microsoft.com/office/drawing/2014/main" id="{9814EDD9-2535-E5BD-368A-F52573D3B499}"/>
              </a:ext>
            </a:extLst>
          </p:cNvPr>
          <p:cNvSpPr/>
          <p:nvPr/>
        </p:nvSpPr>
        <p:spPr>
          <a:xfrm>
            <a:off x="9696297" y="1554480"/>
            <a:ext cx="2035454" cy="841248"/>
          </a:xfrm>
          <a:prstGeom prst="roundRect">
            <a:avLst/>
          </a:prstGeom>
          <a:solidFill>
            <a:srgbClr val="FBEFEA"/>
          </a:solidFill>
          <a:ln w="19050">
            <a:solidFill>
              <a:srgbClr val="B565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F5BAF8E-3CC5-DFCE-68EE-78D9C49FDDD5}"/>
              </a:ext>
            </a:extLst>
          </p:cNvPr>
          <p:cNvSpPr txBox="1"/>
          <p:nvPr/>
        </p:nvSpPr>
        <p:spPr>
          <a:xfrm>
            <a:off x="9806025" y="1682496"/>
            <a:ext cx="1815998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50" b="1">
                <a:solidFill>
                  <a:srgbClr val="B5654A"/>
                </a:solidFill>
                <a:latin typeface="맑은 고딕"/>
              </a:rPr>
              <a:t>반품 · 교환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8F840C7-3213-B0CF-E8F1-A511583DDCD0}"/>
              </a:ext>
            </a:extLst>
          </p:cNvPr>
          <p:cNvSpPr txBox="1"/>
          <p:nvPr/>
        </p:nvSpPr>
        <p:spPr>
          <a:xfrm>
            <a:off x="9806025" y="1920240"/>
            <a:ext cx="1815998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0">
                <a:solidFill>
                  <a:srgbClr val="B5654A"/>
                </a:solidFill>
                <a:latin typeface="맑은 고딕"/>
              </a:rPr>
              <a:t>시간·비용 소모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620C163-E2AA-FBCB-F40F-7E822AECC668}"/>
              </a:ext>
            </a:extLst>
          </p:cNvPr>
          <p:cNvSpPr txBox="1"/>
          <p:nvPr/>
        </p:nvSpPr>
        <p:spPr>
          <a:xfrm>
            <a:off x="9806025" y="2121408"/>
            <a:ext cx="1815998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50" b="1">
                <a:solidFill>
                  <a:srgbClr val="B5654A"/>
                </a:solidFill>
                <a:latin typeface="맑은 고딕"/>
              </a:rPr>
              <a:t>사라짐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CE953E2-458B-ECAD-288E-EDF9A69D8D7B}"/>
              </a:ext>
            </a:extLst>
          </p:cNvPr>
          <p:cNvSpPr txBox="1"/>
          <p:nvPr/>
        </p:nvSpPr>
        <p:spPr>
          <a:xfrm>
            <a:off x="457200" y="2798064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2E4A3B"/>
                </a:solidFill>
                <a:latin typeface="맑은 고딕"/>
              </a:rPr>
              <a:t>AFTER  ·  핏팅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1F8AA01E-AA04-C0EF-EC72-BED5A4131902}"/>
              </a:ext>
            </a:extLst>
          </p:cNvPr>
          <p:cNvSpPr txBox="1"/>
          <p:nvPr/>
        </p:nvSpPr>
        <p:spPr>
          <a:xfrm>
            <a:off x="2926080" y="2816352"/>
            <a:ext cx="54864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1">
                <a:solidFill>
                  <a:srgbClr val="3E6B52"/>
                </a:solidFill>
                <a:latin typeface="맑은 고딕"/>
              </a:rPr>
              <a:t>진단은 최초 1회  →  이후 모든 브랜드에 재사용</a:t>
            </a:r>
          </a:p>
        </p:txBody>
      </p:sp>
      <p:sp>
        <p:nvSpPr>
          <p:cNvPr id="65" name="Rounded Rectangle 29">
            <a:extLst>
              <a:ext uri="{FF2B5EF4-FFF2-40B4-BE49-F238E27FC236}">
                <a16:creationId xmlns:a16="http://schemas.microsoft.com/office/drawing/2014/main" id="{42D44C6E-76D7-5D9E-A61F-992A023AB016}"/>
              </a:ext>
            </a:extLst>
          </p:cNvPr>
          <p:cNvSpPr/>
          <p:nvPr/>
        </p:nvSpPr>
        <p:spPr>
          <a:xfrm>
            <a:off x="457200" y="3090672"/>
            <a:ext cx="3575304" cy="969264"/>
          </a:xfrm>
          <a:prstGeom prst="roundRect">
            <a:avLst/>
          </a:prstGeom>
          <a:solidFill>
            <a:srgbClr val="EAF1ED"/>
          </a:solidFill>
          <a:ln w="22225">
            <a:solidFill>
              <a:srgbClr val="2E4A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Oval 30">
            <a:extLst>
              <a:ext uri="{FF2B5EF4-FFF2-40B4-BE49-F238E27FC236}">
                <a16:creationId xmlns:a16="http://schemas.microsoft.com/office/drawing/2014/main" id="{AC2E9F8D-E065-77F2-169F-8BAA6993C316}"/>
              </a:ext>
            </a:extLst>
          </p:cNvPr>
          <p:cNvSpPr/>
          <p:nvPr/>
        </p:nvSpPr>
        <p:spPr>
          <a:xfrm>
            <a:off x="603504" y="3218688"/>
            <a:ext cx="274320" cy="274320"/>
          </a:xfrm>
          <a:prstGeom prst="ellipse">
            <a:avLst/>
          </a:prstGeom>
          <a:solidFill>
            <a:srgbClr val="2E4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B462DE07-E3DC-E94C-B858-DFB179F69BC9}"/>
              </a:ext>
            </a:extLst>
          </p:cNvPr>
          <p:cNvSpPr txBox="1"/>
          <p:nvPr/>
        </p:nvSpPr>
        <p:spPr>
          <a:xfrm>
            <a:off x="969264" y="3236976"/>
            <a:ext cx="2916936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dirty="0" err="1">
                <a:solidFill>
                  <a:srgbClr val="2E4A3B"/>
                </a:solidFill>
                <a:latin typeface="맑은 고딕"/>
              </a:rPr>
              <a:t>착용</a:t>
            </a:r>
            <a:r>
              <a:rPr sz="1300" b="1" dirty="0">
                <a:solidFill>
                  <a:srgbClr val="2E4A3B"/>
                </a:solidFill>
                <a:latin typeface="맑은 고딕"/>
              </a:rPr>
              <a:t> </a:t>
            </a:r>
            <a:r>
              <a:rPr sz="1300" b="1" dirty="0" err="1">
                <a:solidFill>
                  <a:srgbClr val="2E4A3B"/>
                </a:solidFill>
                <a:latin typeface="맑은 고딕"/>
              </a:rPr>
              <a:t>경험</a:t>
            </a:r>
            <a:r>
              <a:rPr sz="1300" b="1" dirty="0">
                <a:solidFill>
                  <a:srgbClr val="2E4A3B"/>
                </a:solidFill>
                <a:latin typeface="맑은 고딕"/>
              </a:rPr>
              <a:t> </a:t>
            </a:r>
            <a:r>
              <a:rPr sz="1300" b="1" dirty="0" err="1">
                <a:solidFill>
                  <a:srgbClr val="2E4A3B"/>
                </a:solidFill>
                <a:latin typeface="맑은 고딕"/>
              </a:rPr>
              <a:t>진단</a:t>
            </a:r>
            <a:endParaRPr sz="1300" b="1" dirty="0">
              <a:solidFill>
                <a:srgbClr val="2E4A3B"/>
              </a:solidFill>
              <a:latin typeface="맑은 고딕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BA353366-7127-ECDA-A25B-1E0189C3C550}"/>
              </a:ext>
            </a:extLst>
          </p:cNvPr>
          <p:cNvSpPr txBox="1"/>
          <p:nvPr/>
        </p:nvSpPr>
        <p:spPr>
          <a:xfrm>
            <a:off x="969264" y="3511296"/>
            <a:ext cx="2916936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>
                <a:solidFill>
                  <a:srgbClr val="5B615D"/>
                </a:solidFill>
                <a:latin typeface="맑은 고딕"/>
              </a:rPr>
              <a:t>평소 입던 옷 2벌 · 2분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048DF6B8-3219-131E-B06D-70ECD9D7195B}"/>
              </a:ext>
            </a:extLst>
          </p:cNvPr>
          <p:cNvSpPr txBox="1"/>
          <p:nvPr/>
        </p:nvSpPr>
        <p:spPr>
          <a:xfrm>
            <a:off x="969264" y="3749039"/>
            <a:ext cx="2916936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50" b="1">
                <a:solidFill>
                  <a:srgbClr val="3E6B52"/>
                </a:solidFill>
                <a:latin typeface="맑은 고딕"/>
              </a:rPr>
              <a:t>최초 1회만</a:t>
            </a:r>
          </a:p>
        </p:txBody>
      </p:sp>
      <p:sp>
        <p:nvSpPr>
          <p:cNvPr id="75" name="Right Arrow 34">
            <a:extLst>
              <a:ext uri="{FF2B5EF4-FFF2-40B4-BE49-F238E27FC236}">
                <a16:creationId xmlns:a16="http://schemas.microsoft.com/office/drawing/2014/main" id="{05EC3216-D04F-B1E5-3465-A703714D7EAD}"/>
              </a:ext>
            </a:extLst>
          </p:cNvPr>
          <p:cNvSpPr/>
          <p:nvPr/>
        </p:nvSpPr>
        <p:spPr>
          <a:xfrm>
            <a:off x="4087368" y="3483864"/>
            <a:ext cx="164592" cy="182880"/>
          </a:xfrm>
          <a:prstGeom prst="rightArrow">
            <a:avLst/>
          </a:prstGeom>
          <a:solidFill>
            <a:srgbClr val="3E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ounded Rectangle 35">
            <a:extLst>
              <a:ext uri="{FF2B5EF4-FFF2-40B4-BE49-F238E27FC236}">
                <a16:creationId xmlns:a16="http://schemas.microsoft.com/office/drawing/2014/main" id="{0195CE00-0E13-25F8-918E-551A3FE8179C}"/>
              </a:ext>
            </a:extLst>
          </p:cNvPr>
          <p:cNvSpPr/>
          <p:nvPr/>
        </p:nvSpPr>
        <p:spPr>
          <a:xfrm>
            <a:off x="4306824" y="3090672"/>
            <a:ext cx="3575304" cy="969264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2E4A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Oval 36">
            <a:extLst>
              <a:ext uri="{FF2B5EF4-FFF2-40B4-BE49-F238E27FC236}">
                <a16:creationId xmlns:a16="http://schemas.microsoft.com/office/drawing/2014/main" id="{3110AA96-61ED-DAA4-A160-6E11E56396F6}"/>
              </a:ext>
            </a:extLst>
          </p:cNvPr>
          <p:cNvSpPr/>
          <p:nvPr/>
        </p:nvSpPr>
        <p:spPr>
          <a:xfrm>
            <a:off x="4453128" y="3218688"/>
            <a:ext cx="274320" cy="274320"/>
          </a:xfrm>
          <a:prstGeom prst="ellipse">
            <a:avLst/>
          </a:prstGeom>
          <a:solidFill>
            <a:srgbClr val="2E4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6607F512-47AD-1DD9-8F11-A3D06A674C06}"/>
              </a:ext>
            </a:extLst>
          </p:cNvPr>
          <p:cNvSpPr txBox="1"/>
          <p:nvPr/>
        </p:nvSpPr>
        <p:spPr>
          <a:xfrm>
            <a:off x="4818888" y="3236976"/>
            <a:ext cx="2916936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2E4A3B"/>
                </a:solidFill>
                <a:latin typeface="맑은 고딕"/>
              </a:rPr>
              <a:t>브랜드 사이즈 확인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D2139C64-4AE7-1BEC-A90A-4854E341BC4C}"/>
              </a:ext>
            </a:extLst>
          </p:cNvPr>
          <p:cNvSpPr txBox="1"/>
          <p:nvPr/>
        </p:nvSpPr>
        <p:spPr>
          <a:xfrm>
            <a:off x="4818888" y="3511296"/>
            <a:ext cx="2916936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>
                <a:solidFill>
                  <a:srgbClr val="5B615D"/>
                </a:solidFill>
                <a:latin typeface="맑은 고딕"/>
              </a:rPr>
              <a:t>안 입어본 브랜드도 내 사이즈로</a:t>
            </a:r>
          </a:p>
        </p:txBody>
      </p:sp>
      <p:sp>
        <p:nvSpPr>
          <p:cNvPr id="85" name="Right Arrow 39">
            <a:extLst>
              <a:ext uri="{FF2B5EF4-FFF2-40B4-BE49-F238E27FC236}">
                <a16:creationId xmlns:a16="http://schemas.microsoft.com/office/drawing/2014/main" id="{403F45F6-5968-0DE5-B987-DF9CD4C321EA}"/>
              </a:ext>
            </a:extLst>
          </p:cNvPr>
          <p:cNvSpPr/>
          <p:nvPr/>
        </p:nvSpPr>
        <p:spPr>
          <a:xfrm>
            <a:off x="7936992" y="3483864"/>
            <a:ext cx="164592" cy="182880"/>
          </a:xfrm>
          <a:prstGeom prst="rightArrow">
            <a:avLst/>
          </a:prstGeom>
          <a:solidFill>
            <a:srgbClr val="3E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Rounded Rectangle 40">
            <a:extLst>
              <a:ext uri="{FF2B5EF4-FFF2-40B4-BE49-F238E27FC236}">
                <a16:creationId xmlns:a16="http://schemas.microsoft.com/office/drawing/2014/main" id="{08268C84-309C-4BC0-83BD-5ABA0AD60008}"/>
              </a:ext>
            </a:extLst>
          </p:cNvPr>
          <p:cNvSpPr/>
          <p:nvPr/>
        </p:nvSpPr>
        <p:spPr>
          <a:xfrm>
            <a:off x="8156448" y="3090672"/>
            <a:ext cx="3575304" cy="969264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2E4A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Oval 41">
            <a:extLst>
              <a:ext uri="{FF2B5EF4-FFF2-40B4-BE49-F238E27FC236}">
                <a16:creationId xmlns:a16="http://schemas.microsoft.com/office/drawing/2014/main" id="{80C5EFF0-71B8-1354-3745-D5ECFE94D68B}"/>
              </a:ext>
            </a:extLst>
          </p:cNvPr>
          <p:cNvSpPr/>
          <p:nvPr/>
        </p:nvSpPr>
        <p:spPr>
          <a:xfrm>
            <a:off x="8302752" y="3218688"/>
            <a:ext cx="274320" cy="274320"/>
          </a:xfrm>
          <a:prstGeom prst="ellipse">
            <a:avLst/>
          </a:prstGeom>
          <a:solidFill>
            <a:srgbClr val="2E4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ECE6F0BD-8D82-0F98-B9EE-42FBFCCD1629}"/>
              </a:ext>
            </a:extLst>
          </p:cNvPr>
          <p:cNvSpPr txBox="1"/>
          <p:nvPr/>
        </p:nvSpPr>
        <p:spPr>
          <a:xfrm>
            <a:off x="8668512" y="3236976"/>
            <a:ext cx="2916936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2E4A3B"/>
                </a:solidFill>
                <a:latin typeface="맑은 고딕"/>
              </a:rPr>
              <a:t>확신하고 주문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8761767F-0282-A1CA-807A-B9E04E033B2B}"/>
              </a:ext>
            </a:extLst>
          </p:cNvPr>
          <p:cNvSpPr txBox="1"/>
          <p:nvPr/>
        </p:nvSpPr>
        <p:spPr>
          <a:xfrm>
            <a:off x="8668512" y="3511296"/>
            <a:ext cx="2916936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>
                <a:solidFill>
                  <a:srgbClr val="5B615D"/>
                </a:solidFill>
                <a:latin typeface="맑은 고딕"/>
              </a:rPr>
              <a:t>반품을 전제하지 않는다</a:t>
            </a:r>
          </a:p>
        </p:txBody>
      </p:sp>
      <p:sp>
        <p:nvSpPr>
          <p:cNvPr id="95" name="Rounded Rectangle 44">
            <a:extLst>
              <a:ext uri="{FF2B5EF4-FFF2-40B4-BE49-F238E27FC236}">
                <a16:creationId xmlns:a16="http://schemas.microsoft.com/office/drawing/2014/main" id="{B81D7FF2-73DD-A81C-6C1F-90A707A50358}"/>
              </a:ext>
            </a:extLst>
          </p:cNvPr>
          <p:cNvSpPr/>
          <p:nvPr/>
        </p:nvSpPr>
        <p:spPr>
          <a:xfrm>
            <a:off x="457200" y="4224528"/>
            <a:ext cx="11274552" cy="493776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5654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CEE5DDFA-1865-FC05-B29A-2910DBCFD364}"/>
              </a:ext>
            </a:extLst>
          </p:cNvPr>
          <p:cNvSpPr txBox="1"/>
          <p:nvPr/>
        </p:nvSpPr>
        <p:spPr>
          <a:xfrm>
            <a:off x="457200" y="4352544"/>
            <a:ext cx="11274552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50" b="1">
                <a:solidFill>
                  <a:srgbClr val="B5654A"/>
                </a:solidFill>
                <a:latin typeface="맑은 고딕"/>
              </a:rPr>
              <a:t>스타일이 고민되면  →  진단 결과(체형 카드)를 그대로 들고 전문가에게 (MVP②)</a:t>
            </a:r>
          </a:p>
        </p:txBody>
      </p:sp>
      <p:sp>
        <p:nvSpPr>
          <p:cNvPr id="99" name="Rounded Rectangle 46">
            <a:extLst>
              <a:ext uri="{FF2B5EF4-FFF2-40B4-BE49-F238E27FC236}">
                <a16:creationId xmlns:a16="http://schemas.microsoft.com/office/drawing/2014/main" id="{C3CAB89E-B77E-F1DE-F256-71AF20AE1322}"/>
              </a:ext>
            </a:extLst>
          </p:cNvPr>
          <p:cNvSpPr/>
          <p:nvPr/>
        </p:nvSpPr>
        <p:spPr>
          <a:xfrm>
            <a:off x="457200" y="4956048"/>
            <a:ext cx="3587496" cy="859536"/>
          </a:xfrm>
          <a:prstGeom prst="roundRect">
            <a:avLst/>
          </a:prstGeom>
          <a:solidFill>
            <a:srgbClr val="FBEFEA"/>
          </a:solidFill>
          <a:ln w="15875">
            <a:solidFill>
              <a:srgbClr val="B565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AEF85383-B512-5FE8-4990-9CEED43C2437}"/>
              </a:ext>
            </a:extLst>
          </p:cNvPr>
          <p:cNvSpPr txBox="1"/>
          <p:nvPr/>
        </p:nvSpPr>
        <p:spPr>
          <a:xfrm>
            <a:off x="621792" y="5084064"/>
            <a:ext cx="325831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700" b="1">
                <a:solidFill>
                  <a:srgbClr val="B5654A"/>
                </a:solidFill>
                <a:latin typeface="맑은 고딕"/>
              </a:rPr>
              <a:t>−2 단계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E6EB4B82-E11F-14F8-BEA1-7023D70C68B5}"/>
              </a:ext>
            </a:extLst>
          </p:cNvPr>
          <p:cNvSpPr txBox="1"/>
          <p:nvPr/>
        </p:nvSpPr>
        <p:spPr>
          <a:xfrm>
            <a:off x="621792" y="5413248"/>
            <a:ext cx="3258312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0">
                <a:solidFill>
                  <a:srgbClr val="5B615D"/>
                </a:solidFill>
                <a:latin typeface="맑은 고딕"/>
              </a:rPr>
              <a:t>‘사이즈표 뒤지기’와 ‘반품’이 사라진다</a:t>
            </a:r>
          </a:p>
        </p:txBody>
      </p:sp>
      <p:sp>
        <p:nvSpPr>
          <p:cNvPr id="105" name="Rounded Rectangle 49">
            <a:extLst>
              <a:ext uri="{FF2B5EF4-FFF2-40B4-BE49-F238E27FC236}">
                <a16:creationId xmlns:a16="http://schemas.microsoft.com/office/drawing/2014/main" id="{9DFBBC4A-7A48-35D2-42F1-C3DD705A084E}"/>
              </a:ext>
            </a:extLst>
          </p:cNvPr>
          <p:cNvSpPr/>
          <p:nvPr/>
        </p:nvSpPr>
        <p:spPr>
          <a:xfrm>
            <a:off x="4300728" y="4956048"/>
            <a:ext cx="3587496" cy="859536"/>
          </a:xfrm>
          <a:prstGeom prst="roundRect">
            <a:avLst/>
          </a:prstGeom>
          <a:solidFill>
            <a:srgbClr val="EAF1ED"/>
          </a:solidFill>
          <a:ln w="15875">
            <a:solidFill>
              <a:srgbClr val="2E4A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CD2F1938-E5A7-F4B0-8043-AA31007C968C}"/>
              </a:ext>
            </a:extLst>
          </p:cNvPr>
          <p:cNvSpPr txBox="1"/>
          <p:nvPr/>
        </p:nvSpPr>
        <p:spPr>
          <a:xfrm>
            <a:off x="4465320" y="5084064"/>
            <a:ext cx="325831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700" b="1">
                <a:solidFill>
                  <a:srgbClr val="2E4A3B"/>
                </a:solidFill>
                <a:latin typeface="맑은 고딕"/>
              </a:rPr>
              <a:t>반복 0회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5DE00EB8-D78E-1224-FB85-8DFBDF6E3BAC}"/>
              </a:ext>
            </a:extLst>
          </p:cNvPr>
          <p:cNvSpPr txBox="1"/>
          <p:nvPr/>
        </p:nvSpPr>
        <p:spPr>
          <a:xfrm>
            <a:off x="4465320" y="5413248"/>
            <a:ext cx="3258312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0">
                <a:solidFill>
                  <a:srgbClr val="5B615D"/>
                </a:solidFill>
                <a:latin typeface="맑은 고딕"/>
              </a:rPr>
              <a:t>진단은 최초 1회 · 다음 브랜드부터는 바로 확인</a:t>
            </a:r>
          </a:p>
        </p:txBody>
      </p:sp>
      <p:sp>
        <p:nvSpPr>
          <p:cNvPr id="111" name="Rounded Rectangle 52">
            <a:extLst>
              <a:ext uri="{FF2B5EF4-FFF2-40B4-BE49-F238E27FC236}">
                <a16:creationId xmlns:a16="http://schemas.microsoft.com/office/drawing/2014/main" id="{63550C44-AA58-D7EC-9B45-6520855C01FC}"/>
              </a:ext>
            </a:extLst>
          </p:cNvPr>
          <p:cNvSpPr/>
          <p:nvPr/>
        </p:nvSpPr>
        <p:spPr>
          <a:xfrm>
            <a:off x="8144256" y="4956048"/>
            <a:ext cx="3587496" cy="859536"/>
          </a:xfrm>
          <a:prstGeom prst="roundRect">
            <a:avLst/>
          </a:prstGeom>
          <a:solidFill>
            <a:srgbClr val="EAF1ED"/>
          </a:solidFill>
          <a:ln w="15875">
            <a:solidFill>
              <a:srgbClr val="2E4A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0DF03B73-E463-883A-376B-2F88B01233F0}"/>
              </a:ext>
            </a:extLst>
          </p:cNvPr>
          <p:cNvSpPr txBox="1"/>
          <p:nvPr/>
        </p:nvSpPr>
        <p:spPr>
          <a:xfrm>
            <a:off x="8308847" y="5084064"/>
            <a:ext cx="325831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700" b="1">
                <a:solidFill>
                  <a:srgbClr val="2E4A3B"/>
                </a:solidFill>
                <a:latin typeface="맑은 고딕"/>
              </a:rPr>
              <a:t>확신 후 주문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0F5ED439-C4B0-375B-F9AC-9CC5C3AAD595}"/>
              </a:ext>
            </a:extLst>
          </p:cNvPr>
          <p:cNvSpPr txBox="1"/>
          <p:nvPr/>
        </p:nvSpPr>
        <p:spPr>
          <a:xfrm>
            <a:off x="8308847" y="5413248"/>
            <a:ext cx="3258312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0">
                <a:solidFill>
                  <a:srgbClr val="5B615D"/>
                </a:solidFill>
                <a:latin typeface="맑은 고딕"/>
              </a:rPr>
              <a:t>반품을 전제로 하지 않는 구매로 바뀐다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1D742C4D-2650-3E83-D83B-B220C08C751E}"/>
              </a:ext>
            </a:extLst>
          </p:cNvPr>
          <p:cNvSpPr txBox="1"/>
          <p:nvPr/>
        </p:nvSpPr>
        <p:spPr>
          <a:xfrm>
            <a:off x="457200" y="6053328"/>
            <a:ext cx="11274552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1">
                <a:solidFill>
                  <a:srgbClr val="B8842B"/>
                </a:solidFill>
                <a:latin typeface="맑은 고딕"/>
              </a:rPr>
              <a:t>※ 저니맵이 ‘왜 아픈가(감정)’를 봤다면, 이 장은 ‘얼마나 번거로운가(단계·반복)’를 본다.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27848285-26EE-63C8-CBC2-AA21FAE557EE}"/>
              </a:ext>
            </a:extLst>
          </p:cNvPr>
          <p:cNvSpPr txBox="1"/>
          <p:nvPr/>
        </p:nvSpPr>
        <p:spPr>
          <a:xfrm>
            <a:off x="457200" y="292608"/>
            <a:ext cx="54864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1">
                <a:solidFill>
                  <a:srgbClr val="8B908B"/>
                </a:solidFill>
                <a:latin typeface="맑은 고딕"/>
              </a:rPr>
              <a:t>MVP ①  ·  SIZE DIAGNOSIS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AA2A557-1D16-46F6-46B0-CA18499ADA07}"/>
              </a:ext>
            </a:extLst>
          </p:cNvPr>
          <p:cNvSpPr txBox="1"/>
          <p:nvPr/>
        </p:nvSpPr>
        <p:spPr>
          <a:xfrm>
            <a:off x="457200" y="475488"/>
            <a:ext cx="10515600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1A1D1B"/>
                </a:solidFill>
                <a:latin typeface="맑은 고딕"/>
              </a:rPr>
              <a:t>착용 경험만으로, 안 입어본 브랜드의 내 사이즈까지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6A9D881-E73A-1E9F-4E7F-8AB942D22B99}"/>
              </a:ext>
            </a:extLst>
          </p:cNvPr>
          <p:cNvSpPr txBox="1"/>
          <p:nvPr/>
        </p:nvSpPr>
        <p:spPr>
          <a:xfrm>
            <a:off x="457200" y="914400"/>
            <a:ext cx="1124712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>
                <a:solidFill>
                  <a:srgbClr val="5B615D"/>
                </a:solidFill>
                <a:latin typeface="맑은 고딕"/>
              </a:rPr>
              <a:t>구현 완료 — 아래는 실제 동작 화면입니다.</a:t>
            </a:r>
          </a:p>
        </p:txBody>
      </p:sp>
      <p:pic>
        <p:nvPicPr>
          <p:cNvPr id="15" name="Picture 5" descr="04-진단-착용경험.png">
            <a:extLst>
              <a:ext uri="{FF2B5EF4-FFF2-40B4-BE49-F238E27FC236}">
                <a16:creationId xmlns:a16="http://schemas.microsoft.com/office/drawing/2014/main" id="{135B9361-8CDC-DEBD-14B3-EE6AA85C90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501" y="1553030"/>
            <a:ext cx="3569562" cy="2475664"/>
          </a:xfrm>
          <a:prstGeom prst="rect">
            <a:avLst/>
          </a:prstGeom>
        </p:spPr>
      </p:pic>
      <p:sp>
        <p:nvSpPr>
          <p:cNvPr id="17" name="Oval 6">
            <a:extLst>
              <a:ext uri="{FF2B5EF4-FFF2-40B4-BE49-F238E27FC236}">
                <a16:creationId xmlns:a16="http://schemas.microsoft.com/office/drawing/2014/main" id="{6132118E-7CE3-0630-4139-3916E024C743}"/>
              </a:ext>
            </a:extLst>
          </p:cNvPr>
          <p:cNvSpPr/>
          <p:nvPr/>
        </p:nvSpPr>
        <p:spPr>
          <a:xfrm>
            <a:off x="457200" y="4120134"/>
            <a:ext cx="292608" cy="292608"/>
          </a:xfrm>
          <a:prstGeom prst="ellipse">
            <a:avLst/>
          </a:prstGeom>
          <a:solidFill>
            <a:srgbClr val="2E4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FE04FCA-9335-718C-D61F-0EF6F6349BED}"/>
              </a:ext>
            </a:extLst>
          </p:cNvPr>
          <p:cNvSpPr txBox="1"/>
          <p:nvPr/>
        </p:nvSpPr>
        <p:spPr>
          <a:xfrm>
            <a:off x="841247" y="4156710"/>
            <a:ext cx="3099816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1">
                <a:solidFill>
                  <a:srgbClr val="2E4A3B"/>
                </a:solidFill>
                <a:latin typeface="맑은 고딕"/>
              </a:rPr>
              <a:t>착용 경험 입력</a:t>
            </a:r>
          </a:p>
        </p:txBody>
      </p:sp>
      <p:sp>
        <p:nvSpPr>
          <p:cNvPr id="21" name="Right Arrow 8">
            <a:extLst>
              <a:ext uri="{FF2B5EF4-FFF2-40B4-BE49-F238E27FC236}">
                <a16:creationId xmlns:a16="http://schemas.microsoft.com/office/drawing/2014/main" id="{6B957A54-5FCA-77E2-D811-181DC6B7C855}"/>
              </a:ext>
            </a:extLst>
          </p:cNvPr>
          <p:cNvSpPr/>
          <p:nvPr/>
        </p:nvSpPr>
        <p:spPr>
          <a:xfrm>
            <a:off x="4032504" y="2681859"/>
            <a:ext cx="237744" cy="201168"/>
          </a:xfrm>
          <a:prstGeom prst="rightArrow">
            <a:avLst/>
          </a:prstGeom>
          <a:solidFill>
            <a:srgbClr val="2E4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10" descr="05-결과-체형카드.png">
            <a:extLst>
              <a:ext uri="{FF2B5EF4-FFF2-40B4-BE49-F238E27FC236}">
                <a16:creationId xmlns:a16="http://schemas.microsoft.com/office/drawing/2014/main" id="{BCE5D0D9-399B-C62B-76B2-8D2E0AF6B0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4153" y="1548458"/>
            <a:ext cx="3483864" cy="2416228"/>
          </a:xfrm>
          <a:prstGeom prst="rect">
            <a:avLst/>
          </a:prstGeom>
        </p:spPr>
      </p:pic>
      <p:sp>
        <p:nvSpPr>
          <p:cNvPr id="25" name="Oval 11">
            <a:extLst>
              <a:ext uri="{FF2B5EF4-FFF2-40B4-BE49-F238E27FC236}">
                <a16:creationId xmlns:a16="http://schemas.microsoft.com/office/drawing/2014/main" id="{7A331658-9967-B1D3-5680-C205BC0B68D4}"/>
              </a:ext>
            </a:extLst>
          </p:cNvPr>
          <p:cNvSpPr/>
          <p:nvPr/>
        </p:nvSpPr>
        <p:spPr>
          <a:xfrm>
            <a:off x="4352544" y="4120134"/>
            <a:ext cx="292608" cy="292608"/>
          </a:xfrm>
          <a:prstGeom prst="ellipse">
            <a:avLst/>
          </a:prstGeom>
          <a:solidFill>
            <a:srgbClr val="2E4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85262BF-CE8E-193F-981A-D94C56DFC8AB}"/>
              </a:ext>
            </a:extLst>
          </p:cNvPr>
          <p:cNvSpPr txBox="1"/>
          <p:nvPr/>
        </p:nvSpPr>
        <p:spPr>
          <a:xfrm>
            <a:off x="4736592" y="4156710"/>
            <a:ext cx="3099816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1">
                <a:solidFill>
                  <a:srgbClr val="2E4A3B"/>
                </a:solidFill>
                <a:latin typeface="맑은 고딕"/>
              </a:rPr>
              <a:t>AI 8체형 진단</a:t>
            </a:r>
          </a:p>
        </p:txBody>
      </p:sp>
      <p:sp>
        <p:nvSpPr>
          <p:cNvPr id="29" name="Right Arrow 13">
            <a:extLst>
              <a:ext uri="{FF2B5EF4-FFF2-40B4-BE49-F238E27FC236}">
                <a16:creationId xmlns:a16="http://schemas.microsoft.com/office/drawing/2014/main" id="{4A1B10DB-6B0C-7C27-A60E-7CF1570D5131}"/>
              </a:ext>
            </a:extLst>
          </p:cNvPr>
          <p:cNvSpPr/>
          <p:nvPr/>
        </p:nvSpPr>
        <p:spPr>
          <a:xfrm>
            <a:off x="7927848" y="2681859"/>
            <a:ext cx="237744" cy="201168"/>
          </a:xfrm>
          <a:prstGeom prst="rightArrow">
            <a:avLst/>
          </a:prstGeom>
          <a:solidFill>
            <a:srgbClr val="2E4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1" name="Picture 15" descr="07-결과-브랜드추천.png">
            <a:extLst>
              <a:ext uri="{FF2B5EF4-FFF2-40B4-BE49-F238E27FC236}">
                <a16:creationId xmlns:a16="http://schemas.microsoft.com/office/drawing/2014/main" id="{681D709F-B6B7-03FD-D532-96CAD931774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47888" y="1572768"/>
            <a:ext cx="3483864" cy="2416228"/>
          </a:xfrm>
          <a:prstGeom prst="rect">
            <a:avLst/>
          </a:prstGeom>
        </p:spPr>
      </p:pic>
      <p:sp>
        <p:nvSpPr>
          <p:cNvPr id="33" name="Oval 16">
            <a:extLst>
              <a:ext uri="{FF2B5EF4-FFF2-40B4-BE49-F238E27FC236}">
                <a16:creationId xmlns:a16="http://schemas.microsoft.com/office/drawing/2014/main" id="{2E5022A9-2FC4-68EB-37A0-9A6C836A5AA9}"/>
              </a:ext>
            </a:extLst>
          </p:cNvPr>
          <p:cNvSpPr/>
          <p:nvPr/>
        </p:nvSpPr>
        <p:spPr>
          <a:xfrm>
            <a:off x="8247888" y="4120134"/>
            <a:ext cx="292608" cy="292608"/>
          </a:xfrm>
          <a:prstGeom prst="ellipse">
            <a:avLst/>
          </a:prstGeom>
          <a:solidFill>
            <a:srgbClr val="2E4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0C44F0B-E9D7-6860-1E3D-4F170C91477B}"/>
              </a:ext>
            </a:extLst>
          </p:cNvPr>
          <p:cNvSpPr txBox="1"/>
          <p:nvPr/>
        </p:nvSpPr>
        <p:spPr>
          <a:xfrm>
            <a:off x="8631936" y="4156710"/>
            <a:ext cx="3099816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1">
                <a:solidFill>
                  <a:srgbClr val="2E4A3B"/>
                </a:solidFill>
                <a:latin typeface="맑은 고딕"/>
              </a:rPr>
              <a:t>브랜드별 사이즈</a:t>
            </a:r>
          </a:p>
        </p:txBody>
      </p:sp>
      <p:sp>
        <p:nvSpPr>
          <p:cNvPr id="37" name="Rounded Rectangle 18">
            <a:extLst>
              <a:ext uri="{FF2B5EF4-FFF2-40B4-BE49-F238E27FC236}">
                <a16:creationId xmlns:a16="http://schemas.microsoft.com/office/drawing/2014/main" id="{269DF213-9AB5-9721-8AAA-6EE227B99CBA}"/>
              </a:ext>
            </a:extLst>
          </p:cNvPr>
          <p:cNvSpPr/>
          <p:nvPr/>
        </p:nvSpPr>
        <p:spPr>
          <a:xfrm>
            <a:off x="457200" y="4590288"/>
            <a:ext cx="11274552" cy="841248"/>
          </a:xfrm>
          <a:prstGeom prst="roundRect">
            <a:avLst/>
          </a:prstGeom>
          <a:solidFill>
            <a:srgbClr val="EAF1ED"/>
          </a:solidFill>
          <a:ln w="19050">
            <a:solidFill>
              <a:srgbClr val="2E4A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66C5260-5B25-C6B5-9DE2-57676AB6759C}"/>
              </a:ext>
            </a:extLst>
          </p:cNvPr>
          <p:cNvSpPr txBox="1"/>
          <p:nvPr/>
        </p:nvSpPr>
        <p:spPr>
          <a:xfrm>
            <a:off x="658368" y="4700016"/>
            <a:ext cx="27432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1">
                <a:solidFill>
                  <a:srgbClr val="2E4A3B"/>
                </a:solidFill>
                <a:latin typeface="맑은 고딕"/>
              </a:rPr>
              <a:t>기술 해자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B48DC7A-DCEC-E4C3-2F5F-5381FA38D3E8}"/>
              </a:ext>
            </a:extLst>
          </p:cNvPr>
          <p:cNvSpPr txBox="1"/>
          <p:nvPr/>
        </p:nvSpPr>
        <p:spPr>
          <a:xfrm>
            <a:off x="658368" y="4901184"/>
            <a:ext cx="108813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1A1D1B"/>
                </a:solidFill>
                <a:latin typeface="맑은 고딕"/>
              </a:rPr>
              <a:t>사이즈코리아 제8차 인체치수조사(2020~2024) 기반 회귀 모델  ×  브랜드 실측 사이즈 DB 1,679건 · 9개 브랜드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C296BE4-4451-C77D-0F54-7A865C3F550E}"/>
              </a:ext>
            </a:extLst>
          </p:cNvPr>
          <p:cNvSpPr txBox="1"/>
          <p:nvPr/>
        </p:nvSpPr>
        <p:spPr>
          <a:xfrm>
            <a:off x="658368" y="5157216"/>
            <a:ext cx="1088136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>
                <a:solidFill>
                  <a:srgbClr val="5B615D"/>
                </a:solidFill>
                <a:latin typeface="맑은 고딕"/>
              </a:rPr>
              <a:t>자라 · 무신사 스탠다드 · 탑텐 · 유니클로 · 에잇세컨즈 · 스파오 등 공개 사이즈표를 정규화해, 착용 경험으로 내 몸 치수를 역산한다.</a:t>
            </a:r>
          </a:p>
        </p:txBody>
      </p:sp>
      <p:sp>
        <p:nvSpPr>
          <p:cNvPr id="45" name="Rounded Rectangle 22">
            <a:extLst>
              <a:ext uri="{FF2B5EF4-FFF2-40B4-BE49-F238E27FC236}">
                <a16:creationId xmlns:a16="http://schemas.microsoft.com/office/drawing/2014/main" id="{E0976203-6756-832C-6010-ED0616821441}"/>
              </a:ext>
            </a:extLst>
          </p:cNvPr>
          <p:cNvSpPr/>
          <p:nvPr/>
        </p:nvSpPr>
        <p:spPr>
          <a:xfrm>
            <a:off x="457200" y="5577840"/>
            <a:ext cx="5504688" cy="786384"/>
          </a:xfrm>
          <a:prstGeom prst="roundRect">
            <a:avLst/>
          </a:prstGeom>
          <a:solidFill>
            <a:srgbClr val="2E4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D73F87D-D68D-A483-83BD-3BAF94A26AFE}"/>
              </a:ext>
            </a:extLst>
          </p:cNvPr>
          <p:cNvSpPr txBox="1"/>
          <p:nvPr/>
        </p:nvSpPr>
        <p:spPr>
          <a:xfrm>
            <a:off x="658368" y="5669280"/>
            <a:ext cx="512064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>
                <a:solidFill>
                  <a:srgbClr val="9CC3AE"/>
                </a:solidFill>
                <a:latin typeface="맑은 고딕"/>
              </a:rPr>
              <a:t>기존과 다른 점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B3942BD-1A8C-7B9E-2812-3018FD16A81A}"/>
              </a:ext>
            </a:extLst>
          </p:cNvPr>
          <p:cNvSpPr txBox="1"/>
          <p:nvPr/>
        </p:nvSpPr>
        <p:spPr>
          <a:xfrm>
            <a:off x="658368" y="5852160"/>
            <a:ext cx="5120640" cy="420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</a:rPr>
              <a:t>플랫폼 추천은 “그 몰의 구매 이력”이 있어야 작동한다.</a:t>
            </a:r>
          </a:p>
          <a:p>
            <a:pPr algn="l"/>
            <a:r>
              <a:rPr sz="1000" b="1">
                <a:solidFill>
                  <a:srgbClr val="FFFFFF"/>
                </a:solidFill>
                <a:latin typeface="맑은 고딕"/>
              </a:rPr>
              <a:t>핏팅은 평소 입던 옷 2벌이면 어느 브랜드로든 번역된다.</a:t>
            </a:r>
          </a:p>
        </p:txBody>
      </p:sp>
      <p:sp>
        <p:nvSpPr>
          <p:cNvPr id="51" name="Rounded Rectangle 25">
            <a:extLst>
              <a:ext uri="{FF2B5EF4-FFF2-40B4-BE49-F238E27FC236}">
                <a16:creationId xmlns:a16="http://schemas.microsoft.com/office/drawing/2014/main" id="{0EF2370C-A1BA-E41E-9428-441B9F5AE71B}"/>
              </a:ext>
            </a:extLst>
          </p:cNvPr>
          <p:cNvSpPr/>
          <p:nvPr/>
        </p:nvSpPr>
        <p:spPr>
          <a:xfrm>
            <a:off x="6227064" y="5577840"/>
            <a:ext cx="5504688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884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2430EA7-9D90-479D-B1BC-4BD7C4BC7C53}"/>
              </a:ext>
            </a:extLst>
          </p:cNvPr>
          <p:cNvSpPr txBox="1"/>
          <p:nvPr/>
        </p:nvSpPr>
        <p:spPr>
          <a:xfrm>
            <a:off x="6428232" y="5669280"/>
            <a:ext cx="512064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>
                <a:solidFill>
                  <a:srgbClr val="B8842B"/>
                </a:solidFill>
                <a:latin typeface="맑은 고딕"/>
              </a:rPr>
              <a:t>정확도 검증 루프 (Eval)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6ACCB2F-ED12-5904-B21B-17C73EE2DA05}"/>
              </a:ext>
            </a:extLst>
          </p:cNvPr>
          <p:cNvSpPr txBox="1"/>
          <p:nvPr/>
        </p:nvSpPr>
        <p:spPr>
          <a:xfrm>
            <a:off x="6428232" y="5852160"/>
            <a:ext cx="5120640" cy="420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>
                <a:solidFill>
                  <a:srgbClr val="1A1D1B"/>
                </a:solidFill>
                <a:latin typeface="맑은 고딕"/>
              </a:rPr>
              <a:t>결과 화면 “맞아요 / 보통 / 안 맞아요”를 진단 ID와 함께 적재.</a:t>
            </a:r>
          </a:p>
          <a:p>
            <a:pPr algn="l"/>
            <a:r>
              <a:rPr sz="1000" b="1">
                <a:solidFill>
                  <a:srgbClr val="1A1D1B"/>
                </a:solidFill>
                <a:latin typeface="맑은 고딕"/>
              </a:rPr>
              <a:t>킬 메트릭 — 사이즈 동의율 65% 이상.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C91DFF32-C21D-8BA3-3946-854F7B847871}"/>
              </a:ext>
            </a:extLst>
          </p:cNvPr>
          <p:cNvSpPr txBox="1"/>
          <p:nvPr/>
        </p:nvSpPr>
        <p:spPr>
          <a:xfrm>
            <a:off x="457200" y="292608"/>
            <a:ext cx="54864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1">
                <a:solidFill>
                  <a:srgbClr val="8B908B"/>
                </a:solidFill>
                <a:latin typeface="맑은 고딕"/>
              </a:rPr>
              <a:t>MVP ②  ·  STYLIST MATCHING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E6C534F-713D-A69E-C244-AF7ADB723D82}"/>
              </a:ext>
            </a:extLst>
          </p:cNvPr>
          <p:cNvSpPr txBox="1"/>
          <p:nvPr/>
        </p:nvSpPr>
        <p:spPr>
          <a:xfrm>
            <a:off x="457200" y="475488"/>
            <a:ext cx="10515600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1A1D1B"/>
                </a:solidFill>
                <a:latin typeface="맑은 고딕"/>
              </a:rPr>
              <a:t>정답이 없는 스타일은, 사람에게 연결한다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52F7A15-A824-DED6-12E4-6E54EC48DDBB}"/>
              </a:ext>
            </a:extLst>
          </p:cNvPr>
          <p:cNvSpPr txBox="1"/>
          <p:nvPr/>
        </p:nvSpPr>
        <p:spPr>
          <a:xfrm>
            <a:off x="457200" y="914400"/>
            <a:ext cx="1124712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>
                <a:solidFill>
                  <a:srgbClr val="5B615D"/>
                </a:solidFill>
                <a:latin typeface="맑은 고딕"/>
              </a:rPr>
              <a:t>화면·플로우 구현 완료 — 실매칭은 열지 않고 수요부터 측정하는 단계입니다.</a:t>
            </a:r>
          </a:p>
        </p:txBody>
      </p:sp>
      <p:pic>
        <p:nvPicPr>
          <p:cNvPr id="15" name="Picture 5" descr="08-스타일리스트-찾기.png">
            <a:extLst>
              <a:ext uri="{FF2B5EF4-FFF2-40B4-BE49-F238E27FC236}">
                <a16:creationId xmlns:a16="http://schemas.microsoft.com/office/drawing/2014/main" id="{AC081B89-98F8-91DB-97E9-A8A6A0D8F6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572768"/>
            <a:ext cx="3483864" cy="2416228"/>
          </a:xfrm>
          <a:prstGeom prst="rect">
            <a:avLst/>
          </a:prstGeom>
        </p:spPr>
      </p:pic>
      <p:sp>
        <p:nvSpPr>
          <p:cNvPr id="17" name="Oval 6">
            <a:extLst>
              <a:ext uri="{FF2B5EF4-FFF2-40B4-BE49-F238E27FC236}">
                <a16:creationId xmlns:a16="http://schemas.microsoft.com/office/drawing/2014/main" id="{AA6826E9-49F9-A0FA-3089-5D0B7D0EF138}"/>
              </a:ext>
            </a:extLst>
          </p:cNvPr>
          <p:cNvSpPr/>
          <p:nvPr/>
        </p:nvSpPr>
        <p:spPr>
          <a:xfrm>
            <a:off x="457200" y="4120134"/>
            <a:ext cx="292608" cy="292608"/>
          </a:xfrm>
          <a:prstGeom prst="ellipse">
            <a:avLst/>
          </a:prstGeom>
          <a:solidFill>
            <a:srgbClr val="B56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8CABED3-9721-6321-70B0-0215C9FC4C54}"/>
              </a:ext>
            </a:extLst>
          </p:cNvPr>
          <p:cNvSpPr txBox="1"/>
          <p:nvPr/>
        </p:nvSpPr>
        <p:spPr>
          <a:xfrm>
            <a:off x="841247" y="4156710"/>
            <a:ext cx="3099816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1">
                <a:solidFill>
                  <a:srgbClr val="B5654A"/>
                </a:solidFill>
                <a:latin typeface="맑은 고딕"/>
              </a:rPr>
              <a:t>스타일리스트 찾기</a:t>
            </a:r>
          </a:p>
        </p:txBody>
      </p:sp>
      <p:sp>
        <p:nvSpPr>
          <p:cNvPr id="21" name="Right Arrow 8">
            <a:extLst>
              <a:ext uri="{FF2B5EF4-FFF2-40B4-BE49-F238E27FC236}">
                <a16:creationId xmlns:a16="http://schemas.microsoft.com/office/drawing/2014/main" id="{3A17EB9C-AB91-24A8-4F93-7F405B21ECD5}"/>
              </a:ext>
            </a:extLst>
          </p:cNvPr>
          <p:cNvSpPr/>
          <p:nvPr/>
        </p:nvSpPr>
        <p:spPr>
          <a:xfrm>
            <a:off x="4032504" y="2681859"/>
            <a:ext cx="237744" cy="201168"/>
          </a:xfrm>
          <a:prstGeom prst="rightArrow">
            <a:avLst/>
          </a:prstGeom>
          <a:solidFill>
            <a:srgbClr val="B56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10" descr="09-스타일리스트-상세.png">
            <a:extLst>
              <a:ext uri="{FF2B5EF4-FFF2-40B4-BE49-F238E27FC236}">
                <a16:creationId xmlns:a16="http://schemas.microsoft.com/office/drawing/2014/main" id="{C14F3947-2A34-BE8D-8958-76CD5BD885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2544" y="1572768"/>
            <a:ext cx="3483864" cy="2416228"/>
          </a:xfrm>
          <a:prstGeom prst="rect">
            <a:avLst/>
          </a:prstGeom>
        </p:spPr>
      </p:pic>
      <p:sp>
        <p:nvSpPr>
          <p:cNvPr id="25" name="Oval 11">
            <a:extLst>
              <a:ext uri="{FF2B5EF4-FFF2-40B4-BE49-F238E27FC236}">
                <a16:creationId xmlns:a16="http://schemas.microsoft.com/office/drawing/2014/main" id="{287C166D-9EC4-9177-A489-E52A3F7E4CD6}"/>
              </a:ext>
            </a:extLst>
          </p:cNvPr>
          <p:cNvSpPr/>
          <p:nvPr/>
        </p:nvSpPr>
        <p:spPr>
          <a:xfrm>
            <a:off x="4352544" y="4120134"/>
            <a:ext cx="292608" cy="292608"/>
          </a:xfrm>
          <a:prstGeom prst="ellipse">
            <a:avLst/>
          </a:prstGeom>
          <a:solidFill>
            <a:srgbClr val="B56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F655921-C9C1-6CA1-E903-62E1ABB3F0A3}"/>
              </a:ext>
            </a:extLst>
          </p:cNvPr>
          <p:cNvSpPr txBox="1"/>
          <p:nvPr/>
        </p:nvSpPr>
        <p:spPr>
          <a:xfrm>
            <a:off x="4736592" y="4156710"/>
            <a:ext cx="3099816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1">
                <a:solidFill>
                  <a:srgbClr val="B5654A"/>
                </a:solidFill>
                <a:latin typeface="맑은 고딕"/>
              </a:rPr>
              <a:t>프로필 · 견적 요청</a:t>
            </a:r>
          </a:p>
        </p:txBody>
      </p:sp>
      <p:sp>
        <p:nvSpPr>
          <p:cNvPr id="29" name="Right Arrow 13">
            <a:extLst>
              <a:ext uri="{FF2B5EF4-FFF2-40B4-BE49-F238E27FC236}">
                <a16:creationId xmlns:a16="http://schemas.microsoft.com/office/drawing/2014/main" id="{A28C802E-8C5E-61AC-C616-D57CB32F002A}"/>
              </a:ext>
            </a:extLst>
          </p:cNvPr>
          <p:cNvSpPr/>
          <p:nvPr/>
        </p:nvSpPr>
        <p:spPr>
          <a:xfrm>
            <a:off x="7927848" y="2681859"/>
            <a:ext cx="237744" cy="201168"/>
          </a:xfrm>
          <a:prstGeom prst="rightArrow">
            <a:avLst/>
          </a:prstGeom>
          <a:solidFill>
            <a:srgbClr val="B56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1" name="Picture 15" descr="10-쇼퍼-견적서-체형카드.png">
            <a:extLst>
              <a:ext uri="{FF2B5EF4-FFF2-40B4-BE49-F238E27FC236}">
                <a16:creationId xmlns:a16="http://schemas.microsoft.com/office/drawing/2014/main" id="{4D3AA058-4EED-430B-6356-A7382DD4AC5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47888" y="1572768"/>
            <a:ext cx="3483864" cy="2416228"/>
          </a:xfrm>
          <a:prstGeom prst="rect">
            <a:avLst/>
          </a:prstGeom>
        </p:spPr>
      </p:pic>
      <p:sp>
        <p:nvSpPr>
          <p:cNvPr id="33" name="Oval 16">
            <a:extLst>
              <a:ext uri="{FF2B5EF4-FFF2-40B4-BE49-F238E27FC236}">
                <a16:creationId xmlns:a16="http://schemas.microsoft.com/office/drawing/2014/main" id="{5A778ADC-3880-A270-7F0C-31F46D6B02E1}"/>
              </a:ext>
            </a:extLst>
          </p:cNvPr>
          <p:cNvSpPr/>
          <p:nvPr/>
        </p:nvSpPr>
        <p:spPr>
          <a:xfrm>
            <a:off x="8247888" y="4120134"/>
            <a:ext cx="292608" cy="292608"/>
          </a:xfrm>
          <a:prstGeom prst="ellipse">
            <a:avLst/>
          </a:prstGeom>
          <a:solidFill>
            <a:srgbClr val="B56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D1CFD30-B046-D2A0-B80A-CA9838C36D0E}"/>
              </a:ext>
            </a:extLst>
          </p:cNvPr>
          <p:cNvSpPr txBox="1"/>
          <p:nvPr/>
        </p:nvSpPr>
        <p:spPr>
          <a:xfrm>
            <a:off x="8631936" y="4156710"/>
            <a:ext cx="3099816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1">
                <a:solidFill>
                  <a:srgbClr val="B5654A"/>
                </a:solidFill>
                <a:latin typeface="맑은 고딕"/>
              </a:rPr>
              <a:t>견적서에 체형 자동 첨부</a:t>
            </a:r>
          </a:p>
        </p:txBody>
      </p:sp>
      <p:sp>
        <p:nvSpPr>
          <p:cNvPr id="37" name="Rounded Rectangle 18">
            <a:extLst>
              <a:ext uri="{FF2B5EF4-FFF2-40B4-BE49-F238E27FC236}">
                <a16:creationId xmlns:a16="http://schemas.microsoft.com/office/drawing/2014/main" id="{5DC95D0E-EF99-9E4A-172A-BF8F6357F0D8}"/>
              </a:ext>
            </a:extLst>
          </p:cNvPr>
          <p:cNvSpPr/>
          <p:nvPr/>
        </p:nvSpPr>
        <p:spPr>
          <a:xfrm>
            <a:off x="457200" y="4590288"/>
            <a:ext cx="5504688" cy="841248"/>
          </a:xfrm>
          <a:prstGeom prst="roundRect">
            <a:avLst/>
          </a:prstGeom>
          <a:solidFill>
            <a:srgbClr val="FBEFEA"/>
          </a:solidFill>
          <a:ln w="19050">
            <a:solidFill>
              <a:srgbClr val="B565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101534D-D613-DB7A-3955-6A0F798B1E82}"/>
              </a:ext>
            </a:extLst>
          </p:cNvPr>
          <p:cNvSpPr txBox="1"/>
          <p:nvPr/>
        </p:nvSpPr>
        <p:spPr>
          <a:xfrm>
            <a:off x="658368" y="4700016"/>
            <a:ext cx="512064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1">
                <a:solidFill>
                  <a:srgbClr val="B5654A"/>
                </a:solidFill>
                <a:latin typeface="맑은 고딕"/>
              </a:rPr>
              <a:t>두 MVP를 잇는 고리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ED73FD0-A6C0-B298-8E3F-91AB4F4D9C55}"/>
              </a:ext>
            </a:extLst>
          </p:cNvPr>
          <p:cNvSpPr txBox="1"/>
          <p:nvPr/>
        </p:nvSpPr>
        <p:spPr>
          <a:xfrm>
            <a:off x="658368" y="4919472"/>
            <a:ext cx="5120640" cy="420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1">
                <a:solidFill>
                  <a:srgbClr val="1A1D1B"/>
                </a:solidFill>
                <a:latin typeface="맑은 고딕"/>
              </a:rPr>
              <a:t>진단 결과(8체형 · 부위별 예상 치수 · 상하의 핏 취향)가</a:t>
            </a:r>
          </a:p>
          <a:p>
            <a:pPr algn="l"/>
            <a:r>
              <a:rPr sz="1050" b="1">
                <a:solidFill>
                  <a:srgbClr val="1A1D1B"/>
                </a:solidFill>
                <a:latin typeface="맑은 고딕"/>
              </a:rPr>
              <a:t>견적서에 그대로 실린다 — 체형을 모르는 채 시작하지 않는다.</a:t>
            </a:r>
          </a:p>
        </p:txBody>
      </p:sp>
      <p:sp>
        <p:nvSpPr>
          <p:cNvPr id="43" name="Rounded Rectangle 21">
            <a:extLst>
              <a:ext uri="{FF2B5EF4-FFF2-40B4-BE49-F238E27FC236}">
                <a16:creationId xmlns:a16="http://schemas.microsoft.com/office/drawing/2014/main" id="{F3CD9A04-088A-68D1-7206-7E15DC398570}"/>
              </a:ext>
            </a:extLst>
          </p:cNvPr>
          <p:cNvSpPr/>
          <p:nvPr/>
        </p:nvSpPr>
        <p:spPr>
          <a:xfrm>
            <a:off x="6227064" y="4590288"/>
            <a:ext cx="5504688" cy="841248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B8842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F758C19-12A7-943A-B187-756EE06546E7}"/>
              </a:ext>
            </a:extLst>
          </p:cNvPr>
          <p:cNvSpPr txBox="1"/>
          <p:nvPr/>
        </p:nvSpPr>
        <p:spPr>
          <a:xfrm>
            <a:off x="6428232" y="4700016"/>
            <a:ext cx="512064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1">
                <a:solidFill>
                  <a:srgbClr val="B8842B"/>
                </a:solidFill>
                <a:latin typeface="맑은 고딕"/>
              </a:rPr>
              <a:t>지금 단계 · 페이크도어 수요 검증</a:t>
            </a:r>
          </a:p>
        </p:txBody>
      </p:sp>
      <p:sp>
        <p:nvSpPr>
          <p:cNvPr id="49" name="Rounded Rectangle 24">
            <a:extLst>
              <a:ext uri="{FF2B5EF4-FFF2-40B4-BE49-F238E27FC236}">
                <a16:creationId xmlns:a16="http://schemas.microsoft.com/office/drawing/2014/main" id="{868A3342-033E-23EE-6BFE-884D35AF8AC1}"/>
              </a:ext>
            </a:extLst>
          </p:cNvPr>
          <p:cNvSpPr/>
          <p:nvPr/>
        </p:nvSpPr>
        <p:spPr>
          <a:xfrm>
            <a:off x="457200" y="5577840"/>
            <a:ext cx="11274552" cy="786384"/>
          </a:xfrm>
          <a:prstGeom prst="roundRect">
            <a:avLst/>
          </a:prstGeom>
          <a:solidFill>
            <a:srgbClr val="B56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F83765B-8B25-014E-8D8B-1D7BC977C54F}"/>
              </a:ext>
            </a:extLst>
          </p:cNvPr>
          <p:cNvSpPr txBox="1"/>
          <p:nvPr/>
        </p:nvSpPr>
        <p:spPr>
          <a:xfrm>
            <a:off x="457200" y="5687568"/>
            <a:ext cx="11274552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1">
                <a:solidFill>
                  <a:srgbClr val="F0D3C6"/>
                </a:solidFill>
                <a:latin typeface="맑은 고딕"/>
              </a:rPr>
              <a:t>왜 사람인가   —   5 Whys가 ‘취향’에서 멈췄기 때문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BA0572B-A44A-7355-C8E9-4FEC67761753}"/>
              </a:ext>
            </a:extLst>
          </p:cNvPr>
          <p:cNvSpPr txBox="1"/>
          <p:nvPr/>
        </p:nvSpPr>
        <p:spPr>
          <a:xfrm>
            <a:off x="457200" y="5925312"/>
            <a:ext cx="11274552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맑은 고딕"/>
              </a:rPr>
              <a:t>어울림은 체형·상황·취향이 섞여 규칙으로 계산되지 않는다. 공급자를 먼저 모으는 대신 수요부터 확인하는 순서로 콜드 스타트를 피한다.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49E2A94-A51E-31E6-DC66-F73F66E8F3A3}"/>
              </a:ext>
            </a:extLst>
          </p:cNvPr>
          <p:cNvSpPr txBox="1"/>
          <p:nvPr/>
        </p:nvSpPr>
        <p:spPr>
          <a:xfrm>
            <a:off x="6428232" y="4919472"/>
            <a:ext cx="5120640" cy="420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1" dirty="0" err="1">
                <a:solidFill>
                  <a:srgbClr val="1A1D1B"/>
                </a:solidFill>
                <a:latin typeface="맑은 고딕"/>
              </a:rPr>
              <a:t>요청</a:t>
            </a:r>
            <a:r>
              <a:rPr sz="1050" b="1" dirty="0">
                <a:solidFill>
                  <a:srgbClr val="1A1D1B"/>
                </a:solidFill>
                <a:latin typeface="맑은 고딕"/>
              </a:rPr>
              <a:t> → </a:t>
            </a:r>
            <a:r>
              <a:rPr sz="1050" b="1" dirty="0" err="1">
                <a:solidFill>
                  <a:srgbClr val="1A1D1B"/>
                </a:solidFill>
                <a:latin typeface="맑은 고딕"/>
              </a:rPr>
              <a:t>견적</a:t>
            </a:r>
            <a:r>
              <a:rPr sz="1050" b="1" dirty="0">
                <a:solidFill>
                  <a:srgbClr val="1A1D1B"/>
                </a:solidFill>
                <a:latin typeface="맑은 고딕"/>
              </a:rPr>
              <a:t> → </a:t>
            </a:r>
            <a:r>
              <a:rPr sz="1050" b="1" dirty="0" err="1">
                <a:solidFill>
                  <a:srgbClr val="1A1D1B"/>
                </a:solidFill>
                <a:latin typeface="맑은 고딕"/>
              </a:rPr>
              <a:t>에스크로</a:t>
            </a:r>
            <a:r>
              <a:rPr sz="1050" b="1" dirty="0">
                <a:solidFill>
                  <a:srgbClr val="1A1D1B"/>
                </a:solidFill>
                <a:latin typeface="맑은 고딕"/>
              </a:rPr>
              <a:t> </a:t>
            </a:r>
            <a:r>
              <a:rPr sz="1050" b="1" dirty="0" err="1">
                <a:solidFill>
                  <a:srgbClr val="1A1D1B"/>
                </a:solidFill>
                <a:latin typeface="맑은 고딕"/>
              </a:rPr>
              <a:t>결제</a:t>
            </a:r>
            <a:r>
              <a:rPr sz="1050" b="1" dirty="0">
                <a:solidFill>
                  <a:srgbClr val="1A1D1B"/>
                </a:solidFill>
                <a:latin typeface="맑은 고딕"/>
              </a:rPr>
              <a:t> → </a:t>
            </a:r>
            <a:r>
              <a:rPr sz="1050" b="1" dirty="0" err="1">
                <a:solidFill>
                  <a:srgbClr val="1A1D1B"/>
                </a:solidFill>
                <a:latin typeface="맑은 고딕"/>
              </a:rPr>
              <a:t>결과물</a:t>
            </a:r>
            <a:r>
              <a:rPr sz="1050" b="1" dirty="0">
                <a:solidFill>
                  <a:srgbClr val="1A1D1B"/>
                </a:solidFill>
                <a:latin typeface="맑은 고딕"/>
              </a:rPr>
              <a:t> → </a:t>
            </a:r>
            <a:r>
              <a:rPr sz="1050" b="1" dirty="0" err="1">
                <a:solidFill>
                  <a:srgbClr val="1A1D1B"/>
                </a:solidFill>
                <a:latin typeface="맑은 고딕"/>
              </a:rPr>
              <a:t>정산까지</a:t>
            </a:r>
            <a:r>
              <a:rPr sz="1050" b="1" dirty="0">
                <a:solidFill>
                  <a:srgbClr val="1A1D1B"/>
                </a:solidFill>
                <a:latin typeface="맑은 고딕"/>
              </a:rPr>
              <a:t> </a:t>
            </a:r>
            <a:r>
              <a:rPr sz="1050" b="1" dirty="0" err="1">
                <a:solidFill>
                  <a:srgbClr val="1A1D1B"/>
                </a:solidFill>
                <a:latin typeface="맑은 고딕"/>
              </a:rPr>
              <a:t>동작한다</a:t>
            </a:r>
            <a:r>
              <a:rPr sz="1050" b="1" dirty="0">
                <a:solidFill>
                  <a:srgbClr val="1A1D1B"/>
                </a:solidFill>
                <a:latin typeface="맑은 고딕"/>
              </a:rPr>
              <a:t>.</a:t>
            </a:r>
          </a:p>
          <a:p>
            <a:pPr algn="l"/>
            <a:r>
              <a:rPr sz="1050" b="1" dirty="0" err="1">
                <a:solidFill>
                  <a:srgbClr val="1A1D1B"/>
                </a:solidFill>
                <a:latin typeface="맑은 고딕"/>
              </a:rPr>
              <a:t>배포본은</a:t>
            </a:r>
            <a:r>
              <a:rPr sz="1050" b="1" dirty="0">
                <a:solidFill>
                  <a:srgbClr val="1A1D1B"/>
                </a:solidFill>
                <a:latin typeface="맑은 고딕"/>
              </a:rPr>
              <a:t> </a:t>
            </a:r>
            <a:r>
              <a:rPr sz="1050" b="1" dirty="0" err="1">
                <a:solidFill>
                  <a:srgbClr val="1A1D1B"/>
                </a:solidFill>
                <a:latin typeface="맑은 고딕"/>
              </a:rPr>
              <a:t>페이크도어로</a:t>
            </a:r>
            <a:r>
              <a:rPr sz="1050" b="1" dirty="0">
                <a:solidFill>
                  <a:srgbClr val="1A1D1B"/>
                </a:solidFill>
                <a:latin typeface="맑은 고딕"/>
              </a:rPr>
              <a:t> </a:t>
            </a:r>
            <a:r>
              <a:rPr sz="1050" b="1" dirty="0" err="1">
                <a:solidFill>
                  <a:srgbClr val="1A1D1B"/>
                </a:solidFill>
                <a:latin typeface="맑은 고딕"/>
              </a:rPr>
              <a:t>전환</a:t>
            </a:r>
            <a:r>
              <a:rPr sz="1050" b="1" dirty="0">
                <a:solidFill>
                  <a:srgbClr val="1A1D1B"/>
                </a:solidFill>
                <a:latin typeface="맑은 고딕"/>
              </a:rPr>
              <a:t> </a:t>
            </a:r>
            <a:r>
              <a:rPr sz="1050" b="1" dirty="0" err="1">
                <a:solidFill>
                  <a:srgbClr val="1A1D1B"/>
                </a:solidFill>
                <a:latin typeface="맑은 고딕"/>
              </a:rPr>
              <a:t>신호만</a:t>
            </a:r>
            <a:r>
              <a:rPr sz="1050" b="1" dirty="0">
                <a:solidFill>
                  <a:srgbClr val="1A1D1B"/>
                </a:solidFill>
                <a:latin typeface="맑은 고딕"/>
              </a:rPr>
              <a:t> </a:t>
            </a:r>
            <a:r>
              <a:rPr sz="1050" b="1" dirty="0" err="1">
                <a:solidFill>
                  <a:srgbClr val="1A1D1B"/>
                </a:solidFill>
                <a:latin typeface="맑은 고딕"/>
              </a:rPr>
              <a:t>측정</a:t>
            </a:r>
            <a:r>
              <a:rPr sz="1050" b="1" dirty="0">
                <a:solidFill>
                  <a:srgbClr val="1A1D1B"/>
                </a:solidFill>
                <a:latin typeface="맑은 고딕"/>
              </a:rPr>
              <a:t> — </a:t>
            </a:r>
            <a:r>
              <a:rPr sz="1050" b="1" dirty="0" err="1">
                <a:solidFill>
                  <a:srgbClr val="1A1D1B"/>
                </a:solidFill>
                <a:latin typeface="맑은 고딕"/>
              </a:rPr>
              <a:t>목표</a:t>
            </a:r>
            <a:r>
              <a:rPr sz="1050" b="1" dirty="0">
                <a:solidFill>
                  <a:srgbClr val="1A1D1B"/>
                </a:solidFill>
                <a:latin typeface="맑은 고딕"/>
              </a:rPr>
              <a:t> 25% </a:t>
            </a:r>
            <a:r>
              <a:rPr sz="1050" b="1" dirty="0" err="1">
                <a:solidFill>
                  <a:srgbClr val="1A1D1B"/>
                </a:solidFill>
                <a:latin typeface="맑은 고딕"/>
              </a:rPr>
              <a:t>이상</a:t>
            </a:r>
            <a:r>
              <a:rPr sz="1050" b="1" dirty="0">
                <a:solidFill>
                  <a:srgbClr val="1A1D1B"/>
                </a:solidFill>
                <a:latin typeface="맑은 고딕"/>
              </a:rPr>
              <a:t>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10. 수요 검증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 dirty="0"/>
              <a:t>[</a:t>
            </a:r>
            <a:r>
              <a:rPr b="1" dirty="0" err="1"/>
              <a:t>핵심</a:t>
            </a:r>
            <a:r>
              <a:rPr b="1" dirty="0"/>
              <a:t> </a:t>
            </a:r>
            <a:r>
              <a:rPr b="1" dirty="0" err="1"/>
              <a:t>메시지</a:t>
            </a:r>
            <a:r>
              <a:rPr b="1" dirty="0"/>
              <a:t>] </a:t>
            </a:r>
            <a:r>
              <a:rPr b="1" dirty="0" err="1"/>
              <a:t>시장이</a:t>
            </a:r>
            <a:r>
              <a:rPr b="1" dirty="0"/>
              <a:t> </a:t>
            </a:r>
            <a:r>
              <a:rPr b="1" dirty="0" err="1"/>
              <a:t>원한다는</a:t>
            </a:r>
            <a:r>
              <a:rPr b="1" dirty="0"/>
              <a:t> </a:t>
            </a:r>
            <a:r>
              <a:rPr b="1" dirty="0" err="1"/>
              <a:t>증거</a:t>
            </a:r>
            <a:endParaRPr b="1" dirty="0"/>
          </a:p>
          <a:p>
            <a:pPr lvl="1"/>
            <a:r>
              <a:rPr dirty="0" err="1"/>
              <a:t>페이크도어</a:t>
            </a:r>
            <a:r>
              <a:rPr dirty="0"/>
              <a:t> · </a:t>
            </a:r>
            <a:r>
              <a:rPr dirty="0" err="1"/>
              <a:t>웨이트리스트</a:t>
            </a:r>
            <a:r>
              <a:rPr dirty="0"/>
              <a:t> </a:t>
            </a:r>
            <a:r>
              <a:rPr dirty="0" err="1"/>
              <a:t>실측</a:t>
            </a:r>
            <a:endParaRPr dirty="0"/>
          </a:p>
          <a:p>
            <a:pPr lvl="1"/>
            <a:r>
              <a:rPr dirty="0" err="1"/>
              <a:t>초기</a:t>
            </a:r>
            <a:r>
              <a:rPr dirty="0"/>
              <a:t> </a:t>
            </a:r>
            <a:r>
              <a:rPr dirty="0" err="1"/>
              <a:t>지표</a:t>
            </a:r>
            <a:r>
              <a:rPr dirty="0"/>
              <a:t> · </a:t>
            </a:r>
            <a:r>
              <a:rPr dirty="0" err="1"/>
              <a:t>피드백</a:t>
            </a:r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11. 비즈니스 모델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[핵심 메시지] 어떻게 돈을 버나</a:t>
            </a:r>
          </a:p>
          <a:p>
            <a:pPr lvl="1"/>
            <a:r>
              <a:t>스타일리스트 매칭 수수료 (에스크로)</a:t>
            </a:r>
          </a:p>
          <a:p>
            <a:pPr lvl="1"/>
            <a:r>
              <a:t>향후 브랜드 제휴</a:t>
            </a:r>
          </a:p>
          <a:p>
            <a:pPr lvl="1"/>
            <a:r>
              <a:t>데이터 쌓일수록 정확도↑ 선순환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12. 팀 · 협업 방식  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[핵심 메시지] 3명이 이렇게 굴렸다 — 팀플 평가 필수</a:t>
            </a:r>
          </a:p>
          <a:p>
            <a:pPr lvl="1"/>
            <a:r>
              <a:t>강건형(팀장·데이터) · 이상민(개발) · 이소희(디자인)</a:t>
            </a:r>
          </a:p>
          <a:p>
            <a:pPr lvl="1"/>
            <a:r>
              <a:t>역할별 브랜치 · '한 파일 = 한 역할' 소유 규칙</a:t>
            </a:r>
          </a:p>
          <a:p>
            <a:pPr lvl="1"/>
            <a:r>
              <a:t>RACI 업무 분담 · Claude Code 협업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13. 로드맵 + 마무리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[핵심 메시지] 다음은 이거, 그리고 감사합니다</a:t>
            </a:r>
          </a:p>
          <a:p>
            <a:pPr lvl="1"/>
            <a:r>
              <a:t>MVP → 브랜드 커버리지 · 정확도 확대</a:t>
            </a:r>
          </a:p>
          <a:p>
            <a:pPr lvl="1"/>
            <a:r>
              <a:t>태그라인 재등장 (표지와 수미상관)</a:t>
            </a:r>
          </a:p>
          <a:p>
            <a:pPr lvl="1"/>
            <a:r>
              <a:t>Q&amp;A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377</TotalTime>
  <Words>2064</Words>
  <Application>Microsoft Office PowerPoint</Application>
  <PresentationFormat>와이드스크린</PresentationFormat>
  <Paragraphs>321</Paragraphs>
  <Slides>15</Slides>
  <Notes>14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20" baseType="lpstr">
      <vt:lpstr>Pretendard</vt:lpstr>
      <vt:lpstr>맑은 고딕</vt:lpstr>
      <vt:lpstr>Arial</vt:lpstr>
      <vt:lpstr>Calibri</vt:lpstr>
      <vt:lpstr>Office Theme</vt:lpstr>
      <vt:lpstr>Fitting (핏팅)</vt:lpstr>
      <vt:lpstr>01. 배경 · 문제인식 (자체 설문)</vt:lpstr>
      <vt:lpstr>PowerPoint 프레젠테이션</vt:lpstr>
      <vt:lpstr>02. 페르소나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10. 수요 검증</vt:lpstr>
      <vt:lpstr>11. 비즈니스 모델</vt:lpstr>
      <vt:lpstr>12. 팀 · 협업 방식  ★</vt:lpstr>
      <vt:lpstr>13. 로드맵 + 마무리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강건형</cp:lastModifiedBy>
  <cp:revision>4</cp:revision>
  <dcterms:created xsi:type="dcterms:W3CDTF">2013-01-27T09:14:16Z</dcterms:created>
  <dcterms:modified xsi:type="dcterms:W3CDTF">2026-07-21T07:35:46Z</dcterms:modified>
  <cp:category/>
</cp:coreProperties>
</file>