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908B"/>
                </a:solidFill>
                <a:latin typeface="맑은 고딕"/>
              </a:rPr>
              <a:t>USER JOURNEY MAP · AS-IS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9601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A1D1B"/>
                </a:solidFill>
                <a:latin typeface="맑은 고딕"/>
              </a:rPr>
              <a:t>같은 좌절, 다른 최저점 — 그래서 해법도 둘이다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15D"/>
                </a:solidFill>
                <a:latin typeface="맑은 고딕"/>
              </a:rPr>
              <a:t>사이즈는 ‘사이즈를 정하는 순간’, 스타일은 ‘입고 반응을 듣는 순간’ 무너진다. 성질이 다른 두 페인이라 푸는 방법도 달라야 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38404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E6B52"/>
                </a:solidFill>
                <a:latin typeface="맑은 고딕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207008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A1D1B"/>
                </a:solidFill>
                <a:latin typeface="맑은 고딕"/>
              </a:rPr>
              <a:t>김민석 · 32세 · 남  |  사이즈 고민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21615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B908B"/>
                </a:solidFill>
                <a:latin typeface="맑은 고딕"/>
              </a:rPr>
              <a:t>시나리오 · 결혼식 하객룩 구매 (최근 체중 증가)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81328"/>
          <a:ext cx="11277294" cy="2093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"/>
                <a:gridCol w="1778965"/>
                <a:gridCol w="1778965"/>
                <a:gridCol w="1778965"/>
                <a:gridCol w="1778965"/>
                <a:gridCol w="1778965"/>
                <a:gridCol w="1778965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E4A3B"/>
                          </a:solidFill>
                          <a:latin typeface="맑은 고딕"/>
                        </a:rPr>
                        <a:t>1. 초대·계기</a:t>
                      </a:r>
                    </a:p>
                  </a:txBody>
                  <a:tcPr marL="64008" marT="45720">
                    <a:solidFill>
                      <a:srgbClr val="EAF1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E4A3B"/>
                          </a:solidFill>
                          <a:latin typeface="맑은 고딕"/>
                        </a:rPr>
                        <a:t>2. 탐색</a:t>
                      </a:r>
                    </a:p>
                  </a:txBody>
                  <a:tcPr marL="64008" marT="45720">
                    <a:solidFill>
                      <a:srgbClr val="EAF1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B5654A"/>
                          </a:solidFill>
                          <a:latin typeface="맑은 고딕"/>
                        </a:rPr>
                        <a:t>3. 사이즈 결정 ★</a:t>
                      </a:r>
                    </a:p>
                  </a:txBody>
                  <a:tcPr marL="64008" marT="45720">
                    <a:solidFill>
                      <a:srgbClr val="FB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E4A3B"/>
                          </a:solidFill>
                          <a:latin typeface="맑은 고딕"/>
                        </a:rPr>
                        <a:t>4. 주문</a:t>
                      </a:r>
                    </a:p>
                  </a:txBody>
                  <a:tcPr marL="64008" marT="45720">
                    <a:solidFill>
                      <a:srgbClr val="EAF1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E4A3B"/>
                          </a:solidFill>
                          <a:latin typeface="맑은 고딕"/>
                        </a:rPr>
                        <a:t>5. 수령·착용</a:t>
                      </a:r>
                    </a:p>
                  </a:txBody>
                  <a:tcPr marL="64008" marT="45720">
                    <a:solidFill>
                      <a:srgbClr val="EAF1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E4A3B"/>
                          </a:solidFill>
                          <a:latin typeface="맑은 고딕"/>
                        </a:rPr>
                        <a:t>6. 결과</a:t>
                      </a:r>
                    </a:p>
                  </a:txBody>
                  <a:tcPr marL="64008" marT="45720">
                    <a:solidFill>
                      <a:srgbClr val="EAF1E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8B908B"/>
                          </a:solidFill>
                          <a:latin typeface="맑은 고딕"/>
                        </a:rPr>
                        <a:t>행동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청첩장 받음</a:t>
                      </a:r>
                    </a:p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옷장 확인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온라인몰에서</a:t>
                      </a:r>
                    </a:p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하객룩 검색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B5654A"/>
                          </a:solidFill>
                          <a:latin typeface="맑은 고딕"/>
                        </a:rPr>
                        <a:t>사이즈표·추천</a:t>
                      </a:r>
                    </a:p>
                    <a:p>
                      <a:r>
                        <a:rPr sz="900" b="1">
                          <a:solidFill>
                            <a:srgbClr val="B5654A"/>
                          </a:solidFill>
                          <a:latin typeface="맑은 고딕"/>
                        </a:rPr>
                        <a:t>·리뷰·구매이력 확인</a:t>
                      </a:r>
                    </a:p>
                  </a:txBody>
                  <a:tcPr marL="54864" marR="54864" marT="32004" marB="32004" anchor="t">
                    <a:solidFill>
                      <a:srgbClr val="FB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확신 없이</a:t>
                      </a:r>
                    </a:p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한 치수 크게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배송 받고</a:t>
                      </a:r>
                    </a:p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입어봄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반품 신청</a:t>
                      </a:r>
                    </a:p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/ 그냥 입고 감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8B908B"/>
                          </a:solidFill>
                          <a:latin typeface="맑은 고딕"/>
                        </a:rPr>
                        <a:t>감정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8B908B"/>
                          </a:solidFill>
                          <a:latin typeface="맑은 고딕"/>
                        </a:rPr>
                        <a:t>페인포인트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예전 옷이</a:t>
                      </a:r>
                    </a:p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안 맞을 예감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옷은 정했는데</a:t>
                      </a:r>
                    </a:p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사이즈부터 막힘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B5654A"/>
                          </a:solidFill>
                          <a:latin typeface="맑은 고딕"/>
                        </a:rPr>
                        <a:t>★ 어떤 기준도 ‘지금의 나’를</a:t>
                      </a:r>
                    </a:p>
                    <a:p>
                      <a:r>
                        <a:rPr sz="900" b="1">
                          <a:solidFill>
                            <a:srgbClr val="B5654A"/>
                          </a:solidFill>
                          <a:latin typeface="맑은 고딕"/>
                        </a:rPr>
                        <a:t>설명 못 함</a:t>
                      </a:r>
                    </a:p>
                  </a:txBody>
                  <a:tcPr marL="54864" marR="54864" marT="32004" marB="32004" anchor="t">
                    <a:solidFill>
                      <a:srgbClr val="FB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반품 전제의</a:t>
                      </a:r>
                    </a:p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확신 없는 결제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부위별로 안 맞음</a:t>
                      </a:r>
                    </a:p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(한 사이즈로 해결 X)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시간 압박 + 실패</a:t>
                      </a:r>
                    </a:p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→ 아는 브랜드만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1060704" y="2715768"/>
            <a:ext cx="10673791" cy="0"/>
          </a:xfrm>
          <a:prstGeom prst="line">
            <a:avLst/>
          </a:prstGeom>
          <a:ln w="9525">
            <a:solidFill>
              <a:srgbClr val="E1E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950186" y="2628900"/>
            <a:ext cx="1778965" cy="86868"/>
          </a:xfrm>
          <a:prstGeom prst="line">
            <a:avLst/>
          </a:prstGeom>
          <a:ln w="25400">
            <a:solidFill>
              <a:srgbClr val="3E6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729151" y="2715768"/>
            <a:ext cx="1778966" cy="173736"/>
          </a:xfrm>
          <a:prstGeom prst="line">
            <a:avLst/>
          </a:prstGeom>
          <a:ln w="25400">
            <a:solidFill>
              <a:srgbClr val="3E6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508117" y="2802636"/>
            <a:ext cx="1778965" cy="86868"/>
          </a:xfrm>
          <a:prstGeom prst="line">
            <a:avLst/>
          </a:prstGeom>
          <a:ln w="25400">
            <a:solidFill>
              <a:srgbClr val="3E6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287082" y="2802636"/>
            <a:ext cx="1778965" cy="86868"/>
          </a:xfrm>
          <a:prstGeom prst="line">
            <a:avLst/>
          </a:prstGeom>
          <a:ln w="25400">
            <a:solidFill>
              <a:srgbClr val="3E6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066047" y="2889504"/>
            <a:ext cx="1778965" cy="0"/>
          </a:xfrm>
          <a:prstGeom prst="line">
            <a:avLst/>
          </a:prstGeom>
          <a:ln w="25400">
            <a:solidFill>
              <a:srgbClr val="3E6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895322" y="2574036"/>
            <a:ext cx="109728" cy="1097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92986" y="235458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5B615D"/>
                </a:solidFill>
                <a:latin typeface="맑은 고딕"/>
              </a:rPr>
              <a:t>+1</a:t>
            </a:r>
          </a:p>
        </p:txBody>
      </p:sp>
      <p:sp>
        <p:nvSpPr>
          <p:cNvPr id="17" name="Oval 16"/>
          <p:cNvSpPr/>
          <p:nvPr/>
        </p:nvSpPr>
        <p:spPr>
          <a:xfrm>
            <a:off x="3674287" y="2660904"/>
            <a:ext cx="109728" cy="1097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71951" y="244144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5B615D"/>
                </a:solidFill>
                <a:latin typeface="맑은 고딕"/>
              </a:rPr>
              <a:t>0</a:t>
            </a:r>
          </a:p>
        </p:txBody>
      </p:sp>
      <p:sp>
        <p:nvSpPr>
          <p:cNvPr id="19" name="Oval 18"/>
          <p:cNvSpPr/>
          <p:nvPr/>
        </p:nvSpPr>
        <p:spPr>
          <a:xfrm>
            <a:off x="5430393" y="2811780"/>
            <a:ext cx="155448" cy="155448"/>
          </a:xfrm>
          <a:prstGeom prst="ellipse">
            <a:avLst/>
          </a:prstGeom>
          <a:solidFill>
            <a:srgbClr val="B5654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0917" y="261518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B5654A"/>
                </a:solidFill>
                <a:latin typeface="맑은 고딕"/>
              </a:rPr>
              <a:t>−2 최저</a:t>
            </a:r>
          </a:p>
        </p:txBody>
      </p:sp>
      <p:sp>
        <p:nvSpPr>
          <p:cNvPr id="21" name="Oval 20"/>
          <p:cNvSpPr/>
          <p:nvPr/>
        </p:nvSpPr>
        <p:spPr>
          <a:xfrm>
            <a:off x="7232218" y="2747772"/>
            <a:ext cx="109728" cy="1097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9882" y="25283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5B615D"/>
                </a:solidFill>
                <a:latin typeface="맑은 고딕"/>
              </a:rPr>
              <a:t>−1</a:t>
            </a:r>
          </a:p>
        </p:txBody>
      </p:sp>
      <p:sp>
        <p:nvSpPr>
          <p:cNvPr id="23" name="Oval 22"/>
          <p:cNvSpPr/>
          <p:nvPr/>
        </p:nvSpPr>
        <p:spPr>
          <a:xfrm>
            <a:off x="9011183" y="2834640"/>
            <a:ext cx="109728" cy="1097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08847" y="261518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5B615D"/>
                </a:solidFill>
                <a:latin typeface="맑은 고딕"/>
              </a:rPr>
              <a:t>−2</a:t>
            </a:r>
          </a:p>
        </p:txBody>
      </p:sp>
      <p:sp>
        <p:nvSpPr>
          <p:cNvPr id="25" name="Oval 24"/>
          <p:cNvSpPr/>
          <p:nvPr/>
        </p:nvSpPr>
        <p:spPr>
          <a:xfrm>
            <a:off x="10790148" y="2834640"/>
            <a:ext cx="109728" cy="1097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87812" y="261518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5B615D"/>
                </a:solidFill>
                <a:latin typeface="맑은 고딕"/>
              </a:rPr>
              <a:t>−2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767328"/>
            <a:ext cx="38404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5654A"/>
                </a:solidFill>
                <a:latin typeface="맑은 고딕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3767328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A1D1B"/>
                </a:solidFill>
                <a:latin typeface="맑은 고딕"/>
              </a:rPr>
              <a:t>한예린 · 34세 · 여  |  스타일 고민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377647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B908B"/>
                </a:solidFill>
                <a:latin typeface="맑은 고딕"/>
              </a:rPr>
              <a:t>시나리오 · 거래처 미팅 옷 구매 (1인 대표)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457200" y="4041648"/>
          <a:ext cx="11277294" cy="2093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"/>
                <a:gridCol w="2134758"/>
                <a:gridCol w="2134758"/>
                <a:gridCol w="2134758"/>
                <a:gridCol w="2134758"/>
                <a:gridCol w="2134758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E4A3B"/>
                          </a:solidFill>
                          <a:latin typeface="맑은 고딕"/>
                        </a:rPr>
                        <a:t>1. 계기</a:t>
                      </a:r>
                    </a:p>
                  </a:txBody>
                  <a:tcPr marL="64008" marT="45720">
                    <a:solidFill>
                      <a:srgbClr val="EAF1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E4A3B"/>
                          </a:solidFill>
                          <a:latin typeface="맑은 고딕"/>
                        </a:rPr>
                        <a:t>2. 탐색</a:t>
                      </a:r>
                    </a:p>
                  </a:txBody>
                  <a:tcPr marL="64008" marT="45720">
                    <a:solidFill>
                      <a:srgbClr val="EAF1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E4A3B"/>
                          </a:solidFill>
                          <a:latin typeface="맑은 고딕"/>
                        </a:rPr>
                        <a:t>3. 구매</a:t>
                      </a:r>
                    </a:p>
                  </a:txBody>
                  <a:tcPr marL="64008" marT="45720">
                    <a:solidFill>
                      <a:srgbClr val="EAF1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B5654A"/>
                          </a:solidFill>
                          <a:latin typeface="맑은 고딕"/>
                        </a:rPr>
                        <a:t>4. 착용·반응 ★</a:t>
                      </a:r>
                    </a:p>
                  </a:txBody>
                  <a:tcPr marL="64008" marT="45720">
                    <a:solidFill>
                      <a:srgbClr val="FB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E4A3B"/>
                          </a:solidFill>
                          <a:latin typeface="맑은 고딕"/>
                        </a:rPr>
                        <a:t>5. 결과</a:t>
                      </a:r>
                    </a:p>
                  </a:txBody>
                  <a:tcPr marL="64008" marT="45720">
                    <a:solidFill>
                      <a:srgbClr val="EAF1E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8B908B"/>
                          </a:solidFill>
                          <a:latin typeface="맑은 고딕"/>
                        </a:rPr>
                        <a:t>행동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중요 미팅 잡힘</a:t>
                      </a:r>
                    </a:p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“뭘 입지?”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유튜브·인스타</a:t>
                      </a:r>
                    </a:p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룩북 참고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룩북 따라</a:t>
                      </a:r>
                    </a:p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비슷한 옷 구매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B5654A"/>
                          </a:solidFill>
                          <a:latin typeface="맑은 고딕"/>
                        </a:rPr>
                        <a:t>미팅에 입고 감</a:t>
                      </a:r>
                    </a:p>
                    <a:p>
                      <a:r>
                        <a:rPr sz="900" b="1">
                          <a:solidFill>
                            <a:srgbClr val="B5654A"/>
                          </a:solidFill>
                          <a:latin typeface="맑은 고딕"/>
                        </a:rPr>
                        <a:t>→ 주변 반응</a:t>
                      </a:r>
                    </a:p>
                  </a:txBody>
                  <a:tcPr marL="54864" marR="54864" marT="32004" marB="32004" anchor="t">
                    <a:solidFill>
                      <a:srgbClr val="FB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옷장에 방치</a:t>
                      </a:r>
                    </a:p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무채색으로 회귀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8B908B"/>
                          </a:solidFill>
                          <a:latin typeface="맑은 고딕"/>
                        </a:rPr>
                        <a:t>감정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8B908B"/>
                          </a:solidFill>
                          <a:latin typeface="맑은 고딕"/>
                        </a:rPr>
                        <a:t>페인포인트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체형에 어울리는</a:t>
                      </a:r>
                    </a:p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기준이 없음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트렌드는 알아도</a:t>
                      </a:r>
                    </a:p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“나한테도?”는 모름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모델 핏 ≠ 내 핏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B5654A"/>
                          </a:solidFill>
                          <a:latin typeface="맑은 고딕"/>
                        </a:rPr>
                        <a:t>★ “안 어울린다”</a:t>
                      </a:r>
                    </a:p>
                    <a:p>
                      <a:r>
                        <a:rPr sz="900" b="1">
                          <a:solidFill>
                            <a:srgbClr val="B5654A"/>
                          </a:solidFill>
                          <a:latin typeface="맑은 고딕"/>
                        </a:rPr>
                        <a:t>대표 이미지에 타격</a:t>
                      </a:r>
                    </a:p>
                  </a:txBody>
                  <a:tcPr marL="54864" marR="54864" marT="32004" marB="32004" anchor="t">
                    <a:solidFill>
                      <a:srgbClr val="FB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시도 포기</a:t>
                      </a:r>
                    </a:p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→ 존재감 없는 옷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31" name="Connector 30"/>
          <p:cNvCxnSpPr/>
          <p:nvPr/>
        </p:nvCxnSpPr>
        <p:spPr>
          <a:xfrm>
            <a:off x="1060704" y="5276088"/>
            <a:ext cx="10673791" cy="0"/>
          </a:xfrm>
          <a:prstGeom prst="line">
            <a:avLst/>
          </a:prstGeom>
          <a:ln w="9525">
            <a:solidFill>
              <a:srgbClr val="E1E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28083" y="5189220"/>
            <a:ext cx="2134758" cy="0"/>
          </a:xfrm>
          <a:prstGeom prst="line">
            <a:avLst/>
          </a:prstGeom>
          <a:ln w="25400">
            <a:solidFill>
              <a:srgbClr val="3E6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262841" y="5189220"/>
            <a:ext cx="2134758" cy="86868"/>
          </a:xfrm>
          <a:prstGeom prst="line">
            <a:avLst/>
          </a:prstGeom>
          <a:ln w="25400">
            <a:solidFill>
              <a:srgbClr val="3E6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397599" y="5276088"/>
            <a:ext cx="2134758" cy="173736"/>
          </a:xfrm>
          <a:prstGeom prst="line">
            <a:avLst/>
          </a:prstGeom>
          <a:ln w="25400">
            <a:solidFill>
              <a:srgbClr val="3E6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532357" y="5362956"/>
            <a:ext cx="2134759" cy="86868"/>
          </a:xfrm>
          <a:prstGeom prst="line">
            <a:avLst/>
          </a:prstGeom>
          <a:ln w="25400">
            <a:solidFill>
              <a:srgbClr val="3E6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2073219" y="5134356"/>
            <a:ext cx="109728" cy="1097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70883" y="491490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5B615D"/>
                </a:solidFill>
                <a:latin typeface="맑은 고딕"/>
              </a:rPr>
              <a:t>+1</a:t>
            </a:r>
          </a:p>
        </p:txBody>
      </p:sp>
      <p:sp>
        <p:nvSpPr>
          <p:cNvPr id="38" name="Oval 37"/>
          <p:cNvSpPr/>
          <p:nvPr/>
        </p:nvSpPr>
        <p:spPr>
          <a:xfrm>
            <a:off x="4207977" y="5134356"/>
            <a:ext cx="109728" cy="1097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05641" y="491490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5B615D"/>
                </a:solidFill>
                <a:latin typeface="맑은 고딕"/>
              </a:rPr>
              <a:t>+1</a:t>
            </a:r>
          </a:p>
        </p:txBody>
      </p:sp>
      <p:sp>
        <p:nvSpPr>
          <p:cNvPr id="40" name="Oval 39"/>
          <p:cNvSpPr/>
          <p:nvPr/>
        </p:nvSpPr>
        <p:spPr>
          <a:xfrm>
            <a:off x="6342735" y="5221224"/>
            <a:ext cx="109728" cy="1097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0399" y="50017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5B615D"/>
                </a:solidFill>
                <a:latin typeface="맑은 고딕"/>
              </a:rPr>
              <a:t>0</a:t>
            </a:r>
          </a:p>
        </p:txBody>
      </p:sp>
      <p:sp>
        <p:nvSpPr>
          <p:cNvPr id="42" name="Oval 41"/>
          <p:cNvSpPr/>
          <p:nvPr/>
        </p:nvSpPr>
        <p:spPr>
          <a:xfrm>
            <a:off x="8454633" y="5372100"/>
            <a:ext cx="155448" cy="155448"/>
          </a:xfrm>
          <a:prstGeom prst="ellipse">
            <a:avLst/>
          </a:prstGeom>
          <a:solidFill>
            <a:srgbClr val="B5654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5157" y="517550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B5654A"/>
                </a:solidFill>
                <a:latin typeface="맑은 고딕"/>
              </a:rPr>
              <a:t>−2 최저</a:t>
            </a:r>
          </a:p>
        </p:txBody>
      </p:sp>
      <p:sp>
        <p:nvSpPr>
          <p:cNvPr id="44" name="Oval 43"/>
          <p:cNvSpPr/>
          <p:nvPr/>
        </p:nvSpPr>
        <p:spPr>
          <a:xfrm>
            <a:off x="10612252" y="5308092"/>
            <a:ext cx="109728" cy="1097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09916" y="508863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5B615D"/>
                </a:solidFill>
                <a:latin typeface="맑은 고딕"/>
              </a:rPr>
              <a:t>−1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6053328"/>
            <a:ext cx="5586984" cy="566928"/>
          </a:xfrm>
          <a:prstGeom prst="roundRect">
            <a:avLst/>
          </a:prstGeom>
          <a:solidFill>
            <a:srgbClr val="FBEFEA"/>
          </a:solidFill>
          <a:ln w="15875">
            <a:solidFill>
              <a:srgbClr val="B5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6126480"/>
            <a:ext cx="5303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5654A"/>
                </a:solidFill>
                <a:latin typeface="맑은 고딕"/>
              </a:rPr>
              <a:t>A 최저점 · 3. 사이즈 결정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630021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A1D1B"/>
                </a:solidFill>
                <a:latin typeface="맑은 고딕"/>
              </a:rPr>
              <a:t>‘지금의 나’를 아는 기준이 없다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44768" y="6053328"/>
            <a:ext cx="5586984" cy="566928"/>
          </a:xfrm>
          <a:prstGeom prst="roundRect">
            <a:avLst/>
          </a:prstGeom>
          <a:solidFill>
            <a:srgbClr val="EAF1ED"/>
          </a:solidFill>
          <a:ln w="15875">
            <a:solidFill>
              <a:srgbClr val="2E4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81928" y="6126480"/>
            <a:ext cx="5303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E4A3B"/>
                </a:solidFill>
                <a:latin typeface="맑은 고딕"/>
              </a:rPr>
              <a:t>B 최저점 · 4. 착용 · 반응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81928" y="630021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A1D1B"/>
                </a:solidFill>
                <a:latin typeface="맑은 고딕"/>
              </a:rPr>
              <a:t>‘나에게 맞는지’ 판단할 기준이 없다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