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92608"/>
            <a:ext cx="54864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1">
                <a:solidFill>
                  <a:srgbClr val="8B908B"/>
                </a:solidFill>
                <a:latin typeface="맑은 고딕"/>
              </a:rPr>
              <a:t>SERVICE FLOW · BEFORE / AFTER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75488"/>
            <a:ext cx="10515600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D1B"/>
                </a:solidFill>
                <a:latin typeface="맑은 고딕"/>
              </a:rPr>
              <a:t>5단계를 3단계로 —  그리고 진단은 한 번이면 된다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96112"/>
            <a:ext cx="1124712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>
                <a:solidFill>
                  <a:srgbClr val="5B615D"/>
                </a:solidFill>
                <a:latin typeface="맑은 고딕"/>
              </a:rPr>
              <a:t>같은 여정을 단계 수로만 비교했다. 사라진 두 단계와, 다시 하지 않아도 되는 진단이 핵심이다.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27432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B5654A"/>
                </a:solidFill>
                <a:latin typeface="맑은 고딕"/>
              </a:rPr>
              <a:t>BEFORE  ·  지금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017520" y="1298448"/>
            <a:ext cx="27432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1">
                <a:solidFill>
                  <a:srgbClr val="8A8680"/>
                </a:solidFill>
                <a:latin typeface="맑은 고딕"/>
              </a:rPr>
              <a:t>매 구매마다 반복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554480"/>
            <a:ext cx="2035454" cy="841248"/>
          </a:xfrm>
          <a:prstGeom prst="roundRect">
            <a:avLst/>
          </a:prstGeom>
          <a:solidFill>
            <a:srgbClr val="F2F1EE"/>
          </a:solidFill>
          <a:ln w="12700">
            <a:solidFill>
              <a:srgbClr val="E1E5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1682496"/>
            <a:ext cx="1815998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50" b="1">
                <a:solidFill>
                  <a:srgbClr val="1A1D1B"/>
                </a:solidFill>
                <a:latin typeface="맑은 고딕"/>
              </a:rPr>
              <a:t>검색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1920240"/>
            <a:ext cx="1815998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>
                <a:solidFill>
                  <a:srgbClr val="8A8680"/>
                </a:solidFill>
                <a:latin typeface="맑은 고딕"/>
              </a:rPr>
              <a:t>입을 옷 고르기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2547518" y="1874519"/>
            <a:ext cx="164592" cy="182880"/>
          </a:xfrm>
          <a:prstGeom prst="rightArrow">
            <a:avLst/>
          </a:prstGeom>
          <a:solidFill>
            <a:srgbClr val="E1E5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2766974" y="1554480"/>
            <a:ext cx="2035454" cy="841248"/>
          </a:xfrm>
          <a:prstGeom prst="roundRect">
            <a:avLst/>
          </a:prstGeom>
          <a:solidFill>
            <a:srgbClr val="FBEFEA"/>
          </a:solidFill>
          <a:ln w="19050">
            <a:solidFill>
              <a:srgbClr val="B565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876702" y="1682496"/>
            <a:ext cx="1815998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50" b="1">
                <a:solidFill>
                  <a:srgbClr val="B5654A"/>
                </a:solidFill>
                <a:latin typeface="맑은 고딕"/>
              </a:rPr>
              <a:t>사이즈표·후기 뒤지기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76702" y="1920240"/>
            <a:ext cx="1815998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>
                <a:solidFill>
                  <a:srgbClr val="B5654A"/>
                </a:solidFill>
                <a:latin typeface="맑은 고딕"/>
              </a:rPr>
              <a:t>30분씩 비교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76702" y="2121408"/>
            <a:ext cx="1815998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50" b="1">
                <a:solidFill>
                  <a:srgbClr val="B5654A"/>
                </a:solidFill>
                <a:latin typeface="맑은 고딕"/>
              </a:rPr>
              <a:t>사라짐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4857292" y="1874519"/>
            <a:ext cx="164592" cy="182880"/>
          </a:xfrm>
          <a:prstGeom prst="rightArrow">
            <a:avLst/>
          </a:prstGeom>
          <a:solidFill>
            <a:srgbClr val="E1E5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5076748" y="1554480"/>
            <a:ext cx="2035454" cy="841248"/>
          </a:xfrm>
          <a:prstGeom prst="roundRect">
            <a:avLst/>
          </a:prstGeom>
          <a:solidFill>
            <a:srgbClr val="F2F1EE"/>
          </a:solidFill>
          <a:ln w="12700">
            <a:solidFill>
              <a:srgbClr val="E1E5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186476" y="1682496"/>
            <a:ext cx="1815998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50" b="1">
                <a:solidFill>
                  <a:srgbClr val="1A1D1B"/>
                </a:solidFill>
                <a:latin typeface="맑은 고딕"/>
              </a:rPr>
              <a:t>고민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86476" y="1920240"/>
            <a:ext cx="1815998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>
                <a:solidFill>
                  <a:srgbClr val="8A8680"/>
                </a:solidFill>
                <a:latin typeface="맑은 고딕"/>
              </a:rPr>
              <a:t>확신이 안 섬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7167067" y="1874519"/>
            <a:ext cx="164592" cy="182880"/>
          </a:xfrm>
          <a:prstGeom prst="rightArrow">
            <a:avLst/>
          </a:prstGeom>
          <a:solidFill>
            <a:srgbClr val="E1E5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7386523" y="1554480"/>
            <a:ext cx="2035454" cy="841248"/>
          </a:xfrm>
          <a:prstGeom prst="roundRect">
            <a:avLst/>
          </a:prstGeom>
          <a:solidFill>
            <a:srgbClr val="F2F1EE"/>
          </a:solidFill>
          <a:ln w="12700">
            <a:solidFill>
              <a:srgbClr val="E1E5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496251" y="1682496"/>
            <a:ext cx="1815998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50" b="1">
                <a:solidFill>
                  <a:srgbClr val="1A1D1B"/>
                </a:solidFill>
                <a:latin typeface="맑은 고딕"/>
              </a:rPr>
              <a:t>주문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96251" y="1920240"/>
            <a:ext cx="1815998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>
                <a:solidFill>
                  <a:srgbClr val="8A8680"/>
                </a:solidFill>
                <a:latin typeface="맑은 고딕"/>
              </a:rPr>
              <a:t>안 맞으면 반품하지</a:t>
            </a:r>
          </a:p>
        </p:txBody>
      </p:sp>
      <p:sp>
        <p:nvSpPr>
          <p:cNvPr id="23" name="Right Arrow 22"/>
          <p:cNvSpPr/>
          <p:nvPr/>
        </p:nvSpPr>
        <p:spPr>
          <a:xfrm>
            <a:off x="9476841" y="1874519"/>
            <a:ext cx="164592" cy="182880"/>
          </a:xfrm>
          <a:prstGeom prst="rightArrow">
            <a:avLst/>
          </a:prstGeom>
          <a:solidFill>
            <a:srgbClr val="E1E5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9696297" y="1554480"/>
            <a:ext cx="2035454" cy="841248"/>
          </a:xfrm>
          <a:prstGeom prst="roundRect">
            <a:avLst/>
          </a:prstGeom>
          <a:solidFill>
            <a:srgbClr val="FBEFEA"/>
          </a:solidFill>
          <a:ln w="19050">
            <a:solidFill>
              <a:srgbClr val="B565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806025" y="1682496"/>
            <a:ext cx="1815998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50" b="1">
                <a:solidFill>
                  <a:srgbClr val="B5654A"/>
                </a:solidFill>
                <a:latin typeface="맑은 고딕"/>
              </a:rPr>
              <a:t>반품 · 교환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806025" y="1920240"/>
            <a:ext cx="1815998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>
                <a:solidFill>
                  <a:srgbClr val="B5654A"/>
                </a:solidFill>
                <a:latin typeface="맑은 고딕"/>
              </a:rPr>
              <a:t>시간·비용 소모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806025" y="2121408"/>
            <a:ext cx="1815998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50" b="1">
                <a:solidFill>
                  <a:srgbClr val="B5654A"/>
                </a:solidFill>
                <a:latin typeface="맑은 고딕"/>
              </a:rPr>
              <a:t>사라짐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2798064"/>
            <a:ext cx="27432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2E4A3B"/>
                </a:solidFill>
                <a:latin typeface="맑은 고딕"/>
              </a:rPr>
              <a:t>AFTER  ·  핏팅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926080" y="2816352"/>
            <a:ext cx="54864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1">
                <a:solidFill>
                  <a:srgbClr val="3E6B52"/>
                </a:solidFill>
                <a:latin typeface="맑은 고딕"/>
              </a:rPr>
              <a:t>진단은 최초 1회  →  이후 모든 브랜드에 재사용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57200" y="3090672"/>
            <a:ext cx="3575304" cy="969264"/>
          </a:xfrm>
          <a:prstGeom prst="roundRect">
            <a:avLst/>
          </a:prstGeom>
          <a:solidFill>
            <a:srgbClr val="EAF1ED"/>
          </a:solidFill>
          <a:ln w="22225">
            <a:solidFill>
              <a:srgbClr val="2E4A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603504" y="3218688"/>
            <a:ext cx="274320" cy="274320"/>
          </a:xfrm>
          <a:prstGeom prst="ellipse">
            <a:avLst/>
          </a:prstGeom>
          <a:solidFill>
            <a:srgbClr val="2E4A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맑은 고딕"/>
              </a:rPr>
              <a:t>1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69264" y="3236976"/>
            <a:ext cx="2916936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2E4A3B"/>
                </a:solidFill>
                <a:latin typeface="맑은 고딕"/>
              </a:rPr>
              <a:t>착용 경험 진단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69264" y="3511296"/>
            <a:ext cx="2916936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>
                <a:solidFill>
                  <a:srgbClr val="5B615D"/>
                </a:solidFill>
                <a:latin typeface="맑은 고딕"/>
              </a:rPr>
              <a:t>평소 입던 옷 2벌 · 2분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69264" y="3749039"/>
            <a:ext cx="2916936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1">
                <a:solidFill>
                  <a:srgbClr val="3E6B52"/>
                </a:solidFill>
                <a:latin typeface="맑은 고딕"/>
              </a:rPr>
              <a:t>최초 1회만</a:t>
            </a:r>
          </a:p>
        </p:txBody>
      </p:sp>
      <p:sp>
        <p:nvSpPr>
          <p:cNvPr id="35" name="Right Arrow 34"/>
          <p:cNvSpPr/>
          <p:nvPr/>
        </p:nvSpPr>
        <p:spPr>
          <a:xfrm>
            <a:off x="4087368" y="3483864"/>
            <a:ext cx="164592" cy="182880"/>
          </a:xfrm>
          <a:prstGeom prst="rightArrow">
            <a:avLst/>
          </a:prstGeom>
          <a:solidFill>
            <a:srgbClr val="3E6B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4306824" y="3090672"/>
            <a:ext cx="3575304" cy="969264"/>
          </a:xfrm>
          <a:prstGeom prst="roundRect">
            <a:avLst/>
          </a:prstGeom>
          <a:solidFill>
            <a:srgbClr val="FFFFFF"/>
          </a:solidFill>
          <a:ln w="22225">
            <a:solidFill>
              <a:srgbClr val="2E4A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4453128" y="3218688"/>
            <a:ext cx="274320" cy="274320"/>
          </a:xfrm>
          <a:prstGeom prst="ellipse">
            <a:avLst/>
          </a:prstGeom>
          <a:solidFill>
            <a:srgbClr val="2E4A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맑은 고딕"/>
              </a:rPr>
              <a:t>2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818888" y="3236976"/>
            <a:ext cx="2916936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2E4A3B"/>
                </a:solidFill>
                <a:latin typeface="맑은 고딕"/>
              </a:rPr>
              <a:t>브랜드 사이즈 확인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818888" y="3511296"/>
            <a:ext cx="2916936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>
                <a:solidFill>
                  <a:srgbClr val="5B615D"/>
                </a:solidFill>
                <a:latin typeface="맑은 고딕"/>
              </a:rPr>
              <a:t>안 입어본 브랜드도 내 사이즈로</a:t>
            </a:r>
          </a:p>
        </p:txBody>
      </p:sp>
      <p:sp>
        <p:nvSpPr>
          <p:cNvPr id="40" name="Right Arrow 39"/>
          <p:cNvSpPr/>
          <p:nvPr/>
        </p:nvSpPr>
        <p:spPr>
          <a:xfrm>
            <a:off x="7936992" y="3483864"/>
            <a:ext cx="164592" cy="182880"/>
          </a:xfrm>
          <a:prstGeom prst="rightArrow">
            <a:avLst/>
          </a:prstGeom>
          <a:solidFill>
            <a:srgbClr val="3E6B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8156448" y="3090672"/>
            <a:ext cx="3575304" cy="969264"/>
          </a:xfrm>
          <a:prstGeom prst="roundRect">
            <a:avLst/>
          </a:prstGeom>
          <a:solidFill>
            <a:srgbClr val="FFFFFF"/>
          </a:solidFill>
          <a:ln w="22225">
            <a:solidFill>
              <a:srgbClr val="2E4A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8302752" y="3218688"/>
            <a:ext cx="274320" cy="274320"/>
          </a:xfrm>
          <a:prstGeom prst="ellipse">
            <a:avLst/>
          </a:prstGeom>
          <a:solidFill>
            <a:srgbClr val="2E4A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맑은 고딕"/>
              </a:rPr>
              <a:t>3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668512" y="3236976"/>
            <a:ext cx="2916936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2E4A3B"/>
                </a:solidFill>
                <a:latin typeface="맑은 고딕"/>
              </a:rPr>
              <a:t>확신하고 주문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668512" y="3511296"/>
            <a:ext cx="2916936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>
                <a:solidFill>
                  <a:srgbClr val="5B615D"/>
                </a:solidFill>
                <a:latin typeface="맑은 고딕"/>
              </a:rPr>
              <a:t>반품을 전제하지 않는다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457200" y="4224528"/>
            <a:ext cx="11274552" cy="493776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B5654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57200" y="4352544"/>
            <a:ext cx="11274552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50" b="1">
                <a:solidFill>
                  <a:srgbClr val="B5654A"/>
                </a:solidFill>
                <a:latin typeface="맑은 고딕"/>
              </a:rPr>
              <a:t>스타일이 고민되면  →  진단 결과(체형 카드)를 그대로 들고 전문가에게 (MVP②)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457200" y="4956048"/>
            <a:ext cx="3587496" cy="859536"/>
          </a:xfrm>
          <a:prstGeom prst="roundRect">
            <a:avLst/>
          </a:prstGeom>
          <a:solidFill>
            <a:srgbClr val="FBEFEA"/>
          </a:solidFill>
          <a:ln w="15875">
            <a:solidFill>
              <a:srgbClr val="B565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21792" y="5084064"/>
            <a:ext cx="325831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B5654A"/>
                </a:solidFill>
                <a:latin typeface="맑은 고딕"/>
              </a:rPr>
              <a:t>−2 단계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21792" y="5413248"/>
            <a:ext cx="3258312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50" b="0">
                <a:solidFill>
                  <a:srgbClr val="5B615D"/>
                </a:solidFill>
                <a:latin typeface="맑은 고딕"/>
              </a:rPr>
              <a:t>‘사이즈표 뒤지기’와 ‘반품’이 사라진다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4300728" y="4956048"/>
            <a:ext cx="3587496" cy="859536"/>
          </a:xfrm>
          <a:prstGeom prst="roundRect">
            <a:avLst/>
          </a:prstGeom>
          <a:solidFill>
            <a:srgbClr val="EAF1ED"/>
          </a:solidFill>
          <a:ln w="15875">
            <a:solidFill>
              <a:srgbClr val="2E4A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465320" y="5084064"/>
            <a:ext cx="325831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2E4A3B"/>
                </a:solidFill>
                <a:latin typeface="맑은 고딕"/>
              </a:rPr>
              <a:t>반복 0회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465320" y="5413248"/>
            <a:ext cx="3258312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50" b="0">
                <a:solidFill>
                  <a:srgbClr val="5B615D"/>
                </a:solidFill>
                <a:latin typeface="맑은 고딕"/>
              </a:rPr>
              <a:t>진단은 최초 1회 · 다음 브랜드부터는 바로 확인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8144256" y="4956048"/>
            <a:ext cx="3587496" cy="859536"/>
          </a:xfrm>
          <a:prstGeom prst="roundRect">
            <a:avLst/>
          </a:prstGeom>
          <a:solidFill>
            <a:srgbClr val="EAF1ED"/>
          </a:solidFill>
          <a:ln w="15875">
            <a:solidFill>
              <a:srgbClr val="2E4A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308847" y="5084064"/>
            <a:ext cx="325831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2E4A3B"/>
                </a:solidFill>
                <a:latin typeface="맑은 고딕"/>
              </a:rPr>
              <a:t>확신 후 주문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308847" y="5413248"/>
            <a:ext cx="3258312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50" b="0">
                <a:solidFill>
                  <a:srgbClr val="5B615D"/>
                </a:solidFill>
                <a:latin typeface="맑은 고딕"/>
              </a:rPr>
              <a:t>반품을 전제로 하지 않는 구매로 바뀐다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57200" y="6053328"/>
            <a:ext cx="11274552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50" b="1">
                <a:solidFill>
                  <a:srgbClr val="B8842B"/>
                </a:solidFill>
                <a:latin typeface="맑은 고딕"/>
              </a:rPr>
              <a:t>※ 저니맵이 ‘왜 아픈가(감정)’를 봤다면, 이 장은 ‘얼마나 번거로운가(단계·반복)’를 본다.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